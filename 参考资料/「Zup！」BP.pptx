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400" r:id="rId3"/>
    <p:sldId id="401" r:id="rId4"/>
    <p:sldId id="402" r:id="rId5"/>
    <p:sldId id="403" r:id="rId6"/>
    <p:sldId id="373" r:id="rId7"/>
    <p:sldId id="404" r:id="rId8"/>
    <p:sldId id="407" r:id="rId9"/>
    <p:sldId id="406" r:id="rId10"/>
    <p:sldId id="408" r:id="rId11"/>
    <p:sldId id="409" r:id="rId12"/>
    <p:sldId id="410" r:id="rId13"/>
    <p:sldId id="383" r:id="rId14"/>
    <p:sldId id="411" r:id="rId15"/>
    <p:sldId id="412" r:id="rId16"/>
    <p:sldId id="376" r:id="rId17"/>
    <p:sldId id="301" r:id="rId18"/>
  </p:sldIdLst>
  <p:sldSz cx="18288000" cy="10287000"/>
  <p:notesSz cx="6858000" cy="9144000"/>
  <p:embeddedFontLst>
    <p:embeddedFont>
      <p:font typeface="Open Sauce" panose="00000500000000000000"/>
      <p:regular r:id="rId25"/>
    </p:embeddedFont>
    <p:embeddedFont>
      <p:font typeface="Aileron" panose="00000500000000000000"/>
      <p:regular r:id="rId26"/>
    </p:embeddedFont>
  </p:embeddedFontLst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296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  <p:cmAuthor id="2" name="侯 瓒" initials="侯" lastIdx="8" clrIdx="1"/>
  <p:cmAuthor id="3" name="翟宏帅" initials="翟" lastIdx="1" clrIdx="0"/>
  <p:cmAuthor id="4" name="土流网" initials="土" lastIdx="1" clrIdx="0"/>
  <p:cmAuthor id="0" name="微软用户" initials="微软用户" lastIdx="1" clrIdx="0"/>
  <p:cmAuthor id="1483810881" name="WPS_1679281038" initials="W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0CA"/>
    <a:srgbClr val="F0EBC4"/>
    <a:srgbClr val="F4D997"/>
    <a:srgbClr val="DBB469"/>
    <a:srgbClr val="FF9900"/>
    <a:srgbClr val="EE9F48"/>
    <a:srgbClr val="67CA9B"/>
    <a:srgbClr val="A0CEB0"/>
    <a:srgbClr val="6ACB9D"/>
    <a:srgbClr val="15B8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92"/>
        <p:guide pos="29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68.xml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7.png"/><Relationship Id="rId7" Type="http://schemas.openxmlformats.org/officeDocument/2006/relationships/image" Target="../media/image26.jpeg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5.png"/><Relationship Id="rId6" Type="http://schemas.openxmlformats.org/officeDocument/2006/relationships/image" Target="../media/image24.jpe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7.png"/><Relationship Id="rId3" Type="http://schemas.openxmlformats.org/officeDocument/2006/relationships/image" Target="../media/image26.jpe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8" Type="http://schemas.openxmlformats.org/officeDocument/2006/relationships/slideLayout" Target="../slideLayouts/slideLayout7.xml"/><Relationship Id="rId27" Type="http://schemas.openxmlformats.org/officeDocument/2006/relationships/image" Target="../media/image40.png"/><Relationship Id="rId26" Type="http://schemas.openxmlformats.org/officeDocument/2006/relationships/image" Target="../media/image39.png"/><Relationship Id="rId25" Type="http://schemas.openxmlformats.org/officeDocument/2006/relationships/image" Target="../media/image38.png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image" Target="../media/image37.png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46.xml"/><Relationship Id="rId23" Type="http://schemas.openxmlformats.org/officeDocument/2006/relationships/tags" Target="../tags/tag45.xml"/><Relationship Id="rId22" Type="http://schemas.openxmlformats.org/officeDocument/2006/relationships/tags" Target="../tags/tag44.xml"/><Relationship Id="rId21" Type="http://schemas.openxmlformats.org/officeDocument/2006/relationships/tags" Target="../tags/tag43.xml"/><Relationship Id="rId20" Type="http://schemas.openxmlformats.org/officeDocument/2006/relationships/tags" Target="../tags/tag42.xml"/><Relationship Id="rId2" Type="http://schemas.openxmlformats.org/officeDocument/2006/relationships/tags" Target="../tags/tag24.xml"/><Relationship Id="rId19" Type="http://schemas.openxmlformats.org/officeDocument/2006/relationships/tags" Target="../tags/tag41.xml"/><Relationship Id="rId18" Type="http://schemas.openxmlformats.org/officeDocument/2006/relationships/tags" Target="../tags/tag40.xml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67.xml"/><Relationship Id="rId20" Type="http://schemas.openxmlformats.org/officeDocument/2006/relationships/tags" Target="../tags/tag66.xml"/><Relationship Id="rId2" Type="http://schemas.openxmlformats.org/officeDocument/2006/relationships/tags" Target="../tags/tag48.xml"/><Relationship Id="rId19" Type="http://schemas.openxmlformats.org/officeDocument/2006/relationships/tags" Target="../tags/tag65.xml"/><Relationship Id="rId18" Type="http://schemas.openxmlformats.org/officeDocument/2006/relationships/tags" Target="../tags/tag64.xml"/><Relationship Id="rId17" Type="http://schemas.openxmlformats.org/officeDocument/2006/relationships/tags" Target="../tags/tag6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tags" Target="../tags/tag4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3400" y="6819900"/>
            <a:ext cx="510730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800" b="1" spc="-1121">
                <a:solidFill>
                  <a:srgbClr val="EDE0CA"/>
                </a:solidFill>
                <a:ea typeface="STHeiti Regular" panose="02010600040101010101" charset="-122"/>
                <a:cs typeface="+mn-lt"/>
                <a:sym typeface="Aileron Bold"/>
              </a:rPr>
              <a:t>Zup!</a:t>
            </a:r>
            <a:r>
              <a:rPr lang="en-US" altLang="zh-CN" sz="16800" b="1" spc="-1121">
                <a:solidFill>
                  <a:srgbClr val="EDE0CA"/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Aileron Bold"/>
              </a:rPr>
              <a:t> </a:t>
            </a:r>
            <a:endParaRPr lang="en-US" altLang="zh-CN" sz="16800" b="1" spc="-1121">
              <a:solidFill>
                <a:srgbClr val="EDE0CA"/>
              </a:solidFill>
              <a:latin typeface="STHeiti Regular" panose="02010600040101010101" charset="-122"/>
              <a:ea typeface="STHeiti Regular" panose="02010600040101010101" charset="-122"/>
              <a:cs typeface="STHeiti Regular" panose="02010600040101010101" charset="-122"/>
              <a:sym typeface="Aileron Bold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2039600" y="7581900"/>
            <a:ext cx="5340985" cy="2098040"/>
            <a:chOff x="4514" y="5256"/>
            <a:chExt cx="19211" cy="7546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5101" y="11378"/>
              <a:ext cx="18624" cy="1424"/>
              <a:chOff x="0" y="0"/>
              <a:chExt cx="3199068" cy="24459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199068" cy="244594"/>
              </a:xfrm>
              <a:custGeom>
                <a:avLst/>
                <a:gdLst/>
                <a:ahLst/>
                <a:cxnLst/>
                <a:rect l="l" t="t" r="r" b="b"/>
                <a:pathLst>
                  <a:path w="3199068" h="244594">
                    <a:moveTo>
                      <a:pt x="1599534" y="0"/>
                    </a:moveTo>
                    <a:cubicBezTo>
                      <a:pt x="716136" y="0"/>
                      <a:pt x="0" y="54754"/>
                      <a:pt x="0" y="122297"/>
                    </a:cubicBezTo>
                    <a:cubicBezTo>
                      <a:pt x="0" y="189840"/>
                      <a:pt x="716136" y="244594"/>
                      <a:pt x="1599534" y="244594"/>
                    </a:cubicBezTo>
                    <a:cubicBezTo>
                      <a:pt x="2482932" y="244594"/>
                      <a:pt x="3199068" y="189840"/>
                      <a:pt x="3199068" y="122297"/>
                    </a:cubicBezTo>
                    <a:cubicBezTo>
                      <a:pt x="3199068" y="54754"/>
                      <a:pt x="2482932" y="0"/>
                      <a:pt x="1599534" y="0"/>
                    </a:cubicBezTo>
                    <a:close/>
                  </a:path>
                </a:pathLst>
              </a:custGeom>
              <a:solidFill>
                <a:srgbClr val="67CA9B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299913" y="-24694"/>
                <a:ext cx="2599243" cy="2463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STHeiti Light" panose="02010600040101010101" charset="-122"/>
                  <a:ea typeface="STHeiti Light" panose="02010600040101010101" charset="-122"/>
                </a:endParaRPr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4514" y="5256"/>
              <a:ext cx="19084" cy="7204"/>
            </a:xfrm>
            <a:custGeom>
              <a:avLst/>
              <a:gdLst/>
              <a:ahLst/>
              <a:cxnLst/>
              <a:rect l="l" t="t" r="r" b="b"/>
              <a:pathLst>
                <a:path w="12118284" h="4574652">
                  <a:moveTo>
                    <a:pt x="0" y="0"/>
                  </a:moveTo>
                  <a:lnTo>
                    <a:pt x="12118284" y="0"/>
                  </a:lnTo>
                  <a:lnTo>
                    <a:pt x="12118284" y="4574652"/>
                  </a:lnTo>
                  <a:lnTo>
                    <a:pt x="0" y="4574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sp>
        <p:nvSpPr>
          <p:cNvPr id="86" name="文本框 85"/>
          <p:cNvSpPr txBox="1"/>
          <p:nvPr/>
        </p:nvSpPr>
        <p:spPr>
          <a:xfrm>
            <a:off x="1143000" y="7203440"/>
            <a:ext cx="3987800" cy="22479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20" b="1" spc="-1121">
                <a:solidFill>
                  <a:srgbClr val="FF9900"/>
                </a:solidFill>
                <a:ea typeface="STHeiti Regular" panose="02010600040101010101" charset="-122"/>
                <a:cs typeface="+mn-lt"/>
                <a:sym typeface="Aileron Bold"/>
              </a:rPr>
              <a:t>Zup!</a:t>
            </a:r>
            <a:r>
              <a:rPr lang="en-US" altLang="zh-CN" sz="14020" b="1" spc="-1121">
                <a:solidFill>
                  <a:srgbClr val="EE9F48"/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Aileron Bold"/>
              </a:rPr>
              <a:t> </a:t>
            </a:r>
            <a:endParaRPr lang="zh-CN" altLang="en-US" sz="8100" b="1" spc="-1121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cs typeface="STHeiti Regular" panose="02010600040101010101" charset="-122"/>
              <a:sym typeface="Aileron Bold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33800" y="4445000"/>
            <a:ext cx="10756265" cy="1334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 algn="ctr">
              <a:lnSpc>
                <a:spcPts val="8895"/>
              </a:lnSpc>
              <a:spcBef>
                <a:spcPct val="0"/>
              </a:spcBef>
            </a:pPr>
            <a:r>
              <a:rPr lang="zh-CN" altLang="en-US" sz="6600" b="1" spc="-266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Aileron Bold"/>
                <a:sym typeface="Aileron Bold"/>
              </a:rPr>
              <a:t>天使轮融资商业计划书</a:t>
            </a:r>
            <a:endParaRPr lang="zh-CN" altLang="en-US" sz="6600" b="1" spc="-266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cs typeface="Aileron Bold"/>
              <a:sym typeface="Aileron Bold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90600" y="2425700"/>
            <a:ext cx="1030668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4800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——线下即时社交的可视化网络</a:t>
            </a:r>
            <a:endParaRPr lang="zh-CN" altLang="en-US" sz="4800"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670040" y="8420735"/>
            <a:ext cx="494792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700">
                <a:solidFill>
                  <a:schemeClr val="tx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北京万盏街灯科技有限公司</a:t>
            </a:r>
            <a:endParaRPr lang="en-US" altLang="zh-CN" sz="2700">
              <a:solidFill>
                <a:schemeClr val="tx1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700">
                <a:solidFill>
                  <a:schemeClr val="tx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2026.7</a:t>
            </a:r>
            <a:endParaRPr lang="en-US" altLang="zh-CN" sz="2700">
              <a:solidFill>
                <a:schemeClr val="tx1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38200" y="1257300"/>
            <a:ext cx="16929735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7000" b="1"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+mn-ea"/>
              </a:rPr>
              <a:t>基于地图与</a:t>
            </a:r>
            <a:r>
              <a:rPr lang="en-US" altLang="zh-CN" sz="7000" b="1"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+mn-ea"/>
              </a:rPr>
              <a:t>AI Agent</a:t>
            </a:r>
            <a:r>
              <a:rPr lang="zh-CN" altLang="en-US" sz="7000" b="1"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+mn-ea"/>
              </a:rPr>
              <a:t>的社交娱乐即时互动</a:t>
            </a:r>
            <a:endParaRPr lang="zh-CN" altLang="en-US" sz="7000" b="1">
              <a:latin typeface="STHeiti Regular" panose="02010600040101010101" charset="-122"/>
              <a:ea typeface="STHeiti Regular" panose="02010600040101010101" charset="-122"/>
              <a:cs typeface="STHeiti Regular" panose="02010600040101010101" charset="-122"/>
              <a:sym typeface="+mn-ea"/>
            </a:endParaRPr>
          </a:p>
        </p:txBody>
      </p:sp>
      <p:pic>
        <p:nvPicPr>
          <p:cNvPr id="15" name="图片 14" descr="180x180bb_副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7038340"/>
            <a:ext cx="1382395" cy="13823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/>
          <p:cNvSpPr/>
          <p:nvPr/>
        </p:nvSpPr>
        <p:spPr>
          <a:xfrm>
            <a:off x="228600" y="9029700"/>
            <a:ext cx="6250305" cy="757555"/>
          </a:xfrm>
          <a:custGeom>
            <a:avLst/>
            <a:gdLst/>
            <a:ahLst/>
            <a:cxnLst/>
            <a:rect l="l" t="t" r="r" b="b"/>
            <a:pathLst>
              <a:path w="3199068" h="244594">
                <a:moveTo>
                  <a:pt x="1599534" y="0"/>
                </a:moveTo>
                <a:cubicBezTo>
                  <a:pt x="716136" y="0"/>
                  <a:pt x="0" y="54754"/>
                  <a:pt x="0" y="122297"/>
                </a:cubicBezTo>
                <a:cubicBezTo>
                  <a:pt x="0" y="189840"/>
                  <a:pt x="716136" y="244594"/>
                  <a:pt x="1599534" y="244594"/>
                </a:cubicBezTo>
                <a:cubicBezTo>
                  <a:pt x="2482932" y="244594"/>
                  <a:pt x="3199068" y="189840"/>
                  <a:pt x="3199068" y="122297"/>
                </a:cubicBezTo>
                <a:cubicBezTo>
                  <a:pt x="3199068" y="54754"/>
                  <a:pt x="2482932" y="0"/>
                  <a:pt x="1599534" y="0"/>
                </a:cubicBezTo>
                <a:close/>
              </a:path>
            </a:pathLst>
          </a:custGeom>
          <a:solidFill>
            <a:srgbClr val="67CA9B"/>
          </a:solidFill>
        </p:spPr>
      </p:sp>
      <p:sp>
        <p:nvSpPr>
          <p:cNvPr id="8" name="Freeform 5"/>
          <p:cNvSpPr/>
          <p:nvPr/>
        </p:nvSpPr>
        <p:spPr>
          <a:xfrm>
            <a:off x="-342900" y="2829942"/>
            <a:ext cx="6666868" cy="6771258"/>
          </a:xfrm>
          <a:custGeom>
            <a:avLst/>
            <a:gdLst/>
            <a:ahLst/>
            <a:cxnLst/>
            <a:rect l="l" t="t" r="r" b="b"/>
            <a:pathLst>
              <a:path w="6666868" h="6771258">
                <a:moveTo>
                  <a:pt x="0" y="0"/>
                </a:moveTo>
                <a:lnTo>
                  <a:pt x="6666868" y="0"/>
                </a:lnTo>
                <a:lnTo>
                  <a:pt x="6666868" y="6771258"/>
                </a:lnTo>
                <a:lnTo>
                  <a:pt x="0" y="677125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TextBox 8"/>
          <p:cNvSpPr txBox="1"/>
          <p:nvPr/>
        </p:nvSpPr>
        <p:spPr>
          <a:xfrm>
            <a:off x="9677400" y="1409700"/>
            <a:ext cx="6512560" cy="7386320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3200" spc="-25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Aileron Light"/>
              </a:rPr>
              <a:t>1. </a:t>
            </a:r>
            <a:r>
              <a:rPr lang="zh-CN" altLang="en-US" sz="3200" spc="-25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Aileron Light"/>
              </a:rPr>
              <a:t>项目概述</a:t>
            </a:r>
            <a:endParaRPr lang="zh-CN" altLang="en-US" sz="3200" spc="-25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Aileron Light"/>
            </a:endParaRPr>
          </a:p>
          <a:p>
            <a:pPr algn="l">
              <a:lnSpc>
                <a:spcPct val="150000"/>
              </a:lnSpc>
            </a:pPr>
            <a:r>
              <a:rPr lang="en-US" altLang="zh-CN" sz="3200" spc="-25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Aileron Light"/>
              </a:rPr>
              <a:t>2. </a:t>
            </a:r>
            <a:r>
              <a:rPr lang="zh-CN" altLang="en-US" sz="3200" spc="-25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Aileron Light"/>
              </a:rPr>
              <a:t>团队介绍</a:t>
            </a:r>
            <a:endParaRPr lang="zh-CN" altLang="en-US" sz="3200" spc="-25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Aileron Light"/>
            </a:endParaRPr>
          </a:p>
          <a:p>
            <a:pPr algn="l">
              <a:lnSpc>
                <a:spcPct val="150000"/>
              </a:lnSpc>
            </a:pPr>
            <a:r>
              <a:rPr lang="en-US" altLang="zh-CN" sz="3200" spc="-25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Aileron Light"/>
              </a:rPr>
              <a:t>3. </a:t>
            </a:r>
            <a:r>
              <a:rPr lang="zh-CN" altLang="en-US" sz="3200" spc="-25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Aileron Light"/>
              </a:rPr>
              <a:t>行业背景与市场机会</a:t>
            </a:r>
            <a:endParaRPr lang="zh-CN" altLang="en-US" sz="3200" spc="-25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Aileron Light"/>
            </a:endParaRPr>
          </a:p>
          <a:p>
            <a:pPr algn="l">
              <a:lnSpc>
                <a:spcPct val="150000"/>
              </a:lnSpc>
            </a:pPr>
            <a:r>
              <a:rPr lang="en-US" altLang="zh-CN" sz="3200" spc="-25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Aileron Light"/>
              </a:rPr>
              <a:t>4. </a:t>
            </a:r>
            <a:r>
              <a:rPr lang="zh-CN" altLang="en-US" sz="3200" spc="-25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Aileron Light"/>
              </a:rPr>
              <a:t>解决方案</a:t>
            </a:r>
            <a:endParaRPr lang="zh-CN" altLang="en-US" sz="3200" spc="-25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Aileron Light"/>
            </a:endParaRPr>
          </a:p>
          <a:p>
            <a:pPr algn="l">
              <a:lnSpc>
                <a:spcPct val="150000"/>
              </a:lnSpc>
            </a:pPr>
            <a:r>
              <a:rPr lang="en-US" altLang="zh-CN" sz="3200" spc="-25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Aileron Light"/>
              </a:rPr>
              <a:t>5. </a:t>
            </a:r>
            <a:r>
              <a:rPr lang="zh-CN" altLang="en-US" sz="3200" spc="-25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Aileron Light"/>
              </a:rPr>
              <a:t>产品介绍</a:t>
            </a:r>
            <a:endParaRPr lang="zh-CN" altLang="en-US" sz="3200" spc="-25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Aileron Light"/>
            </a:endParaRPr>
          </a:p>
          <a:p>
            <a:pPr algn="l">
              <a:lnSpc>
                <a:spcPct val="150000"/>
              </a:lnSpc>
            </a:pPr>
            <a:r>
              <a:rPr lang="en-US" altLang="zh-CN" sz="3200" spc="-25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Aileron Light"/>
              </a:rPr>
              <a:t>6. </a:t>
            </a:r>
            <a:r>
              <a:rPr lang="zh-CN" altLang="en-US" sz="3200" spc="-25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Aileron Light"/>
              </a:rPr>
              <a:t>产品介绍</a:t>
            </a:r>
            <a:r>
              <a:rPr lang="en-US" altLang="zh-CN" sz="3200" spc="-25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Aileron Light"/>
              </a:rPr>
              <a:t>-AI Agent</a:t>
            </a:r>
            <a:endParaRPr lang="zh-CN" altLang="en-US" sz="3200" spc="-25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Aileron Light"/>
            </a:endParaRPr>
          </a:p>
          <a:p>
            <a:pPr algn="l">
              <a:lnSpc>
                <a:spcPct val="150000"/>
              </a:lnSpc>
            </a:pPr>
            <a:r>
              <a:rPr lang="en-US" altLang="zh-CN" sz="3200" spc="-25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Aileron Light"/>
              </a:rPr>
              <a:t>7. </a:t>
            </a:r>
            <a:r>
              <a:rPr lang="zh-CN" altLang="en-US" sz="3200" spc="-25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Aileron Light"/>
              </a:rPr>
              <a:t>盈利模式</a:t>
            </a:r>
            <a:endParaRPr lang="zh-CN" altLang="en-US" sz="3200" spc="-25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Aileron Light"/>
            </a:endParaRPr>
          </a:p>
          <a:p>
            <a:pPr algn="l">
              <a:lnSpc>
                <a:spcPct val="150000"/>
              </a:lnSpc>
            </a:pPr>
            <a:r>
              <a:rPr lang="en-US" altLang="zh-CN" sz="3200" spc="-25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Aileron Light"/>
              </a:rPr>
              <a:t>8. </a:t>
            </a:r>
            <a:r>
              <a:rPr lang="zh-CN" altLang="en-US" sz="3200" spc="-25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Aileron Light"/>
              </a:rPr>
              <a:t>市场策略</a:t>
            </a:r>
            <a:endParaRPr lang="zh-CN" altLang="en-US" sz="3200" spc="-25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Aileron Light"/>
            </a:endParaRPr>
          </a:p>
          <a:p>
            <a:pPr algn="l">
              <a:lnSpc>
                <a:spcPct val="150000"/>
              </a:lnSpc>
            </a:pPr>
            <a:r>
              <a:rPr lang="en-US" altLang="zh-CN" sz="3200" spc="-25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Aileron Light"/>
              </a:rPr>
              <a:t>9. </a:t>
            </a:r>
            <a:r>
              <a:rPr lang="zh-CN" altLang="en-US" sz="3200" spc="-25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Aileron Light"/>
              </a:rPr>
              <a:t>发展规划</a:t>
            </a:r>
            <a:endParaRPr lang="zh-CN" altLang="en-US" sz="3200" spc="-25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Aileron Light"/>
            </a:endParaRPr>
          </a:p>
          <a:p>
            <a:pPr algn="l">
              <a:lnSpc>
                <a:spcPct val="150000"/>
              </a:lnSpc>
            </a:pPr>
            <a:r>
              <a:rPr lang="en-US" altLang="zh-CN" sz="3200" spc="-25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Aileron Light"/>
              </a:rPr>
              <a:t>10. </a:t>
            </a:r>
            <a:r>
              <a:rPr lang="zh-CN" altLang="en-US" sz="3200" spc="-25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Aileron Light"/>
              </a:rPr>
              <a:t>融资需求</a:t>
            </a:r>
            <a:endParaRPr lang="zh-CN" altLang="en-US" sz="3200" spc="-25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Aileron Light"/>
            </a:endParaRPr>
          </a:p>
        </p:txBody>
      </p:sp>
      <p:sp>
        <p:nvSpPr>
          <p:cNvPr id="16" name="TextBox 12"/>
          <p:cNvSpPr txBox="1"/>
          <p:nvPr/>
        </p:nvSpPr>
        <p:spPr>
          <a:xfrm>
            <a:off x="838200" y="880745"/>
            <a:ext cx="3576955" cy="1140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8895"/>
              </a:lnSpc>
              <a:spcBef>
                <a:spcPct val="0"/>
              </a:spcBef>
            </a:pPr>
            <a:r>
              <a:rPr lang="zh-CN" altLang="en-US" sz="8895" b="1" spc="-266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Aileron Bold"/>
                <a:sym typeface="Aileron Bold"/>
              </a:rPr>
              <a:t>目录</a:t>
            </a:r>
            <a:endParaRPr lang="zh-CN" altLang="en-US" sz="8895" b="1" spc="-266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cs typeface="Aileron Bold"/>
              <a:sym typeface="Aileron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1576685" y="7561580"/>
            <a:ext cx="3566795" cy="3566795"/>
            <a:chOff x="0" y="0"/>
            <a:chExt cx="812800" cy="812800"/>
          </a:xfrm>
        </p:grpSpPr>
        <p:sp>
          <p:nvSpPr>
            <p:cNvPr id="4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CA9B"/>
            </a:solidFill>
          </p:spPr>
        </p:sp>
        <p:sp>
          <p:nvSpPr>
            <p:cNvPr id="5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3360"/>
                </a:lnSpc>
              </a:pPr>
            </a:p>
          </p:txBody>
        </p:sp>
      </p:grpSp>
      <p:pic>
        <p:nvPicPr>
          <p:cNvPr id="27" name="图片 26" descr="/Users/weiming/Library/Containers/com.kingsoft.wpsoffice.mac/Data/tmp/picturecompress_20250702142808/output_1.pngoutput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7895" y="6015990"/>
            <a:ext cx="2205355" cy="1654175"/>
          </a:xfrm>
          <a:prstGeom prst="rect">
            <a:avLst/>
          </a:prstGeom>
        </p:spPr>
      </p:pic>
      <p:pic>
        <p:nvPicPr>
          <p:cNvPr id="28" name="图片 27" descr="/Users/weiming/Library/Containers/com.kingsoft.wpsoffice.mac/Data/tmp/picturecompress_20250702142808/output_2.pngoutput_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895" y="7774305"/>
            <a:ext cx="2202815" cy="1652905"/>
          </a:xfrm>
          <a:prstGeom prst="rect">
            <a:avLst/>
          </a:prstGeom>
        </p:spPr>
      </p:pic>
      <p:pic>
        <p:nvPicPr>
          <p:cNvPr id="29" name="图片 28" descr="/Users/weiming/Library/Containers/com.kingsoft.wpsoffice.mac/Data/tmp/picturecompress_20250702142808/output_3.pngoutput_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19800"/>
            <a:ext cx="2270125" cy="3407410"/>
          </a:xfrm>
          <a:prstGeom prst="rect">
            <a:avLst/>
          </a:prstGeom>
        </p:spPr>
      </p:pic>
      <p:pic>
        <p:nvPicPr>
          <p:cNvPr id="30" name="图片 29" descr="/Users/weiming/Library/Containers/com.kingsoft.wpsoffice.mac/Data/tmp/picturecompress_20250702142808/output_4.pngoutput_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0" y="5981700"/>
            <a:ext cx="2296795" cy="3445510"/>
          </a:xfrm>
          <a:prstGeom prst="rect">
            <a:avLst/>
          </a:prstGeom>
        </p:spPr>
      </p:pic>
      <p:pic>
        <p:nvPicPr>
          <p:cNvPr id="31" name="图片 30" descr="/Users/weiming/Library/Containers/com.kingsoft.wpsoffice.mac/Data/tmp/picturecompress_20250702142808/output_5.pngoutput_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305" y="6015990"/>
            <a:ext cx="2296795" cy="3445510"/>
          </a:xfrm>
          <a:prstGeom prst="rect">
            <a:avLst/>
          </a:prstGeom>
        </p:spPr>
      </p:pic>
      <p:pic>
        <p:nvPicPr>
          <p:cNvPr id="32" name="图片 31" descr="/Users/weiming/Library/Containers/com.kingsoft.wpsoffice.mac/Data/tmp/picturecompress_20250702142808/output_6.pngoutput_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2660" y="5999480"/>
            <a:ext cx="2296160" cy="3445510"/>
          </a:xfrm>
          <a:prstGeom prst="rect">
            <a:avLst/>
          </a:prstGeom>
        </p:spPr>
      </p:pic>
      <p:pic>
        <p:nvPicPr>
          <p:cNvPr id="33" name="图片 32" descr="/Users/weiming/Library/Containers/com.kingsoft.wpsoffice.mac/Data/tmp/picturecompress_20250702142808/output_7.pngoutput_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2600" y="7767320"/>
            <a:ext cx="1659890" cy="1659890"/>
          </a:xfrm>
          <a:prstGeom prst="rect">
            <a:avLst/>
          </a:prstGeom>
        </p:spPr>
      </p:pic>
      <p:pic>
        <p:nvPicPr>
          <p:cNvPr id="34" name="图片 33" descr="/Users/weiming/Library/Containers/com.kingsoft.wpsoffice.mac/Data/tmp/picturecompress_20250702142808/output_8.pngoutput_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0695" y="6015990"/>
            <a:ext cx="1689735" cy="1690370"/>
          </a:xfrm>
          <a:prstGeom prst="rect">
            <a:avLst/>
          </a:prstGeom>
        </p:spPr>
      </p:pic>
      <p:sp>
        <p:nvSpPr>
          <p:cNvPr id="6" name="Freeform 5"/>
          <p:cNvSpPr/>
          <p:nvPr/>
        </p:nvSpPr>
        <p:spPr>
          <a:xfrm>
            <a:off x="12957810" y="4986020"/>
            <a:ext cx="4653280" cy="5868670"/>
          </a:xfrm>
          <a:custGeom>
            <a:avLst/>
            <a:gdLst/>
            <a:ahLst/>
            <a:cxnLst/>
            <a:rect l="l" t="t" r="r" b="b"/>
            <a:pathLst>
              <a:path w="7926153" h="9996200">
                <a:moveTo>
                  <a:pt x="0" y="0"/>
                </a:moveTo>
                <a:lnTo>
                  <a:pt x="7926153" y="0"/>
                </a:lnTo>
                <a:lnTo>
                  <a:pt x="7926153" y="9996200"/>
                </a:lnTo>
                <a:lnTo>
                  <a:pt x="0" y="99962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7" name="TextBox 12"/>
          <p:cNvSpPr txBox="1"/>
          <p:nvPr/>
        </p:nvSpPr>
        <p:spPr>
          <a:xfrm>
            <a:off x="990600" y="612140"/>
            <a:ext cx="16177260" cy="1140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8895"/>
              </a:lnSpc>
              <a:spcBef>
                <a:spcPct val="0"/>
              </a:spcBef>
            </a:pPr>
            <a:r>
              <a:rPr lang="zh-CN" altLang="en-US" sz="8000" b="1" spc="-266">
                <a:solidFill>
                  <a:schemeClr val="tx1"/>
                </a:solidFill>
                <a:ea typeface="STHeiti Regular" panose="02010600040101010101" charset="-122"/>
                <a:cs typeface="+mn-lt"/>
                <a:sym typeface="Aileron Bold"/>
              </a:rPr>
              <a:t>项目概述</a:t>
            </a:r>
            <a:endParaRPr lang="zh-CN" altLang="en-US" sz="8000" b="1" spc="-266">
              <a:solidFill>
                <a:schemeClr val="tx1"/>
              </a:solidFill>
              <a:ea typeface="STHeiti Regular" panose="02010600040101010101" charset="-122"/>
              <a:cs typeface="+mn-lt"/>
              <a:sym typeface="Aileron Bold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43000" y="9512300"/>
            <a:ext cx="71323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酒馆邀约、球场攒局、夜跑夜骑、</a:t>
            </a:r>
            <a:r>
              <a:rPr lang="en-US" altLang="zh-CN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Coffee Chat</a:t>
            </a:r>
            <a:r>
              <a:rPr lang="zh-CN" altLang="en-US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、</a:t>
            </a:r>
            <a:r>
              <a:rPr lang="zh-CN" altLang="en-US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演出市集</a:t>
            </a:r>
            <a:endParaRPr lang="zh-CN" altLang="en-US" sz="2000" spc="-18"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14400" y="2019300"/>
            <a:ext cx="16075025" cy="29229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4400" b="1" spc="-18">
                <a:solidFill>
                  <a:schemeClr val="tx1"/>
                </a:solidFill>
                <a:ea typeface="STHeiti Regular" panose="02010600040101010101" charset="-122"/>
                <a:cs typeface="+mn-lt"/>
              </a:rPr>
              <a:t>Zup! </a:t>
            </a:r>
            <a:r>
              <a:rPr lang="en-US" altLang="zh-CN" sz="2800" spc="-18">
                <a:solidFill>
                  <a:schemeClr val="tx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（ios、android、小程序）</a:t>
            </a:r>
            <a:r>
              <a:rPr lang="zh-CN" altLang="en-US" sz="2800" spc="-18">
                <a:solidFill>
                  <a:schemeClr val="tx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：</a:t>
            </a:r>
            <a:r>
              <a:rPr sz="2800" noProof="0" dirty="0">
                <a:ln>
                  <a:noFill/>
                </a:ln>
                <a:effectLst/>
                <a:uLnTx/>
                <a:uFillTx/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是一款基于地图与AI Agent的即时线下社交撮合平台，帮助用户高效找到此刻附近感兴趣的线下活动与</a:t>
            </a:r>
            <a:r>
              <a:rPr lang="zh-CN" sz="2800" noProof="0" dirty="0">
                <a:ln>
                  <a:noFill/>
                </a:ln>
                <a:effectLst/>
                <a:uLnTx/>
                <a:uFillTx/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同行</a:t>
            </a:r>
            <a:r>
              <a:rPr sz="2800" noProof="0" dirty="0">
                <a:ln>
                  <a:noFill/>
                </a:ln>
                <a:effectLst/>
                <a:uLnTx/>
                <a:uFillTx/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人群</a:t>
            </a:r>
            <a:r>
              <a:rPr lang="zh-CN" altLang="en-US" sz="2800" noProof="0" dirty="0">
                <a:ln>
                  <a:noFill/>
                </a:ln>
                <a:effectLst/>
                <a:uLnTx/>
                <a:uFillTx/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。平台以实时活动为载体，快闪群聊为转化工具，通过</a:t>
            </a:r>
            <a:r>
              <a:rPr lang="en-US" altLang="zh-CN" sz="2800" noProof="0" dirty="0">
                <a:ln>
                  <a:noFill/>
                </a:ln>
                <a:effectLst/>
                <a:uLnTx/>
                <a:uFillTx/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AI Agent</a:t>
            </a:r>
            <a:r>
              <a:rPr lang="zh-CN" altLang="en-US" sz="2800" noProof="0" dirty="0">
                <a:ln>
                  <a:noFill/>
                </a:ln>
                <a:effectLst/>
                <a:uLnTx/>
                <a:uFillTx/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提供内容供给、</a:t>
            </a:r>
            <a:r>
              <a:rPr lang="zh-CN" altLang="en-US" sz="2800" noProof="0" dirty="0">
                <a:ln>
                  <a:noFill/>
                </a:ln>
                <a:effectLst/>
                <a:uLnTx/>
                <a:uFillTx/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个性化推荐与智能撮合</a:t>
            </a:r>
            <a:r>
              <a:rPr lang="zh-CN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。</a:t>
            </a:r>
            <a:endParaRPr lang="zh-CN" sz="2800" spc="-18"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endParaRPr lang="en-US" altLang="zh-CN" sz="2800" spc="-18">
              <a:solidFill>
                <a:schemeClr val="tx1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同时为酒馆、</a:t>
            </a:r>
            <a:r>
              <a:rPr lang="zh-CN" altLang="en-US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演出</a:t>
            </a:r>
            <a:r>
              <a:rPr lang="en-US" altLang="zh-CN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、运动场馆等线下商户提供</a:t>
            </a:r>
            <a:r>
              <a:rPr lang="zh-CN" altLang="en-US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内容发布、智能推送、报名核销等</a:t>
            </a:r>
            <a:r>
              <a:rPr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实时运营获客</a:t>
            </a:r>
            <a:r>
              <a:rPr lang="en-US" altLang="zh-CN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服务，提升用户到店动机。</a:t>
            </a:r>
            <a:endParaRPr lang="en-US" altLang="zh-CN" sz="2800" spc="-18"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照片1_副本"/>
          <p:cNvPicPr>
            <a:picLocks noChangeAspect="1"/>
          </p:cNvPicPr>
          <p:nvPr/>
        </p:nvPicPr>
        <p:blipFill>
          <a:blip r:embed="rId1"/>
          <a:srcRect l="8271" r="8271"/>
          <a:stretch>
            <a:fillRect/>
          </a:stretch>
        </p:blipFill>
        <p:spPr>
          <a:xfrm>
            <a:off x="1905000" y="2247900"/>
            <a:ext cx="2128520" cy="2128520"/>
          </a:xfrm>
          <a:prstGeom prst="ellipse">
            <a:avLst/>
          </a:prstGeom>
        </p:spPr>
      </p:pic>
      <p:sp>
        <p:nvSpPr>
          <p:cNvPr id="8" name="TextBox 12"/>
          <p:cNvSpPr txBox="1"/>
          <p:nvPr/>
        </p:nvSpPr>
        <p:spPr>
          <a:xfrm>
            <a:off x="990600" y="612140"/>
            <a:ext cx="16177260" cy="1140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8895"/>
              </a:lnSpc>
              <a:spcBef>
                <a:spcPct val="0"/>
              </a:spcBef>
            </a:pPr>
            <a:r>
              <a:rPr lang="zh-CN" altLang="en-US" sz="8000" b="1" spc="-266">
                <a:solidFill>
                  <a:schemeClr val="tx1"/>
                </a:solidFill>
                <a:ea typeface="STHeiti Regular" panose="02010600040101010101" charset="-122"/>
                <a:cs typeface="+mn-lt"/>
                <a:sym typeface="Aileron Bold"/>
              </a:rPr>
              <a:t>团队</a:t>
            </a:r>
            <a:r>
              <a:rPr lang="zh-CN" altLang="en-US" sz="8000" b="1" spc="-266">
                <a:solidFill>
                  <a:schemeClr val="tx1"/>
                </a:solidFill>
                <a:ea typeface="STHeiti Regular" panose="02010600040101010101" charset="-122"/>
                <a:cs typeface="+mn-lt"/>
                <a:sym typeface="Aileron Bold"/>
              </a:rPr>
              <a:t>介绍</a:t>
            </a:r>
            <a:endParaRPr lang="zh-CN" altLang="en-US" sz="8000" b="1" spc="-266">
              <a:solidFill>
                <a:schemeClr val="tx1"/>
              </a:solidFill>
              <a:ea typeface="STHeiti Regular" panose="02010600040101010101" charset="-122"/>
              <a:cs typeface="+mn-lt"/>
              <a:sym typeface="Aileron Bold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14400" y="4914900"/>
            <a:ext cx="8501380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algn="l">
              <a:lnSpc>
                <a:spcPct val="1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连续创业者，前热波科技创始人，曾是国内头部</a:t>
            </a:r>
            <a:r>
              <a:rPr lang="en-US" altLang="zh-CN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VR</a:t>
            </a:r>
            <a:r>
              <a:rPr lang="zh-CN" altLang="en-US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视频平台，获达晨创投、华策资本千万级投资。</a:t>
            </a:r>
            <a:endParaRPr lang="zh-CN" altLang="en-US" sz="2800" spc="-18"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  <a:p>
            <a:pPr marL="457200" indent="-457200" algn="l">
              <a:lnSpc>
                <a:spcPct val="1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作为海马云副总经理主导开发了国内最大的</a:t>
            </a:r>
            <a:r>
              <a:rPr lang="en-US" altLang="zh-CN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AI</a:t>
            </a:r>
            <a:r>
              <a:rPr lang="zh-CN" altLang="en-US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多模创作</a:t>
            </a:r>
            <a:r>
              <a:rPr lang="en-US" altLang="zh-CN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Agent RunningHub</a:t>
            </a:r>
            <a:r>
              <a:rPr lang="zh-CN" altLang="en-US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，也在百度、央视网等负责过多个从</a:t>
            </a:r>
            <a:r>
              <a:rPr lang="en-US" altLang="zh-CN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0</a:t>
            </a:r>
            <a:r>
              <a:rPr lang="zh-CN" altLang="en-US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到</a:t>
            </a:r>
            <a:r>
              <a:rPr lang="en-US" altLang="zh-CN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1</a:t>
            </a:r>
            <a:r>
              <a:rPr lang="zh-CN" altLang="en-US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的大型产品</a:t>
            </a:r>
            <a:r>
              <a:rPr lang="zh-CN" altLang="en-US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经验。</a:t>
            </a:r>
            <a:endParaRPr lang="zh-CN" altLang="en-US" sz="2800" spc="-18"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  <a:p>
            <a:pPr marL="457200" indent="-457200" algn="l">
              <a:lnSpc>
                <a:spcPct val="1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职业生涯中在社交产品上投入时间超过</a:t>
            </a:r>
            <a:r>
              <a:rPr lang="en-US" altLang="zh-CN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6</a:t>
            </a:r>
            <a:r>
              <a:rPr lang="zh-CN" altLang="en-US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年，对陌生人社交赛道产品、用户需求有丰富的实际研究与深刻理解。本项目在产品调研、原型打磨以及行业机会、</a:t>
            </a:r>
            <a:r>
              <a:rPr lang="zh-CN" altLang="en-US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技术成熟度都达到预期后正式启动，</a:t>
            </a:r>
            <a:r>
              <a:rPr lang="zh-CN" altLang="en-US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擅长以低资源成本精益创业和快速市场反应。</a:t>
            </a:r>
            <a:endParaRPr lang="en-US" altLang="zh-CN" sz="2800" spc="-18"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829800" y="4914900"/>
            <a:ext cx="7299325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algn="l">
              <a:lnSpc>
                <a:spcPct val="1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拥有十余年互联网移动产品底层研发与算法落地经验</a:t>
            </a:r>
            <a:r>
              <a:rPr lang="zh-CN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。精通 iOS、Android、小程序架构搭建、地理</a:t>
            </a:r>
            <a:r>
              <a:rPr lang="zh-CN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围栏、爬虫 AI 智能代理。</a:t>
            </a:r>
            <a:endParaRPr lang="zh-CN" sz="2800" spc="-18"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  <a:p>
            <a:pPr marL="457200" indent="-457200" algn="l">
              <a:lnSpc>
                <a:spcPct val="1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具备多个全生命周期产品的第一技术负责人项目经验，</a:t>
            </a:r>
            <a:r>
              <a:rPr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善于推动敏捷与 DevOps 实践落地</a:t>
            </a:r>
            <a:r>
              <a:rPr lang="zh-CN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。</a:t>
            </a:r>
            <a:endParaRPr lang="zh-CN" sz="2800" spc="-18"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  <a:p>
            <a:pPr marL="457200" indent="-457200" algn="l">
              <a:lnSpc>
                <a:spcPct val="1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本次项目双端</a:t>
            </a:r>
            <a:r>
              <a:rPr lang="en-US" altLang="zh-CN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 </a:t>
            </a:r>
            <a:r>
              <a:rPr lang="zh-CN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APP、</a:t>
            </a:r>
            <a:r>
              <a:rPr lang="zh-CN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自研 AI Agent</a:t>
            </a:r>
            <a:r>
              <a:rPr lang="zh-CN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均由其牵头落地，构建竞品难以</a:t>
            </a:r>
            <a:r>
              <a:rPr lang="zh-CN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短期复制的技术内容壁垒</a:t>
            </a:r>
            <a:endParaRPr lang="zh-CN" sz="2800" spc="-18"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495800" y="2552700"/>
            <a:ext cx="43713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2800" b="1" spc="-18"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+mn-ea"/>
              </a:rPr>
              <a:t>魏明</a:t>
            </a:r>
            <a:r>
              <a:rPr lang="en-US" altLang="zh-CN" sz="2800" b="1" spc="-18"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+mn-ea"/>
              </a:rPr>
              <a:t>  CEO&amp;</a:t>
            </a:r>
            <a:r>
              <a:rPr lang="zh-CN" altLang="en-US" sz="2800" b="1" spc="-18"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+mn-ea"/>
              </a:rPr>
              <a:t>产品负责人</a:t>
            </a:r>
            <a:endParaRPr lang="zh-CN" altLang="en-US" sz="2800" b="1" spc="-18">
              <a:latin typeface="STHeiti Regular" panose="02010600040101010101" charset="-122"/>
              <a:ea typeface="STHeiti Regular" panose="02010600040101010101" charset="-122"/>
              <a:cs typeface="STHeiti Regular" panose="02010600040101010101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495800" y="3148965"/>
            <a:ext cx="437134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algn="l">
              <a:lnSpc>
                <a:spcPct val="1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热波科技</a:t>
            </a:r>
            <a:r>
              <a:rPr lang="en-US" altLang="zh-CN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  </a:t>
            </a:r>
            <a:r>
              <a:rPr lang="zh-CN" altLang="en-US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创始人</a:t>
            </a:r>
            <a:endParaRPr lang="zh-CN" altLang="en-US" sz="2000" spc="-18"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  <a:p>
            <a:pPr marL="457200" indent="-457200" algn="l">
              <a:lnSpc>
                <a:spcPct val="1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海马云</a:t>
            </a:r>
            <a:r>
              <a:rPr lang="en-US" altLang="zh-CN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  </a:t>
            </a:r>
            <a:r>
              <a:rPr lang="zh-CN" altLang="en-US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副总经理</a:t>
            </a:r>
            <a:endParaRPr lang="zh-CN" altLang="en-US" sz="2000" spc="-18"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  <a:p>
            <a:pPr marL="457200" indent="-457200" algn="l">
              <a:lnSpc>
                <a:spcPct val="1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百度</a:t>
            </a:r>
            <a:r>
              <a:rPr lang="en-US" altLang="zh-CN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  </a:t>
            </a:r>
            <a:r>
              <a:rPr lang="zh-CN" altLang="en-US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产品经理</a:t>
            </a:r>
            <a:endParaRPr lang="zh-CN" altLang="en-US" sz="2000" spc="-18"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2725400" y="2679700"/>
            <a:ext cx="43713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2800" b="1" spc="-18"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+mn-ea"/>
              </a:rPr>
              <a:t>刘荣志</a:t>
            </a:r>
            <a:r>
              <a:rPr lang="en-US" altLang="zh-CN" sz="2800" b="1" spc="-18"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+mn-ea"/>
              </a:rPr>
              <a:t>  </a:t>
            </a:r>
            <a:r>
              <a:rPr lang="zh-CN" altLang="en-US" sz="2800" b="1" spc="-18"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+mn-ea"/>
              </a:rPr>
              <a:t>研发负责人</a:t>
            </a:r>
            <a:endParaRPr lang="zh-CN" altLang="en-US" sz="2800" b="1" spc="-18">
              <a:latin typeface="STHeiti Regular" panose="02010600040101010101" charset="-122"/>
              <a:ea typeface="STHeiti Regular" panose="02010600040101010101" charset="-122"/>
              <a:cs typeface="STHeiti Regular" panose="02010600040101010101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725400" y="3275965"/>
            <a:ext cx="437134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algn="l">
              <a:lnSpc>
                <a:spcPct val="1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热波科技</a:t>
            </a:r>
            <a:r>
              <a:rPr lang="en-US" altLang="zh-CN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  </a:t>
            </a:r>
            <a:r>
              <a:rPr lang="zh-CN" altLang="en-US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研发</a:t>
            </a:r>
            <a:r>
              <a:rPr lang="zh-CN" altLang="en-US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总监</a:t>
            </a:r>
            <a:endParaRPr lang="zh-CN" altLang="en-US" sz="2000" spc="-18"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  <a:p>
            <a:pPr marL="457200" indent="-457200" algn="l">
              <a:lnSpc>
                <a:spcPct val="1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阅友科技</a:t>
            </a:r>
            <a:r>
              <a:rPr lang="en-US" altLang="zh-CN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  </a:t>
            </a:r>
            <a:r>
              <a:rPr lang="zh-CN" altLang="en-US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研发</a:t>
            </a:r>
            <a:r>
              <a:rPr lang="zh-CN" altLang="en-US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总监</a:t>
            </a:r>
            <a:endParaRPr lang="zh-CN" altLang="en-US" sz="2000" spc="-18"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  <a:p>
            <a:pPr marL="457200" indent="-457200" algn="l">
              <a:lnSpc>
                <a:spcPct val="1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一览科技</a:t>
            </a:r>
            <a:r>
              <a:rPr lang="en-US" altLang="zh-CN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  </a:t>
            </a:r>
            <a:r>
              <a:rPr lang="zh-CN" altLang="en-US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研发</a:t>
            </a:r>
            <a:r>
              <a:rPr lang="zh-CN" altLang="en-US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总监</a:t>
            </a:r>
            <a:endParaRPr lang="zh-CN" altLang="en-US" sz="2000" spc="-18"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600" y="2257425"/>
            <a:ext cx="2127600" cy="2118898"/>
          </a:xfrm>
          <a:prstGeom prst="ellipse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9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-111125"/>
            <a:ext cx="18288000" cy="2400300"/>
            <a:chOff x="0" y="0"/>
            <a:chExt cx="4967046" cy="12826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7046" cy="1282670"/>
            </a:xfrm>
            <a:custGeom>
              <a:avLst/>
              <a:gdLst/>
              <a:ahLst/>
              <a:cxnLst/>
              <a:rect l="l" t="t" r="r" b="b"/>
              <a:pathLst>
                <a:path w="4967046" h="1282670">
                  <a:moveTo>
                    <a:pt x="0" y="0"/>
                  </a:moveTo>
                  <a:lnTo>
                    <a:pt x="4967046" y="0"/>
                  </a:lnTo>
                  <a:lnTo>
                    <a:pt x="4967046" y="1282670"/>
                  </a:lnTo>
                  <a:lnTo>
                    <a:pt x="0" y="1282670"/>
                  </a:lnTo>
                  <a:close/>
                </a:path>
              </a:pathLst>
            </a:custGeom>
            <a:solidFill>
              <a:srgbClr val="FAF9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67046" cy="1320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>
                <a:latin typeface="STHeiti Light" panose="02010600040101010101" charset="-122"/>
                <a:ea typeface="STHeiti Light" panose="02010600040101010101" charset="-122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1811000" y="190500"/>
            <a:ext cx="4696460" cy="2094230"/>
          </a:xfrm>
          <a:custGeom>
            <a:avLst/>
            <a:gdLst/>
            <a:ahLst/>
            <a:cxnLst/>
            <a:rect l="l" t="t" r="r" b="b"/>
            <a:pathLst>
              <a:path w="8952524" h="3991015">
                <a:moveTo>
                  <a:pt x="0" y="0"/>
                </a:moveTo>
                <a:lnTo>
                  <a:pt x="8952524" y="0"/>
                </a:lnTo>
                <a:lnTo>
                  <a:pt x="8952524" y="3991015"/>
                </a:lnTo>
                <a:lnTo>
                  <a:pt x="0" y="399101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954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66800" y="2857500"/>
            <a:ext cx="7289800" cy="553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</a:pPr>
            <a:r>
              <a:rPr lang="zh-CN" altLang="en-US" sz="4000" b="1" spc="-36">
                <a:solidFill>
                  <a:srgbClr val="FAF9F4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用户：线下社交机会</a:t>
            </a:r>
            <a:r>
              <a:rPr lang="zh-CN" altLang="en-US" sz="4000" b="1" spc="-36">
                <a:solidFill>
                  <a:srgbClr val="FAF9F4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缺口</a:t>
            </a:r>
            <a:endParaRPr lang="zh-CN" altLang="en-US" sz="4000" b="1" spc="-36">
              <a:solidFill>
                <a:srgbClr val="FAF9F4"/>
              </a:solidFill>
              <a:latin typeface="STHeiti Regular" panose="02010600040101010101" charset="-122"/>
              <a:ea typeface="STHeiti Regular" panose="02010600040101010101" charset="-122"/>
              <a:cs typeface="Open Sauce Bold"/>
              <a:sym typeface="Open Sauce Bold"/>
            </a:endParaRPr>
          </a:p>
        </p:txBody>
      </p:sp>
      <p:sp>
        <p:nvSpPr>
          <p:cNvPr id="14" name="AutoShape 14"/>
          <p:cNvSpPr/>
          <p:nvPr/>
        </p:nvSpPr>
        <p:spPr>
          <a:xfrm flipV="1">
            <a:off x="1133475" y="2580640"/>
            <a:ext cx="1026795" cy="0"/>
          </a:xfrm>
          <a:prstGeom prst="line">
            <a:avLst/>
          </a:prstGeom>
          <a:ln w="38100" cap="flat">
            <a:solidFill>
              <a:srgbClr val="FAF9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flipV="1">
            <a:off x="9677400" y="2580640"/>
            <a:ext cx="1026795" cy="0"/>
          </a:xfrm>
          <a:prstGeom prst="line">
            <a:avLst/>
          </a:prstGeom>
          <a:ln w="38100" cap="flat">
            <a:solidFill>
              <a:srgbClr val="FAF9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2"/>
          <p:cNvSpPr txBox="1"/>
          <p:nvPr/>
        </p:nvSpPr>
        <p:spPr>
          <a:xfrm>
            <a:off x="990600" y="612140"/>
            <a:ext cx="9491345" cy="1140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8895"/>
              </a:lnSpc>
              <a:spcBef>
                <a:spcPct val="0"/>
              </a:spcBef>
            </a:pPr>
            <a:r>
              <a:rPr lang="zh-CN" altLang="en-US" sz="8000" b="1" spc="-266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Aileron Bold"/>
                <a:sym typeface="Aileron Bold"/>
              </a:rPr>
              <a:t>行业背景与市场</a:t>
            </a:r>
            <a:r>
              <a:rPr lang="zh-CN" altLang="en-US" sz="8000" b="1" spc="-266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Aileron Bold"/>
                <a:sym typeface="Aileron Bold"/>
              </a:rPr>
              <a:t>机会</a:t>
            </a:r>
            <a:endParaRPr lang="zh-CN" altLang="en-US" sz="8000" b="1" spc="-266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cs typeface="Aileron Bold"/>
              <a:sym typeface="Aileron Bold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361565" y="7760970"/>
            <a:ext cx="2655570" cy="524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sz="2400" spc="-18">
                <a:solidFill>
                  <a:srgbClr val="FF9900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临时邀约难被响应</a:t>
            </a:r>
            <a:endParaRPr lang="zh-CN" altLang="en-US" sz="2400" spc="-18">
              <a:solidFill>
                <a:srgbClr val="FF9900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</p:txBody>
      </p:sp>
      <p:pic>
        <p:nvPicPr>
          <p:cNvPr id="24" name="图片 23" descr="/Users/weiming/Library/Containers/com.kingsoft.wpsoffice.mac/Data/tmp/picturecompress_20250702142552/output_3.pngoutput_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7760970"/>
            <a:ext cx="849630" cy="84963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5257800" y="7769860"/>
            <a:ext cx="3340735" cy="524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spc="-18">
                <a:solidFill>
                  <a:srgbClr val="FF9900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计划型活动参与成本高</a:t>
            </a:r>
            <a:endParaRPr lang="zh-CN" altLang="en-US" sz="2400" spc="-18">
              <a:solidFill>
                <a:srgbClr val="FF9900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57800" y="8294370"/>
            <a:ext cx="3089275" cy="524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sz="2400" spc="-18">
                <a:solidFill>
                  <a:srgbClr val="FF9900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线下</a:t>
            </a:r>
            <a:r>
              <a:rPr lang="zh-CN" altLang="en-US" sz="2400" spc="-18">
                <a:solidFill>
                  <a:srgbClr val="FF9900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气氛不透明</a:t>
            </a:r>
            <a:endParaRPr lang="zh-CN" altLang="en-US" sz="2400" spc="-18">
              <a:solidFill>
                <a:srgbClr val="FF9900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</p:txBody>
      </p:sp>
      <p:sp>
        <p:nvSpPr>
          <p:cNvPr id="19" name="TextBox 13"/>
          <p:cNvSpPr txBox="1"/>
          <p:nvPr/>
        </p:nvSpPr>
        <p:spPr>
          <a:xfrm>
            <a:off x="1524000" y="4454525"/>
            <a:ext cx="7329170" cy="861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用户去线下空间不只是为了吃喝玩乐本身，更是为了氛围、社交、陪伴和情绪价值。</a:t>
            </a:r>
            <a:endParaRPr lang="zh-CN" altLang="en-US" sz="2800" spc="-22" dirty="0">
              <a:solidFill>
                <a:schemeClr val="bg1"/>
              </a:solidFill>
              <a:highlight>
                <a:srgbClr val="FFFF00"/>
              </a:highlight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</p:txBody>
      </p:sp>
      <p:sp>
        <p:nvSpPr>
          <p:cNvPr id="20" name="TextBox 14"/>
          <p:cNvSpPr txBox="1"/>
          <p:nvPr/>
        </p:nvSpPr>
        <p:spPr>
          <a:xfrm>
            <a:off x="1524000" y="3876040"/>
            <a:ext cx="7225030" cy="50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3925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STHeiti Regular" panose="02010600040101010101" charset="-122"/>
                <a:ea typeface="STHeiti Regular" panose="02010600040101010101" charset="-122"/>
                <a:cs typeface="STHeiti Light" panose="02010600040101010101" charset="-122"/>
                <a:sym typeface="+mn-ea"/>
              </a:rPr>
              <a:t>年轻用户从商品消费走向体验消费</a:t>
            </a:r>
            <a:endParaRPr lang="zh-CN" altLang="en-US" sz="3200" b="1" spc="-28" dirty="0">
              <a:solidFill>
                <a:schemeClr val="bg1"/>
              </a:solidFill>
              <a:latin typeface="STHeiti Regular" panose="02010600040101010101" charset="-122"/>
              <a:ea typeface="STHeiti Regular" panose="02010600040101010101" charset="-122"/>
              <a:cs typeface="STHeiti Light" panose="02010600040101010101" charset="-122"/>
              <a:sym typeface="+mn-ea"/>
            </a:endParaRPr>
          </a:p>
        </p:txBody>
      </p:sp>
      <p:sp>
        <p:nvSpPr>
          <p:cNvPr id="21" name="TextBox 14"/>
          <p:cNvSpPr txBox="1"/>
          <p:nvPr/>
        </p:nvSpPr>
        <p:spPr>
          <a:xfrm>
            <a:off x="1524000" y="5904865"/>
            <a:ext cx="7225665" cy="50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algn="l">
              <a:lnSpc>
                <a:spcPts val="3925"/>
              </a:lnSpc>
              <a:buClrTx/>
              <a:buSzTx/>
              <a:buFontTx/>
            </a:pPr>
            <a:r>
              <a:rPr lang="zh-CN" altLang="en-US" sz="3200" b="1" spc="-28">
                <a:solidFill>
                  <a:schemeClr val="bg1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+mn-ea"/>
              </a:rPr>
              <a:t>时间碎片化，即时决策的场景增多</a:t>
            </a:r>
            <a:endParaRPr lang="zh-CN" altLang="en-US" sz="3200" b="1" spc="-28">
              <a:solidFill>
                <a:schemeClr val="bg1"/>
              </a:solidFill>
              <a:latin typeface="STHeiti Regular" panose="02010600040101010101" charset="-122"/>
              <a:ea typeface="STHeiti Regular" panose="02010600040101010101" charset="-122"/>
              <a:cs typeface="Open Sauce Bold"/>
              <a:sym typeface="+mn-ea"/>
            </a:endParaRPr>
          </a:p>
        </p:txBody>
      </p:sp>
      <p:sp>
        <p:nvSpPr>
          <p:cNvPr id="23" name="TextBox 13"/>
          <p:cNvSpPr txBox="1"/>
          <p:nvPr/>
        </p:nvSpPr>
        <p:spPr>
          <a:xfrm>
            <a:off x="1524000" y="6483350"/>
            <a:ext cx="7305675" cy="861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2800" dirty="0">
                <a:solidFill>
                  <a:schemeClr val="bg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提前预约制活动无法覆盖大量临时起意的社交需求、情绪</a:t>
            </a:r>
            <a:r>
              <a:rPr lang="zh-CN" altLang="en-US" sz="2800" dirty="0">
                <a:solidFill>
                  <a:schemeClr val="bg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需求。</a:t>
            </a:r>
            <a:endParaRPr lang="zh-CN" altLang="en-US" sz="2800" dirty="0">
              <a:solidFill>
                <a:schemeClr val="bg1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362200" y="8267700"/>
            <a:ext cx="26549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2400" spc="-18">
                <a:solidFill>
                  <a:srgbClr val="FF9900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社交意愿</a:t>
            </a:r>
            <a:r>
              <a:rPr lang="zh-CN" altLang="en-US" sz="2400" spc="-18">
                <a:solidFill>
                  <a:srgbClr val="FF9900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不透明</a:t>
            </a:r>
            <a:endParaRPr lang="zh-CN" altLang="en-US" sz="2400" spc="-18">
              <a:solidFill>
                <a:srgbClr val="FF9900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</p:txBody>
      </p:sp>
      <p:pic>
        <p:nvPicPr>
          <p:cNvPr id="27" name="图片 26" descr="/Users/weiming/Library/Containers/com.kingsoft.wpsoffice.mac/Data/tmp/picturecompress_20250702142552/output_40.pngoutput_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60" y="3803650"/>
            <a:ext cx="609600" cy="609600"/>
          </a:xfrm>
          <a:prstGeom prst="rect">
            <a:avLst/>
          </a:prstGeom>
        </p:spPr>
      </p:pic>
      <p:pic>
        <p:nvPicPr>
          <p:cNvPr id="28" name="图片 27" descr="/Users/weiming/Library/Containers/com.kingsoft.wpsoffice.mac/Data/tmp/picturecompress_20250702142552/output_41.pngoutput_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860" y="5820410"/>
            <a:ext cx="609600" cy="609600"/>
          </a:xfrm>
          <a:prstGeom prst="rect">
            <a:avLst/>
          </a:prstGeom>
        </p:spPr>
      </p:pic>
      <p:sp>
        <p:nvSpPr>
          <p:cNvPr id="29" name="TextBox 12"/>
          <p:cNvSpPr txBox="1"/>
          <p:nvPr/>
        </p:nvSpPr>
        <p:spPr>
          <a:xfrm>
            <a:off x="9610725" y="2857500"/>
            <a:ext cx="7621905" cy="553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</a:pPr>
            <a:r>
              <a:rPr lang="zh-CN" altLang="en-US" sz="4000" b="1" spc="-36">
                <a:solidFill>
                  <a:srgbClr val="FAF9F4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商户：获客手段</a:t>
            </a:r>
            <a:r>
              <a:rPr lang="zh-CN" altLang="en-US" sz="4000" b="1" spc="-36">
                <a:solidFill>
                  <a:srgbClr val="FAF9F4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单一，成本</a:t>
            </a:r>
            <a:r>
              <a:rPr lang="zh-CN" altLang="en-US" sz="4000" b="1" spc="-36">
                <a:solidFill>
                  <a:srgbClr val="FAF9F4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高</a:t>
            </a:r>
            <a:endParaRPr lang="zh-CN" altLang="en-US" sz="4000" b="1" spc="-36">
              <a:solidFill>
                <a:srgbClr val="FAF9F4"/>
              </a:solidFill>
              <a:latin typeface="STHeiti Regular" panose="02010600040101010101" charset="-122"/>
              <a:ea typeface="STHeiti Regular" panose="02010600040101010101" charset="-122"/>
              <a:cs typeface="Open Sauce Bold"/>
              <a:sym typeface="Open Sauce Bold"/>
            </a:endParaRPr>
          </a:p>
        </p:txBody>
      </p:sp>
      <p:pic>
        <p:nvPicPr>
          <p:cNvPr id="30" name="图片 29" descr="/Users/weiming/Library/Containers/com.kingsoft.wpsoffice.mac/Data/tmp/picturecompress_20250702142552/output_40.pngoutput_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0" y="3880485"/>
            <a:ext cx="609600" cy="609600"/>
          </a:xfrm>
          <a:prstGeom prst="rect">
            <a:avLst/>
          </a:prstGeom>
        </p:spPr>
      </p:pic>
      <p:pic>
        <p:nvPicPr>
          <p:cNvPr id="32" name="图片 31" descr="/Users/weiming/Library/Containers/com.kingsoft.wpsoffice.mac/Data/tmp/picturecompress_20250702142552/output_41.pngoutput_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5821045"/>
            <a:ext cx="609600" cy="609600"/>
          </a:xfrm>
          <a:prstGeom prst="rect">
            <a:avLst/>
          </a:prstGeom>
        </p:spPr>
      </p:pic>
      <p:sp>
        <p:nvSpPr>
          <p:cNvPr id="33" name="TextBox 14"/>
          <p:cNvSpPr txBox="1"/>
          <p:nvPr/>
        </p:nvSpPr>
        <p:spPr>
          <a:xfrm>
            <a:off x="10287000" y="3924300"/>
            <a:ext cx="7564120" cy="50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algn="l">
              <a:lnSpc>
                <a:spcPts val="3925"/>
              </a:lnSpc>
              <a:buClrTx/>
              <a:buSzTx/>
              <a:buFontTx/>
            </a:pPr>
            <a:r>
              <a:rPr lang="zh-CN" altLang="en-US" sz="3200" b="1" spc="-28">
                <a:solidFill>
                  <a:schemeClr val="bg1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+mn-ea"/>
              </a:rPr>
              <a:t>线下商户竞争，从商品竞争转向场景竞争</a:t>
            </a:r>
            <a:endParaRPr lang="zh-CN" altLang="en-US" sz="3200" b="1" spc="-28">
              <a:solidFill>
                <a:schemeClr val="bg1"/>
              </a:solidFill>
              <a:latin typeface="STHeiti Regular" panose="02010600040101010101" charset="-122"/>
              <a:ea typeface="STHeiti Regular" panose="02010600040101010101" charset="-122"/>
              <a:cs typeface="Open Sauce Bold"/>
              <a:sym typeface="+mn-ea"/>
            </a:endParaRPr>
          </a:p>
        </p:txBody>
      </p:sp>
      <p:sp>
        <p:nvSpPr>
          <p:cNvPr id="34" name="TextBox 13"/>
          <p:cNvSpPr txBox="1"/>
          <p:nvPr/>
        </p:nvSpPr>
        <p:spPr>
          <a:xfrm>
            <a:off x="10287000" y="4502785"/>
            <a:ext cx="7567295" cy="861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2800" dirty="0">
                <a:solidFill>
                  <a:schemeClr val="bg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酒馆、咖啡馆、运动空间等越来越需要靠社群、活动与氛围获客，而不是只靠价格和团购</a:t>
            </a:r>
            <a:endParaRPr lang="zh-CN" altLang="en-US" sz="2800" dirty="0">
              <a:solidFill>
                <a:schemeClr val="bg1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</p:txBody>
      </p:sp>
      <p:sp>
        <p:nvSpPr>
          <p:cNvPr id="35" name="TextBox 14"/>
          <p:cNvSpPr txBox="1"/>
          <p:nvPr/>
        </p:nvSpPr>
        <p:spPr>
          <a:xfrm>
            <a:off x="10286365" y="5860415"/>
            <a:ext cx="6677025" cy="50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algn="l">
              <a:lnSpc>
                <a:spcPts val="3925"/>
              </a:lnSpc>
              <a:buClrTx/>
              <a:buSzTx/>
              <a:buFontTx/>
            </a:pPr>
            <a:r>
              <a:rPr lang="zh-CN" altLang="en-US" sz="3200" b="1" spc="-28">
                <a:solidFill>
                  <a:schemeClr val="bg1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+mn-ea"/>
              </a:rPr>
              <a:t>传统平台无法有效展现实时状态</a:t>
            </a:r>
            <a:endParaRPr lang="zh-CN" altLang="en-US" sz="3200" b="1" spc="-28">
              <a:solidFill>
                <a:schemeClr val="bg1"/>
              </a:solidFill>
              <a:latin typeface="STHeiti Regular" panose="02010600040101010101" charset="-122"/>
              <a:ea typeface="STHeiti Regular" panose="02010600040101010101" charset="-122"/>
              <a:cs typeface="Open Sauce Bold"/>
              <a:sym typeface="+mn-ea"/>
            </a:endParaRPr>
          </a:p>
        </p:txBody>
      </p:sp>
      <p:sp>
        <p:nvSpPr>
          <p:cNvPr id="36" name="TextBox 13"/>
          <p:cNvSpPr txBox="1"/>
          <p:nvPr/>
        </p:nvSpPr>
        <p:spPr>
          <a:xfrm>
            <a:off x="10286365" y="6438900"/>
            <a:ext cx="7333615" cy="861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2800" dirty="0">
                <a:solidFill>
                  <a:schemeClr val="bg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点评类平台适合静态信息分发，不适合实时活动与现场氛围传播</a:t>
            </a:r>
            <a:endParaRPr lang="zh-CN" altLang="en-US" sz="2800" dirty="0">
              <a:solidFill>
                <a:schemeClr val="bg1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4330045" y="7962900"/>
            <a:ext cx="2655570" cy="524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sz="2400" spc="-18">
                <a:solidFill>
                  <a:srgbClr val="FF9900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气氛卖点无法</a:t>
            </a:r>
            <a:r>
              <a:rPr lang="zh-CN" altLang="en-US" sz="2400" spc="-18">
                <a:solidFill>
                  <a:srgbClr val="FF9900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传达</a:t>
            </a:r>
            <a:endParaRPr lang="zh-CN" altLang="en-US" sz="2400" spc="-18">
              <a:solidFill>
                <a:srgbClr val="FF9900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</p:txBody>
      </p:sp>
      <p:pic>
        <p:nvPicPr>
          <p:cNvPr id="38" name="图片 37" descr="/Users/weiming/Library/Containers/com.kingsoft.wpsoffice.mac/Data/tmp/picturecompress_20250702142552/output_3.pngoutput_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1725" y="7760970"/>
            <a:ext cx="849630" cy="849630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10989310" y="7962900"/>
            <a:ext cx="3340735" cy="524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spc="-18">
                <a:solidFill>
                  <a:srgbClr val="FF9900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Open Sauce Bold"/>
              </a:rPr>
              <a:t>线上流量成本太高</a:t>
            </a:r>
            <a:endParaRPr lang="zh-CN" altLang="en-US" sz="2400" spc="-18">
              <a:solidFill>
                <a:srgbClr val="FF9900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12"/>
          <p:cNvSpPr txBox="1"/>
          <p:nvPr/>
        </p:nvSpPr>
        <p:spPr>
          <a:xfrm>
            <a:off x="990600" y="612140"/>
            <a:ext cx="9768840" cy="1140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8895"/>
              </a:lnSpc>
              <a:spcBef>
                <a:spcPct val="0"/>
              </a:spcBef>
            </a:pPr>
            <a:r>
              <a:rPr lang="zh-CN" altLang="en-US" sz="8000" b="1" spc="-266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Aileron Bold"/>
                <a:sym typeface="Aileron Bold"/>
              </a:rPr>
              <a:t>解决方案</a:t>
            </a:r>
            <a:endParaRPr lang="zh-CN" altLang="en-US" sz="8000" b="1" spc="-266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cs typeface="Aileron Bold"/>
              <a:sym typeface="Aileron Bold"/>
            </a:endParaRPr>
          </a:p>
        </p:txBody>
      </p:sp>
      <p:sp>
        <p:nvSpPr>
          <p:cNvPr id="2" name="TextBox 13"/>
          <p:cNvSpPr txBox="1"/>
          <p:nvPr/>
        </p:nvSpPr>
        <p:spPr>
          <a:xfrm>
            <a:off x="1066800" y="2919730"/>
            <a:ext cx="7607935" cy="2585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algn="l">
              <a:lnSpc>
                <a:spcPct val="100000"/>
              </a:lnSpc>
              <a:buClrTx/>
              <a:buSzTx/>
              <a:buFontTx/>
            </a:pPr>
            <a:r>
              <a:rPr lang="zh-CN" sz="28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+mn-ea"/>
              </a:rPr>
              <a:t>用户可在地图上看到附近进行中/即将开始的活动，同时基于AI</a:t>
            </a:r>
            <a:r>
              <a:rPr lang="en-US" altLang="zh-CN" sz="28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+mn-ea"/>
              </a:rPr>
              <a:t> </a:t>
            </a:r>
            <a:r>
              <a:rPr lang="zh-CN" sz="28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+mn-ea"/>
              </a:rPr>
              <a:t>Agent个性化推荐能力，平台可结合用户兴趣、时间、位置、参与习惯、周边活动和人群</a:t>
            </a:r>
            <a:r>
              <a:rPr lang="zh-CN" sz="28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+mn-ea"/>
              </a:rPr>
              <a:t>画像，自动创建活动</a:t>
            </a:r>
            <a:r>
              <a:rPr lang="zh-CN" sz="28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+mn-ea"/>
              </a:rPr>
              <a:t>与快闪群</a:t>
            </a:r>
            <a:r>
              <a:rPr lang="zh-CN" sz="28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+mn-ea"/>
              </a:rPr>
              <a:t>，</a:t>
            </a:r>
            <a:r>
              <a:rPr lang="zh-CN" sz="28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+mn-ea"/>
              </a:rPr>
              <a:t>有效降低临时找人、找搭子、找场景的时间成本和心理成本，让即时线下社交从碰运气变得便捷可筛选。</a:t>
            </a:r>
            <a:endParaRPr lang="zh-CN" sz="2800" spc="-22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Light"/>
              <a:sym typeface="Open Sauce Light"/>
            </a:endParaRPr>
          </a:p>
        </p:txBody>
      </p:sp>
      <p:sp>
        <p:nvSpPr>
          <p:cNvPr id="4" name="TextBox 14"/>
          <p:cNvSpPr txBox="1"/>
          <p:nvPr/>
        </p:nvSpPr>
        <p:spPr>
          <a:xfrm>
            <a:off x="1066800" y="2341245"/>
            <a:ext cx="4985385" cy="50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3925"/>
              </a:lnSpc>
              <a:spcBef>
                <a:spcPct val="0"/>
              </a:spcBef>
            </a:pPr>
            <a:r>
              <a:rPr lang="en-US" altLang="zh-CN" sz="32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C</a:t>
            </a:r>
            <a:r>
              <a:rPr lang="zh-CN" altLang="en-US" sz="32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端：</a:t>
            </a:r>
            <a:endParaRPr lang="zh-CN" altLang="en-US" sz="3200" b="1" spc="-28">
              <a:solidFill>
                <a:srgbClr val="1F191A"/>
              </a:solidFill>
              <a:latin typeface="STHeiti Regular" panose="02010600040101010101" charset="-122"/>
              <a:ea typeface="STHeiti Regular" panose="02010600040101010101" charset="-122"/>
              <a:cs typeface="Open Sauce Bold"/>
              <a:sym typeface="Open Sauce Bold"/>
            </a:endParaRPr>
          </a:p>
        </p:txBody>
      </p:sp>
      <p:sp>
        <p:nvSpPr>
          <p:cNvPr id="6" name="TextBox 14"/>
          <p:cNvSpPr txBox="1"/>
          <p:nvPr/>
        </p:nvSpPr>
        <p:spPr>
          <a:xfrm>
            <a:off x="1066800" y="5859780"/>
            <a:ext cx="7192645" cy="50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3925"/>
              </a:lnSpc>
              <a:spcBef>
                <a:spcPct val="0"/>
              </a:spcBef>
            </a:pPr>
            <a:r>
              <a:rPr lang="en-US" altLang="zh-CN" sz="32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B</a:t>
            </a:r>
            <a:r>
              <a:rPr lang="zh-CN" altLang="en-US" sz="32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端：</a:t>
            </a:r>
            <a:endParaRPr lang="zh-CN" altLang="en-US" sz="3200" b="1" spc="-28">
              <a:solidFill>
                <a:srgbClr val="1F191A"/>
              </a:solidFill>
              <a:latin typeface="STHeiti Regular" panose="02010600040101010101" charset="-122"/>
              <a:ea typeface="STHeiti Regular" panose="02010600040101010101" charset="-122"/>
              <a:cs typeface="Open Sauce Bold"/>
              <a:sym typeface="Open Sauce Bold"/>
            </a:endParaRPr>
          </a:p>
        </p:txBody>
      </p:sp>
      <p:sp>
        <p:nvSpPr>
          <p:cNvPr id="5" name="TextBox 13"/>
          <p:cNvSpPr txBox="1"/>
          <p:nvPr/>
        </p:nvSpPr>
        <p:spPr>
          <a:xfrm>
            <a:off x="1066800" y="6438265"/>
            <a:ext cx="7620000" cy="2153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algn="l">
              <a:lnSpc>
                <a:spcPct val="100000"/>
              </a:lnSpc>
              <a:buClrTx/>
              <a:buSzTx/>
              <a:buFontTx/>
            </a:pPr>
            <a:r>
              <a:rPr lang="zh-CN" sz="28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+mn-ea"/>
              </a:rPr>
              <a:t>商户在线自助认证</a:t>
            </a:r>
            <a:r>
              <a:rPr lang="zh-CN" sz="28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+mn-ea"/>
              </a:rPr>
              <a:t>商户，实时发布线下动态</a:t>
            </a:r>
            <a:r>
              <a:rPr lang="en-US" altLang="zh-CN" sz="28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+mn-ea"/>
              </a:rPr>
              <a:t>/</a:t>
            </a:r>
            <a:r>
              <a:rPr lang="zh-CN" altLang="en-US" sz="28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+mn-ea"/>
              </a:rPr>
              <a:t>邀约</a:t>
            </a:r>
            <a:r>
              <a:rPr lang="zh-CN" sz="28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+mn-ea"/>
              </a:rPr>
              <a:t>，将商户实时的现场、气氛、活动做为卖点传达出来，</a:t>
            </a:r>
            <a:r>
              <a:rPr lang="en-US" altLang="zh-CN" sz="28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+mn-ea"/>
              </a:rPr>
              <a:t>AI Agent</a:t>
            </a:r>
            <a:r>
              <a:rPr lang="zh-CN" altLang="en-US" sz="28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+mn-ea"/>
              </a:rPr>
              <a:t>也会精准传递给附近潜在到店用户。</a:t>
            </a:r>
            <a:r>
              <a:rPr lang="zh-CN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不增加商户额外经营成本的同时提升了服务维度和到店</a:t>
            </a:r>
            <a:r>
              <a:rPr lang="zh-CN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数。</a:t>
            </a:r>
            <a:endParaRPr lang="zh-CN" sz="2800" spc="-18"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</p:txBody>
      </p:sp>
      <p:grpSp>
        <p:nvGrpSpPr>
          <p:cNvPr id="40" name="Group 3"/>
          <p:cNvGrpSpPr/>
          <p:nvPr/>
        </p:nvGrpSpPr>
        <p:grpSpPr>
          <a:xfrm rot="0">
            <a:off x="12151360" y="6835775"/>
            <a:ext cx="2004695" cy="2004695"/>
            <a:chOff x="0" y="0"/>
            <a:chExt cx="812800" cy="812800"/>
          </a:xfrm>
        </p:grpSpPr>
        <p:sp>
          <p:nvSpPr>
            <p:cNvPr id="41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CA9B"/>
            </a:solidFill>
          </p:spPr>
        </p:sp>
        <p:sp>
          <p:nvSpPr>
            <p:cNvPr id="42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125835" y="2846705"/>
            <a:ext cx="5838825" cy="1510030"/>
          </a:xfrm>
          <a:prstGeom prst="rect">
            <a:avLst/>
          </a:prstGeom>
          <a:solidFill>
            <a:srgbClr val="EE9F48">
              <a:alpha val="17000"/>
            </a:srgbClr>
          </a:solidFill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3925"/>
              </a:lnSpc>
              <a:spcBef>
                <a:spcPct val="0"/>
              </a:spcBef>
            </a:pPr>
            <a:r>
              <a:rPr lang="en-US" sz="28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平台扮演实时撮合的角色</a:t>
            </a:r>
            <a:r>
              <a:rPr lang="zh-CN" altLang="en-US" sz="28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，匹配“</a:t>
            </a:r>
            <a:r>
              <a:rPr lang="zh-CN" altLang="en-US" sz="28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用户线下即时活跃状态”，通过个性化推荐撮合人</a:t>
            </a:r>
            <a:r>
              <a:rPr lang="zh-CN" altLang="en-US" sz="28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群与场所</a:t>
            </a:r>
            <a:endParaRPr lang="zh-CN" altLang="en-US" sz="2800" b="1" spc="-28">
              <a:solidFill>
                <a:srgbClr val="1F191A"/>
              </a:solidFill>
              <a:latin typeface="STHeiti Regular" panose="02010600040101010101" charset="-122"/>
              <a:ea typeface="STHeiti Regular" panose="02010600040101010101" charset="-122"/>
              <a:cs typeface="Open Sauce Bold"/>
              <a:sym typeface="Open Sauce Bold"/>
            </a:endParaRPr>
          </a:p>
        </p:txBody>
      </p:sp>
      <p:sp>
        <p:nvSpPr>
          <p:cNvPr id="31" name="右大括号 30"/>
          <p:cNvSpPr/>
          <p:nvPr/>
        </p:nvSpPr>
        <p:spPr>
          <a:xfrm>
            <a:off x="9982200" y="2370455"/>
            <a:ext cx="630555" cy="6757035"/>
          </a:xfrm>
          <a:prstGeom prst="rightBrace">
            <a:avLst>
              <a:gd name="adj1" fmla="val 46166"/>
              <a:gd name="adj2" fmla="val 23499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Freeform 6"/>
          <p:cNvSpPr/>
          <p:nvPr/>
        </p:nvSpPr>
        <p:spPr>
          <a:xfrm flipH="1">
            <a:off x="13341985" y="7190740"/>
            <a:ext cx="3605530" cy="2621915"/>
          </a:xfrm>
          <a:custGeom>
            <a:avLst/>
            <a:gdLst/>
            <a:ahLst/>
            <a:cxnLst/>
            <a:rect l="l" t="t" r="r" b="b"/>
            <a:pathLst>
              <a:path w="7011414" h="5097882">
                <a:moveTo>
                  <a:pt x="7011414" y="0"/>
                </a:moveTo>
                <a:lnTo>
                  <a:pt x="0" y="0"/>
                </a:lnTo>
                <a:lnTo>
                  <a:pt x="0" y="5097882"/>
                </a:lnTo>
                <a:lnTo>
                  <a:pt x="7011414" y="5097882"/>
                </a:lnTo>
                <a:lnTo>
                  <a:pt x="7011414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7" name="TextBox 14"/>
          <p:cNvSpPr txBox="1"/>
          <p:nvPr/>
        </p:nvSpPr>
        <p:spPr>
          <a:xfrm>
            <a:off x="11048864" y="2139683"/>
            <a:ext cx="5214658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l">
              <a:lnSpc>
                <a:spcPts val="3925"/>
              </a:lnSpc>
              <a:spcBef>
                <a:spcPct val="0"/>
              </a:spcBef>
            </a:pPr>
            <a:r>
              <a:rPr lang="zh-CN" altLang="en-US" sz="32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解决</a:t>
            </a:r>
            <a:r>
              <a:rPr lang="zh-CN" altLang="en-US" sz="32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思路：</a:t>
            </a:r>
            <a:endParaRPr lang="zh-CN" altLang="en-US" sz="3200" b="1" spc="-28">
              <a:solidFill>
                <a:srgbClr val="1F191A"/>
              </a:solidFill>
              <a:latin typeface="STHeiti Regular" panose="02010600040101010101" charset="-122"/>
              <a:ea typeface="STHeiti Regular" panose="02010600040101010101" charset="-122"/>
              <a:cs typeface="Open Sauce Bold"/>
              <a:sym typeface="Open Sauce Bold"/>
            </a:endParaRPr>
          </a:p>
        </p:txBody>
      </p:sp>
      <p:sp>
        <p:nvSpPr>
          <p:cNvPr id="10" name="TextBox 19"/>
          <p:cNvSpPr txBox="1"/>
          <p:nvPr/>
        </p:nvSpPr>
        <p:spPr>
          <a:xfrm>
            <a:off x="11125200" y="4533900"/>
            <a:ext cx="5838825" cy="2215515"/>
          </a:xfrm>
          <a:prstGeom prst="rect">
            <a:avLst/>
          </a:prstGeom>
          <a:solidFill>
            <a:srgbClr val="67CA9B">
              <a:alpha val="17000"/>
            </a:srgbClr>
          </a:solidFill>
        </p:spPr>
        <p:txBody>
          <a:bodyPr lIns="0" tIns="0" rIns="0" bIns="0" rtlCol="0" anchor="ctr" anchorCtr="0">
            <a:noAutofit/>
          </a:bodyPr>
          <a:p>
            <a:pPr marL="0" lvl="0" indent="0" algn="l">
              <a:lnSpc>
                <a:spcPts val="3085"/>
              </a:lnSpc>
              <a:spcBef>
                <a:spcPct val="0"/>
              </a:spcBef>
            </a:pPr>
            <a:r>
              <a:rPr lang="en-US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当人们临时有空闲或想法，</a:t>
            </a:r>
            <a:r>
              <a:rPr lang="zh-CN" altLang="en-US" sz="2400" spc="-22">
                <a:solidFill>
                  <a:srgbClr val="1F191A"/>
                </a:solidFill>
                <a:highlight>
                  <a:srgbClr val="FFFF00"/>
                </a:highlight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通过平台</a:t>
            </a:r>
            <a:r>
              <a:rPr lang="en-US" sz="2400" spc="-22">
                <a:solidFill>
                  <a:srgbClr val="1F191A"/>
                </a:solidFill>
                <a:highlight>
                  <a:srgbClr val="FFFF00"/>
                </a:highlight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能</a:t>
            </a:r>
            <a:r>
              <a:rPr lang="zh-CN" altLang="en-US" sz="2400" spc="-22">
                <a:solidFill>
                  <a:srgbClr val="1F191A"/>
                </a:solidFill>
                <a:highlight>
                  <a:srgbClr val="FFFF00"/>
                </a:highlight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实时找到</a:t>
            </a:r>
            <a:r>
              <a:rPr lang="en-US" sz="2400" spc="-22">
                <a:solidFill>
                  <a:srgbClr val="1F191A"/>
                </a:solidFill>
                <a:highlight>
                  <a:srgbClr val="FFFF00"/>
                </a:highlight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附近的</a:t>
            </a:r>
            <a:r>
              <a:rPr lang="zh-CN" altLang="en-US" sz="2400" spc="-22">
                <a:solidFill>
                  <a:srgbClr val="1F191A"/>
                </a:solidFill>
                <a:highlight>
                  <a:srgbClr val="FFFF00"/>
                </a:highlight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搭子</a:t>
            </a:r>
            <a:r>
              <a:rPr lang="en-US" sz="2400" spc="-22">
                <a:solidFill>
                  <a:srgbClr val="1F191A"/>
                </a:solidFill>
                <a:highlight>
                  <a:srgbClr val="FFFF00"/>
                </a:highlight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与场景</a:t>
            </a:r>
            <a:r>
              <a:rPr lang="en-US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，促成低门槛的小规模线下</a:t>
            </a:r>
            <a:r>
              <a:rPr lang="zh-CN" altLang="en-US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活动</a:t>
            </a:r>
            <a:r>
              <a:rPr lang="en-US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。让都市年轻人</a:t>
            </a:r>
            <a:r>
              <a:rPr lang="zh-CN" altLang="en-US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碎片化</a:t>
            </a:r>
            <a:r>
              <a:rPr lang="en-US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闲暇时光，也可以“临时起意，说走就走”</a:t>
            </a:r>
            <a:endParaRPr lang="en-US" altLang="en-US" sz="2400" spc="-22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Light"/>
              <a:sym typeface="Open Sauce Ligh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43210" y="4533900"/>
            <a:ext cx="681990" cy="503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>
                <a:latin typeface="STHeiti Light" panose="02010600040101010101" charset="-122"/>
                <a:ea typeface="STHeiti Light" panose="02010600040101010101" charset="-122"/>
              </a:rPr>
              <a:t>“</a:t>
            </a:r>
            <a:endParaRPr lang="zh-CN" altLang="en-US" sz="4000"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6992600" y="6515100"/>
            <a:ext cx="681990" cy="503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>
                <a:latin typeface="STHeiti Light" panose="02010600040101010101" charset="-122"/>
                <a:ea typeface="STHeiti Light" panose="02010600040101010101" charset="-122"/>
              </a:rPr>
              <a:t>”</a:t>
            </a:r>
            <a:endParaRPr lang="zh-CN" altLang="en-US" sz="4000">
              <a:latin typeface="STHeiti Light" panose="02010600040101010101" charset="-122"/>
              <a:ea typeface="STHeiti Light" panose="020106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12"/>
          <p:cNvSpPr txBox="1"/>
          <p:nvPr/>
        </p:nvSpPr>
        <p:spPr>
          <a:xfrm>
            <a:off x="990600" y="612140"/>
            <a:ext cx="16177260" cy="1140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8895"/>
              </a:lnSpc>
              <a:spcBef>
                <a:spcPct val="0"/>
              </a:spcBef>
            </a:pPr>
            <a:r>
              <a:rPr lang="zh-CN" altLang="en-US" sz="8000" b="1" spc="-266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Aileron Bold"/>
                <a:sym typeface="Aileron Bold"/>
              </a:rPr>
              <a:t>产品介绍</a:t>
            </a:r>
            <a:endParaRPr lang="zh-CN" altLang="en-US" sz="8000" b="1" spc="-266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cs typeface="Aileron Bold"/>
              <a:sym typeface="Aileron Bold"/>
            </a:endParaRPr>
          </a:p>
        </p:txBody>
      </p:sp>
      <p:sp>
        <p:nvSpPr>
          <p:cNvPr id="14" name="Freeform 14"/>
          <p:cNvSpPr/>
          <p:nvPr/>
        </p:nvSpPr>
        <p:spPr>
          <a:xfrm rot="-846066">
            <a:off x="15638325" y="57420"/>
            <a:ext cx="1761731" cy="2860728"/>
          </a:xfrm>
          <a:custGeom>
            <a:avLst/>
            <a:gdLst/>
            <a:ahLst/>
            <a:cxnLst/>
            <a:rect l="l" t="t" r="r" b="b"/>
            <a:pathLst>
              <a:path w="1761731" h="2860728">
                <a:moveTo>
                  <a:pt x="0" y="0"/>
                </a:moveTo>
                <a:lnTo>
                  <a:pt x="1761731" y="0"/>
                </a:lnTo>
                <a:lnTo>
                  <a:pt x="1761731" y="2860728"/>
                </a:lnTo>
                <a:lnTo>
                  <a:pt x="0" y="286072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982345" y="4100195"/>
            <a:ext cx="3034665" cy="711200"/>
            <a:chOff x="0" y="0"/>
            <a:chExt cx="1733465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33465" cy="406400"/>
            </a:xfrm>
            <a:custGeom>
              <a:avLst/>
              <a:gdLst/>
              <a:ahLst/>
              <a:cxnLst/>
              <a:rect l="l" t="t" r="r" b="b"/>
              <a:pathLst>
                <a:path w="1733465" h="406400">
                  <a:moveTo>
                    <a:pt x="1530265" y="0"/>
                  </a:moveTo>
                  <a:cubicBezTo>
                    <a:pt x="1642489" y="0"/>
                    <a:pt x="1733465" y="90976"/>
                    <a:pt x="1733465" y="203200"/>
                  </a:cubicBezTo>
                  <a:cubicBezTo>
                    <a:pt x="1733465" y="315424"/>
                    <a:pt x="1642489" y="406400"/>
                    <a:pt x="153026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733465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marL="0" lvl="0" indent="0" algn="ctr">
                <a:lnSpc>
                  <a:spcPts val="4230"/>
                </a:lnSpc>
                <a:spcBef>
                  <a:spcPct val="0"/>
                </a:spcBef>
              </a:pPr>
              <a:r>
                <a:rPr lang="zh-CN" altLang="en-US" sz="2400" u="none" strike="noStrike" spc="-30">
                  <a:solidFill>
                    <a:srgbClr val="1F191A"/>
                  </a:solidFill>
                  <a:latin typeface="STHeiti Light" panose="02010600040101010101" charset="-122"/>
                  <a:ea typeface="STHeiti Light" panose="02010600040101010101" charset="-122"/>
                  <a:cs typeface="Open Sauce" panose="00000500000000000000"/>
                  <a:sym typeface="Open Sauce" panose="00000500000000000000"/>
                </a:rPr>
                <a:t>地图（</a:t>
              </a:r>
              <a:r>
                <a:rPr lang="zh-CN" altLang="en-US" sz="2400" u="none" strike="noStrike" spc="-30">
                  <a:solidFill>
                    <a:srgbClr val="1F191A"/>
                  </a:solidFill>
                  <a:latin typeface="STHeiti Light" panose="02010600040101010101" charset="-122"/>
                  <a:ea typeface="STHeiti Light" panose="02010600040101010101" charset="-122"/>
                  <a:cs typeface="Open Sauce" panose="00000500000000000000"/>
                  <a:sym typeface="Open Sauce" panose="00000500000000000000"/>
                </a:rPr>
                <a:t>首页）</a:t>
              </a:r>
              <a:endParaRPr lang="zh-CN" altLang="en-US" sz="2400" u="none" strike="noStrike" spc="-30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" panose="00000500000000000000"/>
                <a:sym typeface="Open Sauce" panose="0000050000000000000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956945" y="5794375"/>
            <a:ext cx="3015615" cy="711200"/>
            <a:chOff x="0" y="0"/>
            <a:chExt cx="1942410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42410" cy="406400"/>
            </a:xfrm>
            <a:custGeom>
              <a:avLst/>
              <a:gdLst/>
              <a:ahLst/>
              <a:cxnLst/>
              <a:rect l="l" t="t" r="r" b="b"/>
              <a:pathLst>
                <a:path w="1942410" h="406400">
                  <a:moveTo>
                    <a:pt x="1739210" y="0"/>
                  </a:moveTo>
                  <a:cubicBezTo>
                    <a:pt x="1851434" y="0"/>
                    <a:pt x="1942410" y="90976"/>
                    <a:pt x="1942410" y="203200"/>
                  </a:cubicBezTo>
                  <a:cubicBezTo>
                    <a:pt x="1942410" y="315424"/>
                    <a:pt x="1851434" y="406400"/>
                    <a:pt x="173921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94241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marL="0" lvl="0" indent="0" algn="ctr">
                <a:lnSpc>
                  <a:spcPts val="4230"/>
                </a:lnSpc>
                <a:spcBef>
                  <a:spcPct val="0"/>
                </a:spcBef>
              </a:pPr>
              <a:r>
                <a:rPr lang="en-US" sz="2400" spc="-30">
                  <a:solidFill>
                    <a:srgbClr val="1F191A"/>
                  </a:solidFill>
                  <a:latin typeface="STHeiti Light" panose="02010600040101010101" charset="-122"/>
                  <a:ea typeface="STHeiti Light" panose="02010600040101010101" charset="-122"/>
                  <a:cs typeface="STHeiti Light" panose="02010600040101010101" charset="-122"/>
                  <a:sym typeface="Open Sauce" panose="00000500000000000000"/>
                </a:rPr>
                <a:t>NOW</a:t>
              </a:r>
              <a:r>
                <a:rPr lang="zh-CN" altLang="en-US" sz="2400" spc="-30">
                  <a:solidFill>
                    <a:srgbClr val="1F191A"/>
                  </a:solidFill>
                  <a:latin typeface="STHeiti Light" panose="02010600040101010101" charset="-122"/>
                  <a:ea typeface="STHeiti Light" panose="02010600040101010101" charset="-122"/>
                  <a:cs typeface="STHeiti Light" panose="02010600040101010101" charset="-122"/>
                  <a:sym typeface="Open Sauce" panose="00000500000000000000"/>
                </a:rPr>
                <a:t>气泡</a:t>
              </a:r>
              <a:endParaRPr lang="zh-CN" altLang="en-US" sz="2400" spc="-30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Open Sauce" panose="00000500000000000000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956945" y="7488555"/>
            <a:ext cx="3015615" cy="711200"/>
            <a:chOff x="0" y="0"/>
            <a:chExt cx="2223180" cy="406400"/>
          </a:xfrm>
        </p:grpSpPr>
        <p:sp>
          <p:nvSpPr>
            <p:cNvPr id="2" name="Freeform 14"/>
            <p:cNvSpPr/>
            <p:nvPr/>
          </p:nvSpPr>
          <p:spPr>
            <a:xfrm>
              <a:off x="0" y="0"/>
              <a:ext cx="2223180" cy="406400"/>
            </a:xfrm>
            <a:custGeom>
              <a:avLst/>
              <a:gdLst/>
              <a:ahLst/>
              <a:cxnLst/>
              <a:rect l="l" t="t" r="r" b="b"/>
              <a:pathLst>
                <a:path w="2223180" h="406400">
                  <a:moveTo>
                    <a:pt x="2019980" y="0"/>
                  </a:moveTo>
                  <a:cubicBezTo>
                    <a:pt x="2132204" y="0"/>
                    <a:pt x="2223180" y="90976"/>
                    <a:pt x="2223180" y="203200"/>
                  </a:cubicBezTo>
                  <a:cubicBezTo>
                    <a:pt x="2223180" y="315424"/>
                    <a:pt x="2132204" y="406400"/>
                    <a:pt x="201998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22318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marL="0" lvl="0" indent="0" algn="ctr">
                <a:lnSpc>
                  <a:spcPts val="4230"/>
                </a:lnSpc>
                <a:spcBef>
                  <a:spcPct val="0"/>
                </a:spcBef>
              </a:pPr>
              <a:r>
                <a:rPr lang="zh-CN" altLang="en-US" sz="2400" spc="-30">
                  <a:solidFill>
                    <a:srgbClr val="1F191A"/>
                  </a:solidFill>
                  <a:latin typeface="STHeiti Light" panose="02010600040101010101" charset="-122"/>
                  <a:ea typeface="STHeiti Light" panose="02010600040101010101" charset="-122"/>
                  <a:cs typeface="Open Sauce" panose="00000500000000000000"/>
                  <a:sym typeface="Open Sauce" panose="00000500000000000000"/>
                </a:rPr>
                <a:t>认证商户</a:t>
              </a:r>
              <a:endParaRPr lang="zh-CN" altLang="en-US" sz="2400" spc="-30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" panose="00000500000000000000"/>
                <a:sym typeface="Open Sauce" panose="00000500000000000000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600200" y="3341370"/>
            <a:ext cx="1798955" cy="109601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0" lvl="0" indent="0"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3200" b="1" spc="-387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Aileron" panose="00000500000000000000"/>
              </a:rPr>
              <a:t>核心场景</a:t>
            </a:r>
            <a:endParaRPr lang="zh-CN" altLang="en-US" sz="3200" b="1" spc="-387">
              <a:solidFill>
                <a:srgbClr val="1F191A"/>
              </a:solidFill>
              <a:latin typeface="STHeiti Regular" panose="02010600040101010101" charset="-122"/>
              <a:ea typeface="STHeiti Regular" panose="02010600040101010101" charset="-122"/>
              <a:cs typeface="STHeiti Regular" panose="02010600040101010101" charset="-122"/>
              <a:sym typeface="Aileron" panose="00000500000000000000"/>
            </a:endParaRPr>
          </a:p>
        </p:txBody>
      </p:sp>
      <p:sp>
        <p:nvSpPr>
          <p:cNvPr id="52" name="TextBox 14"/>
          <p:cNvSpPr txBox="1"/>
          <p:nvPr/>
        </p:nvSpPr>
        <p:spPr>
          <a:xfrm>
            <a:off x="6285865" y="8666480"/>
            <a:ext cx="1932940" cy="50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ctr">
              <a:lnSpc>
                <a:spcPts val="3925"/>
              </a:lnSpc>
              <a:spcBef>
                <a:spcPct val="0"/>
              </a:spcBef>
            </a:pP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首页（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地图）</a:t>
            </a:r>
            <a:endParaRPr lang="zh-CN" altLang="en-US" sz="24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Bold"/>
              <a:sym typeface="Open Sauce Bold"/>
            </a:endParaRPr>
          </a:p>
        </p:txBody>
      </p:sp>
      <p:sp>
        <p:nvSpPr>
          <p:cNvPr id="53" name="TextBox 14"/>
          <p:cNvSpPr txBox="1"/>
          <p:nvPr/>
        </p:nvSpPr>
        <p:spPr>
          <a:xfrm>
            <a:off x="11506200" y="8666480"/>
            <a:ext cx="1932940" cy="50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ctr">
              <a:lnSpc>
                <a:spcPts val="3925"/>
              </a:lnSpc>
              <a:spcBef>
                <a:spcPct val="0"/>
              </a:spcBef>
            </a:pPr>
            <a:r>
              <a:rPr lang="en-US" altLang="zh-CN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NOW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气泡</a:t>
            </a:r>
            <a:endParaRPr lang="zh-CN" altLang="en-US" sz="24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Bold"/>
              <a:sym typeface="Open Sauce Bold"/>
            </a:endParaRPr>
          </a:p>
        </p:txBody>
      </p:sp>
      <p:sp>
        <p:nvSpPr>
          <p:cNvPr id="54" name="TextBox 14"/>
          <p:cNvSpPr txBox="1"/>
          <p:nvPr/>
        </p:nvSpPr>
        <p:spPr>
          <a:xfrm>
            <a:off x="15592425" y="8666480"/>
            <a:ext cx="1932940" cy="50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ctr">
              <a:lnSpc>
                <a:spcPts val="3925"/>
              </a:lnSpc>
              <a:spcBef>
                <a:spcPct val="0"/>
              </a:spcBef>
            </a:pP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认证商户</a:t>
            </a:r>
            <a:endParaRPr lang="zh-CN" altLang="en-US" sz="24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Bold"/>
              <a:sym typeface="Open Sauce Bold"/>
            </a:endParaRPr>
          </a:p>
        </p:txBody>
      </p:sp>
      <p:sp>
        <p:nvSpPr>
          <p:cNvPr id="4" name="TextBox 14"/>
          <p:cNvSpPr txBox="1"/>
          <p:nvPr/>
        </p:nvSpPr>
        <p:spPr>
          <a:xfrm>
            <a:off x="956945" y="4914900"/>
            <a:ext cx="3112135" cy="50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ctr">
              <a:lnSpc>
                <a:spcPts val="3925"/>
              </a:lnSpc>
              <a:spcBef>
                <a:spcPct val="0"/>
              </a:spcBef>
            </a:pPr>
            <a:r>
              <a:rPr lang="zh-CN" altLang="en-US" sz="2400" b="1" spc="-28">
                <a:solidFill>
                  <a:srgbClr val="1F191A"/>
                </a:solidFill>
                <a:highlight>
                  <a:srgbClr val="FFFF00"/>
                </a:highlight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此刻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附近的活动、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人</a:t>
            </a:r>
            <a:endParaRPr lang="zh-CN" altLang="en-US" sz="24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Bold"/>
              <a:sym typeface="Open Sauce Bold"/>
            </a:endParaRPr>
          </a:p>
        </p:txBody>
      </p:sp>
      <p:sp>
        <p:nvSpPr>
          <p:cNvPr id="5" name="TextBox 14"/>
          <p:cNvSpPr txBox="1"/>
          <p:nvPr/>
        </p:nvSpPr>
        <p:spPr>
          <a:xfrm>
            <a:off x="914400" y="6631305"/>
            <a:ext cx="3112135" cy="50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ctr">
              <a:lnSpc>
                <a:spcPts val="3925"/>
              </a:lnSpc>
              <a:spcBef>
                <a:spcPct val="0"/>
              </a:spcBef>
            </a:pP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线上互动，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群聊、邀约</a:t>
            </a:r>
            <a:endParaRPr lang="zh-CN" altLang="en-US" sz="24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Bold"/>
              <a:sym typeface="Open Sauce Bold"/>
            </a:endParaRPr>
          </a:p>
        </p:txBody>
      </p:sp>
      <p:sp>
        <p:nvSpPr>
          <p:cNvPr id="6" name="TextBox 14"/>
          <p:cNvSpPr txBox="1"/>
          <p:nvPr/>
        </p:nvSpPr>
        <p:spPr>
          <a:xfrm>
            <a:off x="977900" y="8271510"/>
            <a:ext cx="3112135" cy="1006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ctr">
              <a:lnSpc>
                <a:spcPts val="3925"/>
              </a:lnSpc>
              <a:spcBef>
                <a:spcPct val="0"/>
              </a:spcBef>
            </a:pP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查看商户此刻和历史的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活动</a:t>
            </a:r>
            <a:endParaRPr lang="zh-CN" altLang="en-US" sz="24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Bold"/>
              <a:sym typeface="Open Sauce Bold"/>
            </a:endParaRPr>
          </a:p>
        </p:txBody>
      </p:sp>
      <p:pic>
        <p:nvPicPr>
          <p:cNvPr id="18" name="图片 17" descr="立体透明-压缩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235" y="1562100"/>
            <a:ext cx="2004060" cy="200406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2700" y="3074035"/>
            <a:ext cx="2528570" cy="549275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5695" y="3074035"/>
            <a:ext cx="2510155" cy="5477510"/>
          </a:xfrm>
          <a:prstGeom prst="rect">
            <a:avLst/>
          </a:prstGeom>
        </p:spPr>
      </p:pic>
      <p:pic>
        <p:nvPicPr>
          <p:cNvPr id="3" name="图片 2" descr="97e3f6db770de2812b15c6ce4aae232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4835" y="3086100"/>
            <a:ext cx="2520315" cy="5480685"/>
          </a:xfrm>
          <a:prstGeom prst="rect">
            <a:avLst/>
          </a:prstGeom>
        </p:spPr>
      </p:pic>
      <p:pic>
        <p:nvPicPr>
          <p:cNvPr id="20" name="图片 19" descr="附近的人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6760" y="3086100"/>
            <a:ext cx="2523490" cy="5465445"/>
          </a:xfrm>
          <a:prstGeom prst="rect">
            <a:avLst/>
          </a:prstGeom>
        </p:spPr>
      </p:pic>
      <p:grpSp>
        <p:nvGrpSpPr>
          <p:cNvPr id="29" name="组合 28"/>
          <p:cNvGrpSpPr/>
          <p:nvPr/>
        </p:nvGrpSpPr>
        <p:grpSpPr>
          <a:xfrm>
            <a:off x="9801860" y="3086100"/>
            <a:ext cx="2515870" cy="5461635"/>
            <a:chOff x="1667" y="3450"/>
            <a:chExt cx="5523" cy="11988"/>
          </a:xfrm>
        </p:grpSpPr>
        <p:pic>
          <p:nvPicPr>
            <p:cNvPr id="30" name="图片 29" descr="792bb8e7916643d66bd02df831fd4b2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80" y="3450"/>
              <a:ext cx="5510" cy="11982"/>
            </a:xfrm>
            <a:prstGeom prst="rect">
              <a:avLst/>
            </a:prstGeom>
          </p:spPr>
        </p:pic>
        <p:pic>
          <p:nvPicPr>
            <p:cNvPr id="31" name="图片 30" descr="图片now详情1 (1)"/>
            <p:cNvPicPr>
              <a:picLocks noChangeAspect="1"/>
            </p:cNvPicPr>
            <p:nvPr/>
          </p:nvPicPr>
          <p:blipFill>
            <a:blip r:embed="rId8"/>
            <a:srcRect t="8621" b="27771"/>
            <a:stretch>
              <a:fillRect/>
            </a:stretch>
          </p:blipFill>
          <p:spPr>
            <a:xfrm>
              <a:off x="1667" y="5700"/>
              <a:ext cx="5511" cy="97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12"/>
          <p:cNvSpPr txBox="1"/>
          <p:nvPr/>
        </p:nvSpPr>
        <p:spPr>
          <a:xfrm>
            <a:off x="990600" y="612140"/>
            <a:ext cx="16177260" cy="1140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8895"/>
              </a:lnSpc>
              <a:spcBef>
                <a:spcPct val="0"/>
              </a:spcBef>
            </a:pPr>
            <a:r>
              <a:rPr lang="zh-CN" altLang="en-US" sz="8000" b="1" spc="-266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Aileron Bold"/>
                <a:sym typeface="Aileron Bold"/>
              </a:rPr>
              <a:t>产品介绍</a:t>
            </a:r>
            <a:endParaRPr lang="zh-CN" altLang="en-US" sz="8000" b="1" spc="-266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cs typeface="Aileron Bold"/>
              <a:sym typeface="Aileron Bold"/>
            </a:endParaRPr>
          </a:p>
        </p:txBody>
      </p:sp>
      <p:sp>
        <p:nvSpPr>
          <p:cNvPr id="54" name="TextBox 14"/>
          <p:cNvSpPr txBox="1"/>
          <p:nvPr/>
        </p:nvSpPr>
        <p:spPr>
          <a:xfrm>
            <a:off x="9237980" y="3387090"/>
            <a:ext cx="10177145" cy="50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3925"/>
              </a:lnSpc>
              <a:spcBef>
                <a:spcPct val="0"/>
              </a:spcBef>
            </a:pPr>
            <a:r>
              <a:rPr lang="en-US" altLang="zh-CN" sz="28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Open Sauce Bold"/>
              </a:rPr>
              <a:t>NOW</a:t>
            </a:r>
            <a:r>
              <a:rPr lang="zh-CN" altLang="en-US" sz="28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Open Sauce Bold"/>
              </a:rPr>
              <a:t>气泡（用户发布的</a:t>
            </a:r>
            <a:r>
              <a:rPr lang="zh-CN" altLang="en-US" sz="2800" b="1" spc="-28">
                <a:solidFill>
                  <a:srgbClr val="1F191A"/>
                </a:solidFill>
                <a:highlight>
                  <a:srgbClr val="FFFF00"/>
                </a:highlight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Open Sauce Bold"/>
              </a:rPr>
              <a:t>即时内容</a:t>
            </a:r>
            <a:r>
              <a:rPr lang="zh-CN" altLang="en-US" sz="28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Open Sauce Bold"/>
              </a:rPr>
              <a:t>）</a:t>
            </a:r>
            <a:endParaRPr lang="zh-CN" altLang="en-US" sz="2800" b="1" spc="-28">
              <a:solidFill>
                <a:srgbClr val="1F191A"/>
              </a:solidFill>
              <a:latin typeface="STHeiti Regular" panose="02010600040101010101" charset="-122"/>
              <a:ea typeface="STHeiti Regular" panose="02010600040101010101" charset="-122"/>
              <a:cs typeface="STHeiti Regular" panose="02010600040101010101" charset="-122"/>
              <a:sym typeface="Open Sauce Bold"/>
            </a:endParaRPr>
          </a:p>
        </p:txBody>
      </p:sp>
      <p:grpSp>
        <p:nvGrpSpPr>
          <p:cNvPr id="58" name="Group 7"/>
          <p:cNvGrpSpPr/>
          <p:nvPr/>
        </p:nvGrpSpPr>
        <p:grpSpPr>
          <a:xfrm rot="0">
            <a:off x="8382000" y="2290445"/>
            <a:ext cx="3034665" cy="711200"/>
            <a:chOff x="0" y="0"/>
            <a:chExt cx="1733465" cy="406400"/>
          </a:xfrm>
        </p:grpSpPr>
        <p:sp>
          <p:nvSpPr>
            <p:cNvPr id="59" name="Freeform 8"/>
            <p:cNvSpPr/>
            <p:nvPr/>
          </p:nvSpPr>
          <p:spPr>
            <a:xfrm>
              <a:off x="0" y="0"/>
              <a:ext cx="1733465" cy="406400"/>
            </a:xfrm>
            <a:custGeom>
              <a:avLst/>
              <a:gdLst/>
              <a:ahLst/>
              <a:cxnLst/>
              <a:rect l="l" t="t" r="r" b="b"/>
              <a:pathLst>
                <a:path w="1733465" h="406400">
                  <a:moveTo>
                    <a:pt x="1530265" y="0"/>
                  </a:moveTo>
                  <a:cubicBezTo>
                    <a:pt x="1642489" y="0"/>
                    <a:pt x="1733465" y="90976"/>
                    <a:pt x="1733465" y="203200"/>
                  </a:cubicBezTo>
                  <a:cubicBezTo>
                    <a:pt x="1733465" y="315424"/>
                    <a:pt x="1642489" y="406400"/>
                    <a:pt x="153026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0" name="TextBox 9"/>
            <p:cNvSpPr txBox="1"/>
            <p:nvPr/>
          </p:nvSpPr>
          <p:spPr>
            <a:xfrm>
              <a:off x="0" y="-57150"/>
              <a:ext cx="1733465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marL="0" lvl="0" indent="0" algn="ctr">
                <a:lnSpc>
                  <a:spcPts val="4230"/>
                </a:lnSpc>
                <a:spcBef>
                  <a:spcPct val="0"/>
                </a:spcBef>
              </a:pPr>
              <a:r>
                <a:rPr lang="zh-CN" altLang="en-US" sz="2400" u="none" strike="noStrike" spc="-30">
                  <a:solidFill>
                    <a:srgbClr val="1F191A"/>
                  </a:solidFill>
                  <a:latin typeface="STHeiti Light" panose="02010600040101010101" charset="-122"/>
                  <a:ea typeface="STHeiti Light" panose="02010600040101010101" charset="-122"/>
                  <a:cs typeface="Open Sauce" panose="00000500000000000000"/>
                  <a:sym typeface="Open Sauce" panose="00000500000000000000"/>
                </a:rPr>
                <a:t>地图（</a:t>
              </a:r>
              <a:r>
                <a:rPr lang="zh-CN" altLang="en-US" sz="2400" u="none" strike="noStrike" spc="-30">
                  <a:solidFill>
                    <a:srgbClr val="1F191A"/>
                  </a:solidFill>
                  <a:latin typeface="STHeiti Light" panose="02010600040101010101" charset="-122"/>
                  <a:ea typeface="STHeiti Light" panose="02010600040101010101" charset="-122"/>
                  <a:cs typeface="Open Sauce" panose="00000500000000000000"/>
                  <a:sym typeface="Open Sauce" panose="00000500000000000000"/>
                </a:rPr>
                <a:t>首页）</a:t>
              </a:r>
              <a:endParaRPr lang="zh-CN" altLang="en-US" sz="2400" u="none" strike="noStrike" spc="-30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" panose="00000500000000000000"/>
                <a:sym typeface="Open Sauce" panose="00000500000000000000"/>
              </a:endParaRPr>
            </a:p>
          </p:txBody>
        </p:sp>
      </p:grpSp>
      <p:sp>
        <p:nvSpPr>
          <p:cNvPr id="69" name="TextBox 14"/>
          <p:cNvSpPr txBox="1"/>
          <p:nvPr/>
        </p:nvSpPr>
        <p:spPr>
          <a:xfrm>
            <a:off x="9220200" y="4076700"/>
            <a:ext cx="8682355" cy="202120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p>
            <a:pPr marL="342900" lvl="0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zh-CN" altLang="en-US" sz="24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气泡时效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：地图上可看到的气泡都是进行中</a:t>
            </a:r>
            <a:r>
              <a:rPr lang="en-US" altLang="zh-CN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/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马上开始的活动，每天凌晨</a:t>
            </a:r>
            <a:r>
              <a:rPr lang="en-US" altLang="zh-CN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4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点自动清空过期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内容，确保信息时效</a:t>
            </a:r>
            <a:endParaRPr lang="zh-CN" altLang="en-US" sz="24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Bold"/>
              <a:sym typeface="Open Sauce Bold"/>
            </a:endParaRPr>
          </a:p>
          <a:p>
            <a:pPr marL="342900" lvl="0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zh-CN" altLang="en-US" sz="2400" b="1" spc="-28">
                <a:solidFill>
                  <a:srgbClr val="EE9F48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橙色</a:t>
            </a:r>
            <a:r>
              <a:rPr lang="zh-CN" altLang="en-US" sz="24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气泡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：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代表可以参与的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邀约</a:t>
            </a:r>
            <a:endParaRPr lang="zh-CN" altLang="en-US" sz="24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Bold"/>
              <a:sym typeface="Open Sauce Bold"/>
            </a:endParaRPr>
          </a:p>
          <a:p>
            <a:pPr marL="342900" lvl="0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zh-CN" altLang="en-US" sz="2400" b="1" spc="-28">
                <a:solidFill>
                  <a:srgbClr val="67CA9B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绿色</a:t>
            </a:r>
            <a:r>
              <a:rPr lang="zh-CN" altLang="en-US" sz="24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气泡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：代表当前空闲可约</a:t>
            </a:r>
            <a:endParaRPr lang="zh-CN" altLang="en-US" sz="24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Bold"/>
              <a:sym typeface="Open Sauce Bold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382000" y="3387090"/>
            <a:ext cx="599440" cy="539750"/>
            <a:chOff x="8280" y="5214"/>
            <a:chExt cx="1200" cy="1080"/>
          </a:xfrm>
        </p:grpSpPr>
        <p:pic>
          <p:nvPicPr>
            <p:cNvPr id="70" name="图片 69" descr="/Users/weiming/Library/Containers/com.kingsoft.wpsoffice.mac/Data/tmp/picturecompress_20250702142552/output_30.pngoutput_3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80" y="5214"/>
              <a:ext cx="960" cy="960"/>
            </a:xfrm>
            <a:prstGeom prst="rect">
              <a:avLst/>
            </a:prstGeom>
          </p:spPr>
        </p:pic>
        <p:pic>
          <p:nvPicPr>
            <p:cNvPr id="71" name="图片 70" descr="/Users/weiming/Library/Containers/com.kingsoft.wpsoffice.mac/Data/tmp/picturecompress_20250702142552/output_31.pngoutput_3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20" y="5334"/>
              <a:ext cx="960" cy="960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8382000" y="8191500"/>
            <a:ext cx="10939145" cy="1223645"/>
            <a:chOff x="8280" y="11580"/>
            <a:chExt cx="17227" cy="1927"/>
          </a:xfrm>
        </p:grpSpPr>
        <p:sp>
          <p:nvSpPr>
            <p:cNvPr id="72" name="TextBox 14"/>
            <p:cNvSpPr txBox="1"/>
            <p:nvPr/>
          </p:nvSpPr>
          <p:spPr>
            <a:xfrm>
              <a:off x="9480" y="11580"/>
              <a:ext cx="16027" cy="7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p>
              <a:pPr marL="0" lvl="0" indent="0" algn="l">
                <a:lnSpc>
                  <a:spcPts val="3925"/>
                </a:lnSpc>
                <a:spcBef>
                  <a:spcPct val="0"/>
                </a:spcBef>
              </a:pPr>
              <a:r>
                <a:rPr lang="zh-CN" altLang="en-US" sz="2800" b="1" spc="-28">
                  <a:solidFill>
                    <a:srgbClr val="1F191A"/>
                  </a:solidFill>
                  <a:latin typeface="STHeiti Regular" panose="02010600040101010101" charset="-122"/>
                  <a:ea typeface="STHeiti Regular" panose="02010600040101010101" charset="-122"/>
                  <a:cs typeface="STHeiti Regular" panose="02010600040101010101" charset="-122"/>
                  <a:sym typeface="Open Sauce Bold"/>
                </a:rPr>
                <a:t>认证</a:t>
              </a:r>
              <a:r>
                <a:rPr lang="zh-CN" altLang="en-US" sz="2800" b="1" spc="-28">
                  <a:solidFill>
                    <a:srgbClr val="1F191A"/>
                  </a:solidFill>
                  <a:latin typeface="STHeiti Regular" panose="02010600040101010101" charset="-122"/>
                  <a:ea typeface="STHeiti Regular" panose="02010600040101010101" charset="-122"/>
                  <a:cs typeface="STHeiti Regular" panose="02010600040101010101" charset="-122"/>
                  <a:sym typeface="Open Sauce Bold"/>
                </a:rPr>
                <a:t>商户</a:t>
              </a:r>
              <a:endParaRPr lang="zh-CN" altLang="en-US" sz="28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Open Sauce Bold"/>
              </a:endParaRPr>
            </a:p>
          </p:txBody>
        </p:sp>
        <p:sp>
          <p:nvSpPr>
            <p:cNvPr id="73" name="TextBox 14"/>
            <p:cNvSpPr txBox="1"/>
            <p:nvPr/>
          </p:nvSpPr>
          <p:spPr>
            <a:xfrm>
              <a:off x="9572" y="12546"/>
              <a:ext cx="13645" cy="96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p>
              <a:pPr marL="342900" lvl="0" indent="-342900" algn="l">
                <a:lnSpc>
                  <a:spcPts val="3925"/>
                </a:lnSpc>
                <a:spcBef>
                  <a:spcPct val="0"/>
                </a:spcBef>
                <a:buFont typeface="Arial" panose="020B0604020202090204" pitchFamily="34" charset="0"/>
                <a:buChar char="•"/>
              </a:pPr>
              <a:r>
                <a:rPr lang="zh-CN" altLang="en-US" sz="2400" b="1" spc="-28">
                  <a:solidFill>
                    <a:srgbClr val="1F191A"/>
                  </a:solidFill>
                  <a:latin typeface="STHeiti Regular" panose="02010600040101010101" charset="-122"/>
                  <a:ea typeface="STHeiti Regular" panose="02010600040101010101" charset="-122"/>
                  <a:cs typeface="Open Sauce Bold"/>
                  <a:sym typeface="Open Sauce Bold"/>
                </a:rPr>
                <a:t>商户标识</a:t>
              </a:r>
              <a:r>
                <a:rPr lang="en-US" altLang="zh-CN" sz="2400" spc="-28">
                  <a:solidFill>
                    <a:srgbClr val="1F191A"/>
                  </a:solidFill>
                  <a:latin typeface="STHeiti Light" panose="02010600040101010101" charset="-122"/>
                  <a:ea typeface="STHeiti Light" panose="02010600040101010101" charset="-122"/>
                  <a:cs typeface="Open Sauce Bold"/>
                  <a:sym typeface="Open Sauce Bold"/>
                </a:rPr>
                <a:t>                                       </a:t>
              </a:r>
              <a:r>
                <a:rPr lang="zh-CN" altLang="en-US" sz="2400" spc="-28">
                  <a:solidFill>
                    <a:srgbClr val="1F191A"/>
                  </a:solidFill>
                  <a:latin typeface="STHeiti Light" panose="02010600040101010101" charset="-122"/>
                  <a:ea typeface="STHeiti Light" panose="02010600040101010101" charset="-122"/>
                  <a:cs typeface="Open Sauce Bold"/>
                  <a:sym typeface="Open Sauce Bold"/>
                </a:rPr>
                <a:t>：已认证商户会常驻在地图上（</a:t>
              </a:r>
              <a:r>
                <a:rPr lang="en-US" altLang="zh-CN" sz="2400" spc="-28">
                  <a:solidFill>
                    <a:srgbClr val="1F191A"/>
                  </a:solidFill>
                  <a:latin typeface="STHeiti Light" panose="02010600040101010101" charset="-122"/>
                  <a:ea typeface="STHeiti Light" panose="02010600040101010101" charset="-122"/>
                  <a:cs typeface="Open Sauce Bold"/>
                  <a:sym typeface="Open Sauce Bold"/>
                </a:rPr>
                <a:t>App</a:t>
              </a:r>
              <a:r>
                <a:rPr lang="zh-CN" altLang="en-US" sz="2400" spc="-28">
                  <a:solidFill>
                    <a:srgbClr val="1F191A"/>
                  </a:solidFill>
                  <a:latin typeface="STHeiti Light" panose="02010600040101010101" charset="-122"/>
                  <a:ea typeface="STHeiti Light" panose="02010600040101010101" charset="-122"/>
                  <a:cs typeface="Open Sauce Bold"/>
                  <a:sym typeface="Open Sauce Bold"/>
                </a:rPr>
                <a:t>内可自助</a:t>
              </a:r>
              <a:r>
                <a:rPr lang="zh-CN" altLang="en-US" sz="2400" spc="-28">
                  <a:solidFill>
                    <a:srgbClr val="1F191A"/>
                  </a:solidFill>
                  <a:latin typeface="STHeiti Light" panose="02010600040101010101" charset="-122"/>
                  <a:ea typeface="STHeiti Light" panose="02010600040101010101" charset="-122"/>
                  <a:cs typeface="Open Sauce Bold"/>
                  <a:sym typeface="Open Sauce Bold"/>
                </a:rPr>
                <a:t>认证）</a:t>
              </a:r>
              <a:endPara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endParaRPr>
            </a:p>
          </p:txBody>
        </p:sp>
        <p:pic>
          <p:nvPicPr>
            <p:cNvPr id="74" name="图片 73" descr="/Users/weiming/Library/Containers/com.kingsoft.wpsoffice.mac/Data/tmp/picturecompress_20250702142552/output_32.pngoutput_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80" y="11592"/>
              <a:ext cx="960" cy="780"/>
            </a:xfrm>
            <a:prstGeom prst="rect">
              <a:avLst/>
            </a:prstGeom>
          </p:spPr>
        </p:pic>
        <p:pic>
          <p:nvPicPr>
            <p:cNvPr id="75" name="图片 74" descr="/Users/weiming/Library/Containers/com.kingsoft.wpsoffice.mac/Data/tmp/picturecompress_20250702142552/output_33.pngoutput_3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00" y="12780"/>
              <a:ext cx="4217" cy="663"/>
            </a:xfrm>
            <a:prstGeom prst="rect">
              <a:avLst/>
            </a:prstGeom>
          </p:spPr>
        </p:pic>
      </p:grpSp>
      <p:pic>
        <p:nvPicPr>
          <p:cNvPr id="2" name="图片 1" descr="yaoqinghaoyou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6210300"/>
            <a:ext cx="609600" cy="609600"/>
          </a:xfrm>
          <a:prstGeom prst="rect">
            <a:avLst/>
          </a:prstGeom>
        </p:spPr>
      </p:pic>
      <p:sp>
        <p:nvSpPr>
          <p:cNvPr id="5" name="TextBox 14"/>
          <p:cNvSpPr txBox="1"/>
          <p:nvPr/>
        </p:nvSpPr>
        <p:spPr>
          <a:xfrm>
            <a:off x="9220200" y="6896100"/>
            <a:ext cx="8606790" cy="106743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p>
            <a:pPr marL="342900" lvl="0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zh-CN" altLang="en-US" sz="24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同城在线用户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：查看同城在线用户当前动态，快速找到附近可邀请的人或可参与的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活动</a:t>
            </a:r>
            <a:endParaRPr lang="zh-CN" altLang="en-US" sz="24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Bold"/>
              <a:sym typeface="Open Sauce Bold"/>
            </a:endParaRPr>
          </a:p>
          <a:p>
            <a:pPr marL="342900" lvl="0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endParaRPr lang="zh-CN" altLang="en-US" sz="24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Bold"/>
              <a:sym typeface="Open Sauce Bold"/>
            </a:endParaRPr>
          </a:p>
        </p:txBody>
      </p:sp>
      <p:sp>
        <p:nvSpPr>
          <p:cNvPr id="6" name="TextBox 14"/>
          <p:cNvSpPr txBox="1"/>
          <p:nvPr/>
        </p:nvSpPr>
        <p:spPr>
          <a:xfrm>
            <a:off x="9202420" y="6286500"/>
            <a:ext cx="10177145" cy="50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3925"/>
              </a:lnSpc>
              <a:spcBef>
                <a:spcPct val="0"/>
              </a:spcBef>
            </a:pPr>
            <a:r>
              <a:rPr lang="zh-CN" altLang="en-US" sz="28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Open Sauce Bold"/>
              </a:rPr>
              <a:t>附近</a:t>
            </a:r>
            <a:r>
              <a:rPr lang="zh-CN" altLang="en-US" sz="28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Open Sauce Bold"/>
              </a:rPr>
              <a:t>伙伴</a:t>
            </a:r>
            <a:endParaRPr lang="zh-CN" altLang="en-US" sz="2800" b="1" spc="-28">
              <a:solidFill>
                <a:srgbClr val="1F191A"/>
              </a:solidFill>
              <a:latin typeface="STHeiti Regular" panose="02010600040101010101" charset="-122"/>
              <a:ea typeface="STHeiti Regular" panose="02010600040101010101" charset="-122"/>
              <a:cs typeface="STHeiti Regular" panose="02010600040101010101" charset="-122"/>
              <a:sym typeface="Open Sauce Bold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90600" y="2171700"/>
            <a:ext cx="7077075" cy="7493635"/>
            <a:chOff x="1440" y="3450"/>
            <a:chExt cx="10998" cy="11642"/>
          </a:xfrm>
        </p:grpSpPr>
        <p:pic>
          <p:nvPicPr>
            <p:cNvPr id="7" name="图片 6" descr="97e3f6db770de2812b15c6ce4aae232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40" y="3450"/>
              <a:ext cx="5354" cy="11642"/>
            </a:xfrm>
            <a:prstGeom prst="rect">
              <a:avLst/>
            </a:prstGeom>
          </p:spPr>
        </p:pic>
        <p:pic>
          <p:nvPicPr>
            <p:cNvPr id="20" name="图片 19" descr="附近的人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80" y="3450"/>
              <a:ext cx="5359" cy="1160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12"/>
          <p:cNvSpPr txBox="1"/>
          <p:nvPr/>
        </p:nvSpPr>
        <p:spPr>
          <a:xfrm>
            <a:off x="990600" y="612140"/>
            <a:ext cx="16177260" cy="1140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8895"/>
              </a:lnSpc>
              <a:spcBef>
                <a:spcPct val="0"/>
              </a:spcBef>
            </a:pPr>
            <a:r>
              <a:rPr lang="zh-CN" altLang="en-US" sz="8000" b="1" spc="-266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Aileron Bold"/>
                <a:sym typeface="Aileron Bold"/>
              </a:rPr>
              <a:t>产品介绍</a:t>
            </a:r>
            <a:endParaRPr lang="zh-CN" altLang="en-US" sz="8000" b="1" spc="-266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cs typeface="Aileron Bold"/>
              <a:sym typeface="Aileron Bold"/>
            </a:endParaRPr>
          </a:p>
        </p:txBody>
      </p:sp>
      <p:grpSp>
        <p:nvGrpSpPr>
          <p:cNvPr id="58" name="Group 7"/>
          <p:cNvGrpSpPr/>
          <p:nvPr/>
        </p:nvGrpSpPr>
        <p:grpSpPr>
          <a:xfrm rot="0">
            <a:off x="5181600" y="2290445"/>
            <a:ext cx="3034665" cy="711200"/>
            <a:chOff x="0" y="0"/>
            <a:chExt cx="1733465" cy="406400"/>
          </a:xfrm>
        </p:grpSpPr>
        <p:sp>
          <p:nvSpPr>
            <p:cNvPr id="59" name="Freeform 8"/>
            <p:cNvSpPr/>
            <p:nvPr/>
          </p:nvSpPr>
          <p:spPr>
            <a:xfrm>
              <a:off x="0" y="0"/>
              <a:ext cx="1733465" cy="406400"/>
            </a:xfrm>
            <a:custGeom>
              <a:avLst/>
              <a:gdLst/>
              <a:ahLst/>
              <a:cxnLst/>
              <a:rect l="l" t="t" r="r" b="b"/>
              <a:pathLst>
                <a:path w="1733465" h="406400">
                  <a:moveTo>
                    <a:pt x="1530265" y="0"/>
                  </a:moveTo>
                  <a:cubicBezTo>
                    <a:pt x="1642489" y="0"/>
                    <a:pt x="1733465" y="90976"/>
                    <a:pt x="1733465" y="203200"/>
                  </a:cubicBezTo>
                  <a:cubicBezTo>
                    <a:pt x="1733465" y="315424"/>
                    <a:pt x="1642489" y="406400"/>
                    <a:pt x="153026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0" name="TextBox 9"/>
            <p:cNvSpPr txBox="1"/>
            <p:nvPr/>
          </p:nvSpPr>
          <p:spPr>
            <a:xfrm>
              <a:off x="0" y="-57150"/>
              <a:ext cx="1733465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marL="0" lvl="0" indent="0" algn="ctr">
                <a:lnSpc>
                  <a:spcPts val="4230"/>
                </a:lnSpc>
                <a:spcBef>
                  <a:spcPct val="0"/>
                </a:spcBef>
              </a:pPr>
              <a:r>
                <a:rPr lang="en-US" altLang="zh-CN" sz="2400" u="none" strike="noStrike" spc="-30">
                  <a:solidFill>
                    <a:srgbClr val="1F191A"/>
                  </a:solidFill>
                  <a:latin typeface="STHeiti Light" panose="02010600040101010101" charset="-122"/>
                  <a:ea typeface="STHeiti Light" panose="02010600040101010101" charset="-122"/>
                  <a:cs typeface="STHeiti Light" panose="02010600040101010101" charset="-122"/>
                  <a:sym typeface="Open Sauce" panose="00000500000000000000"/>
                </a:rPr>
                <a:t>NOW</a:t>
              </a:r>
              <a:r>
                <a:rPr lang="zh-CN" altLang="en-US" sz="2400" u="none" strike="noStrike" spc="-30">
                  <a:solidFill>
                    <a:srgbClr val="1F191A"/>
                  </a:solidFill>
                  <a:latin typeface="STHeiti Light" panose="02010600040101010101" charset="-122"/>
                  <a:ea typeface="STHeiti Light" panose="02010600040101010101" charset="-122"/>
                  <a:cs typeface="STHeiti Light" panose="02010600040101010101" charset="-122"/>
                  <a:sym typeface="Open Sauce" panose="00000500000000000000"/>
                </a:rPr>
                <a:t>详情</a:t>
              </a:r>
              <a:endParaRPr lang="zh-CN" altLang="en-US" sz="2400" u="none" strike="noStrike" spc="-30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Open Sauce" panose="00000500000000000000"/>
              </a:endParaRPr>
            </a:p>
          </p:txBody>
        </p:sp>
      </p:grpSp>
      <p:sp>
        <p:nvSpPr>
          <p:cNvPr id="2" name="TextBox 14"/>
          <p:cNvSpPr txBox="1"/>
          <p:nvPr/>
        </p:nvSpPr>
        <p:spPr>
          <a:xfrm>
            <a:off x="5943600" y="3350895"/>
            <a:ext cx="9102090" cy="50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3925"/>
              </a:lnSpc>
              <a:spcBef>
                <a:spcPct val="0"/>
              </a:spcBef>
            </a:pPr>
            <a:r>
              <a:rPr lang="en-US" altLang="zh-CN" sz="28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Open Sauce Bold"/>
              </a:rPr>
              <a:t>NOW</a:t>
            </a:r>
            <a:r>
              <a:rPr lang="zh-CN" altLang="en-US" sz="28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Open Sauce Bold"/>
              </a:rPr>
              <a:t>详情与</a:t>
            </a:r>
            <a:r>
              <a:rPr lang="zh-CN" altLang="en-US" sz="28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Open Sauce Bold"/>
              </a:rPr>
              <a:t>互动</a:t>
            </a:r>
            <a:endParaRPr lang="zh-CN" altLang="en-US" sz="2800" b="1" spc="-28">
              <a:solidFill>
                <a:srgbClr val="1F191A"/>
              </a:solidFill>
              <a:latin typeface="STHeiti Regular" panose="02010600040101010101" charset="-122"/>
              <a:ea typeface="STHeiti Regular" panose="02010600040101010101" charset="-122"/>
              <a:cs typeface="STHeiti Regular" panose="02010600040101010101" charset="-122"/>
              <a:sym typeface="Open Sauce Bold"/>
            </a:endParaRPr>
          </a:p>
        </p:txBody>
      </p:sp>
      <p:sp>
        <p:nvSpPr>
          <p:cNvPr id="69" name="TextBox 14"/>
          <p:cNvSpPr txBox="1"/>
          <p:nvPr/>
        </p:nvSpPr>
        <p:spPr>
          <a:xfrm>
            <a:off x="5925820" y="4040505"/>
            <a:ext cx="10894695" cy="611314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p>
            <a:pPr marL="342900" lvl="0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zh-CN" altLang="en-US" sz="24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邀约详情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：展开</a:t>
            </a:r>
            <a:r>
              <a:rPr lang="en-US" altLang="zh-CN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NOW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详情查看图集</a:t>
            </a:r>
            <a:r>
              <a:rPr lang="en-US" altLang="zh-CN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/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视频，在赴约前可以先沟通了解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情况</a:t>
            </a:r>
            <a:endParaRPr lang="zh-CN" altLang="en-US" sz="24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Bold"/>
              <a:sym typeface="Open Sauce Bold"/>
            </a:endParaRPr>
          </a:p>
          <a:p>
            <a:pPr marL="342900" lvl="0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zh-CN" altLang="en-US" sz="24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商户管理员标识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：</a:t>
            </a:r>
            <a:r>
              <a:rPr lang="en-US" altLang="zh-CN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     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商户有实体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认证，店员有实名认证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，一定程度强化信任背书，让线下邀约更安全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可靠</a:t>
            </a:r>
            <a:endParaRPr lang="zh-CN" altLang="en-US" sz="24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Bold"/>
              <a:sym typeface="Open Sauce Bold"/>
            </a:endParaRPr>
          </a:p>
          <a:p>
            <a:pPr marL="342900" lvl="0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zh-CN" altLang="en-US" sz="24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用户距离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：用户每条评论都会显示此刻距线下地点距离，用于判断该用户实际抵达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情况，同时也保护用户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真实位置的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隐私</a:t>
            </a:r>
            <a:endParaRPr lang="zh-CN" altLang="en-US" sz="24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Bold"/>
              <a:sym typeface="Open Sauce Bold"/>
            </a:endParaRPr>
          </a:p>
          <a:p>
            <a:pPr marL="342900" lvl="0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zh-CN" altLang="en-US" sz="24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认证商户信息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：发布在已认证商户位置的</a:t>
            </a:r>
            <a:r>
              <a:rPr lang="en-US" altLang="zh-CN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NOW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，可看到该商户的信息，点击可以进入商户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详情页</a:t>
            </a:r>
            <a:endParaRPr lang="zh-CN" altLang="en-US" sz="24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Bold"/>
              <a:sym typeface="Open Sauce Bold"/>
            </a:endParaRPr>
          </a:p>
          <a:p>
            <a:pPr marL="342900" lvl="0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zh-CN" altLang="en-US" sz="24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发布邀约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：可设置报名费、报名条件、筛选人群，既满足商业化需求，也帮助发布者筛选希望邀约的定向人群（例如女性</a:t>
            </a:r>
            <a:r>
              <a:rPr lang="en-US" altLang="zh-CN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only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）</a:t>
            </a:r>
            <a:endParaRPr lang="zh-CN" altLang="en-US" sz="24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Bold"/>
              <a:sym typeface="Open Sauce Bold"/>
            </a:endParaRPr>
          </a:p>
          <a:p>
            <a:pPr marL="342900" lvl="0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zh-CN" altLang="en-US" sz="24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报名签到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：可看到报名和签到情况，签到会根据</a:t>
            </a:r>
            <a:r>
              <a:rPr lang="en-US" altLang="zh-CN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LBS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校验用户是否真实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抵达</a:t>
            </a:r>
            <a:endParaRPr lang="zh-CN" altLang="en-US" sz="24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Bold"/>
              <a:sym typeface="Open Sauce Bold"/>
            </a:endParaRPr>
          </a:p>
          <a:p>
            <a:pPr marL="342900" lvl="0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zh-CN" altLang="en-US" sz="24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气泡群聊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：对活动感兴趣的人可以直接加入群聊，实时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沟通</a:t>
            </a:r>
            <a:endParaRPr lang="zh-CN" altLang="en-US" sz="24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Bold"/>
              <a:sym typeface="Open Sauce Bold"/>
            </a:endParaRPr>
          </a:p>
        </p:txBody>
      </p:sp>
      <p:pic>
        <p:nvPicPr>
          <p:cNvPr id="3" name="图片 2" descr="/Users/weiming/Library/Containers/com.kingsoft.wpsoffice.mac/Data/tmp/picturecompress_20250702142552/output_36.pngoutput_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0" y="3263900"/>
            <a:ext cx="677545" cy="677545"/>
          </a:xfrm>
          <a:prstGeom prst="rect">
            <a:avLst/>
          </a:prstGeom>
        </p:spPr>
      </p:pic>
      <p:pic>
        <p:nvPicPr>
          <p:cNvPr id="4" name="图片 3" descr="/Users/weiming/Library/Containers/com.kingsoft.wpsoffice.mac/Data/tmp/picturecompress_20250702142552/output_37.pngoutput_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0" y="4533900"/>
            <a:ext cx="532765" cy="498475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1058545" y="2190750"/>
            <a:ext cx="3507105" cy="7612380"/>
            <a:chOff x="1667" y="3450"/>
            <a:chExt cx="5523" cy="11988"/>
          </a:xfrm>
        </p:grpSpPr>
        <p:pic>
          <p:nvPicPr>
            <p:cNvPr id="19" name="图片 18" descr="792bb8e7916643d66bd02df831fd4b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80" y="3450"/>
              <a:ext cx="5510" cy="11982"/>
            </a:xfrm>
            <a:prstGeom prst="rect">
              <a:avLst/>
            </a:prstGeom>
          </p:spPr>
        </p:pic>
        <p:pic>
          <p:nvPicPr>
            <p:cNvPr id="7" name="图片 6" descr="图片now详情1 (1)"/>
            <p:cNvPicPr>
              <a:picLocks noChangeAspect="1"/>
            </p:cNvPicPr>
            <p:nvPr/>
          </p:nvPicPr>
          <p:blipFill>
            <a:blip r:embed="rId4"/>
            <a:srcRect t="8621" b="27771"/>
            <a:stretch>
              <a:fillRect/>
            </a:stretch>
          </p:blipFill>
          <p:spPr>
            <a:xfrm>
              <a:off x="1667" y="5700"/>
              <a:ext cx="5511" cy="97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12"/>
          <p:cNvSpPr txBox="1"/>
          <p:nvPr/>
        </p:nvSpPr>
        <p:spPr>
          <a:xfrm>
            <a:off x="990600" y="612140"/>
            <a:ext cx="16177260" cy="1140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8895"/>
              </a:lnSpc>
              <a:spcBef>
                <a:spcPct val="0"/>
              </a:spcBef>
            </a:pPr>
            <a:r>
              <a:rPr lang="zh-CN" altLang="en-US" sz="8000" b="1" spc="-266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Aileron Bold"/>
                <a:sym typeface="Aileron Bold"/>
              </a:rPr>
              <a:t>产品介绍</a:t>
            </a:r>
            <a:endParaRPr lang="zh-CN" altLang="en-US" sz="8000" b="1" spc="-266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cs typeface="Aileron Bold"/>
              <a:sym typeface="Aileron Bold"/>
            </a:endParaRPr>
          </a:p>
        </p:txBody>
      </p:sp>
      <p:grpSp>
        <p:nvGrpSpPr>
          <p:cNvPr id="58" name="Group 7"/>
          <p:cNvGrpSpPr/>
          <p:nvPr/>
        </p:nvGrpSpPr>
        <p:grpSpPr>
          <a:xfrm rot="0">
            <a:off x="4876800" y="2290445"/>
            <a:ext cx="3034665" cy="711200"/>
            <a:chOff x="0" y="0"/>
            <a:chExt cx="1733465" cy="406400"/>
          </a:xfrm>
        </p:grpSpPr>
        <p:sp>
          <p:nvSpPr>
            <p:cNvPr id="59" name="Freeform 8"/>
            <p:cNvSpPr/>
            <p:nvPr/>
          </p:nvSpPr>
          <p:spPr>
            <a:xfrm>
              <a:off x="0" y="0"/>
              <a:ext cx="1733465" cy="406400"/>
            </a:xfrm>
            <a:custGeom>
              <a:avLst/>
              <a:gdLst/>
              <a:ahLst/>
              <a:cxnLst/>
              <a:rect l="l" t="t" r="r" b="b"/>
              <a:pathLst>
                <a:path w="1733465" h="406400">
                  <a:moveTo>
                    <a:pt x="1530265" y="0"/>
                  </a:moveTo>
                  <a:cubicBezTo>
                    <a:pt x="1642489" y="0"/>
                    <a:pt x="1733465" y="90976"/>
                    <a:pt x="1733465" y="203200"/>
                  </a:cubicBezTo>
                  <a:cubicBezTo>
                    <a:pt x="1733465" y="315424"/>
                    <a:pt x="1642489" y="406400"/>
                    <a:pt x="153026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0" name="TextBox 9"/>
            <p:cNvSpPr txBox="1"/>
            <p:nvPr/>
          </p:nvSpPr>
          <p:spPr>
            <a:xfrm>
              <a:off x="0" y="-57150"/>
              <a:ext cx="1733465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marL="0" lvl="0" indent="0" algn="ctr">
                <a:lnSpc>
                  <a:spcPts val="4230"/>
                </a:lnSpc>
                <a:spcBef>
                  <a:spcPct val="0"/>
                </a:spcBef>
              </a:pPr>
              <a:r>
                <a:rPr lang="zh-CN" altLang="en-US" sz="2400" u="none" strike="noStrike" spc="-30">
                  <a:solidFill>
                    <a:srgbClr val="1F191A"/>
                  </a:solidFill>
                  <a:latin typeface="STHeiti Light" panose="02010600040101010101" charset="-122"/>
                  <a:ea typeface="STHeiti Light" panose="02010600040101010101" charset="-122"/>
                  <a:cs typeface="Open Sauce" panose="00000500000000000000"/>
                  <a:sym typeface="Open Sauce" panose="00000500000000000000"/>
                </a:rPr>
                <a:t>商户详情</a:t>
              </a:r>
              <a:endParaRPr lang="zh-CN" altLang="en-US" sz="2400" u="none" strike="noStrike" spc="-30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" panose="00000500000000000000"/>
                <a:sym typeface="Open Sauce" panose="00000500000000000000"/>
              </a:endParaRPr>
            </a:p>
          </p:txBody>
        </p:sp>
      </p:grpSp>
      <p:sp>
        <p:nvSpPr>
          <p:cNvPr id="3" name="TextBox 14"/>
          <p:cNvSpPr txBox="1"/>
          <p:nvPr/>
        </p:nvSpPr>
        <p:spPr>
          <a:xfrm>
            <a:off x="5732780" y="4758690"/>
            <a:ext cx="10177145" cy="50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3925"/>
              </a:lnSpc>
              <a:spcBef>
                <a:spcPct val="0"/>
              </a:spcBef>
            </a:pPr>
            <a:r>
              <a:rPr lang="zh-CN" altLang="en-US" sz="28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Open Sauce Bold"/>
              </a:rPr>
              <a:t>已认证商户详情</a:t>
            </a:r>
            <a:r>
              <a:rPr lang="zh-CN" altLang="en-US" sz="28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Open Sauce Bold"/>
              </a:rPr>
              <a:t>页</a:t>
            </a:r>
            <a:endParaRPr lang="zh-CN" altLang="en-US" sz="2800" b="1" spc="-28">
              <a:solidFill>
                <a:srgbClr val="1F191A"/>
              </a:solidFill>
              <a:latin typeface="STHeiti Regular" panose="02010600040101010101" charset="-122"/>
              <a:ea typeface="STHeiti Regular" panose="02010600040101010101" charset="-122"/>
              <a:cs typeface="STHeiti Regular" panose="02010600040101010101" charset="-122"/>
              <a:sym typeface="Open Sauce Bold"/>
            </a:endParaRPr>
          </a:p>
        </p:txBody>
      </p:sp>
      <p:sp>
        <p:nvSpPr>
          <p:cNvPr id="69" name="TextBox 14"/>
          <p:cNvSpPr txBox="1"/>
          <p:nvPr/>
        </p:nvSpPr>
        <p:spPr>
          <a:xfrm>
            <a:off x="5715000" y="5448300"/>
            <a:ext cx="9571355" cy="44577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p>
            <a:pPr marL="342900" lvl="0" indent="-342900" algn="l">
              <a:lnSpc>
                <a:spcPct val="150000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zh-CN" altLang="en-US" sz="24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图文信息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：店主可维护商户展示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信息</a:t>
            </a:r>
            <a:endParaRPr lang="zh-CN" altLang="en-US" sz="24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Bold"/>
              <a:sym typeface="Open Sauce Bold"/>
            </a:endParaRPr>
          </a:p>
          <a:p>
            <a:pPr marL="342900" lvl="0" indent="-342900" algn="l">
              <a:lnSpc>
                <a:spcPct val="150000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zh-CN" altLang="en-US" sz="24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设置商户店员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：认领商户的用户默认为店主，店主可在该页面添加更多用户为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店员，方便轮值管理商户</a:t>
            </a:r>
            <a:endParaRPr lang="zh-CN" altLang="en-US" sz="24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Bold"/>
              <a:sym typeface="Open Sauce Bold"/>
            </a:endParaRPr>
          </a:p>
          <a:p>
            <a:pPr marL="342900" lvl="0" indent="-342900" algn="l">
              <a:lnSpc>
                <a:spcPct val="150000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zh-CN" altLang="en-US" sz="24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商户商品💰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：店员可管理商户货架，线上购买线下核销，由于更强的即时性带来更丰富的运营空间，可根据库存情况和店内淡旺时段调整</a:t>
            </a:r>
            <a:r>
              <a:rPr lang="en-US" altLang="zh-CN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SKU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和价格，包括动态折扣、新品品鉴、拼桌套餐、活动玩法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等</a:t>
            </a:r>
            <a:endParaRPr lang="zh-CN" altLang="en-US" sz="24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Bold"/>
              <a:sym typeface="Open Sauce Bold"/>
            </a:endParaRPr>
          </a:p>
          <a:p>
            <a:pPr marL="342900" lvl="0" indent="-342900" algn="l">
              <a:lnSpc>
                <a:spcPct val="150000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zh-CN" altLang="en-US" sz="24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Open Sauce Bold"/>
              </a:rPr>
              <a:t>历史</a:t>
            </a:r>
            <a:r>
              <a:rPr lang="en-US" altLang="zh-CN" sz="24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Open Sauce Bold"/>
              </a:rPr>
              <a:t>NOW</a:t>
            </a:r>
            <a:r>
              <a:rPr lang="zh-CN" altLang="en-US" sz="24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Open Sauce Bold"/>
              </a:rPr>
              <a:t>信息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：在该位置发布的</a:t>
            </a:r>
            <a:r>
              <a:rPr lang="en-US" altLang="zh-CN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NOW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都会留存在商户详情页，可通过缩略图标识判断哪些是此刻正在进行的</a:t>
            </a:r>
            <a:r>
              <a:rPr lang="en-US" altLang="zh-CN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NOW</a:t>
            </a:r>
            <a:endParaRPr lang="en-US" altLang="zh-CN" sz="24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Bold"/>
              <a:sym typeface="Open Sauce Bold"/>
            </a:endParaRPr>
          </a:p>
        </p:txBody>
      </p:sp>
      <p:pic>
        <p:nvPicPr>
          <p:cNvPr id="4" name="图片 3" descr="/Users/weiming/Library/Containers/com.kingsoft.wpsoffice.mac/Data/tmp/picturecompress_20250702142552/output_39.pngoutput_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4699635"/>
            <a:ext cx="621030" cy="6210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76800" y="3296920"/>
            <a:ext cx="1049655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Open Sauce Bold"/>
                <a:sym typeface="Open Sauce Bold"/>
              </a:rPr>
              <a:t>商户认证方式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：可以在设置页提交对某个商户的认领，通过已取得</a:t>
            </a:r>
            <a:r>
              <a:rPr lang="zh-CN" altLang="en-US" sz="24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Bold"/>
                <a:sym typeface="Open Sauce Bold"/>
              </a:rPr>
              <a:t>的绝大部分商户的官方联系方式，只需电话号码认证即可完成认领，安全快捷</a:t>
            </a:r>
            <a:endParaRPr lang="zh-CN" altLang="en-US" sz="24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Bold"/>
              <a:sym typeface="Open Sauce Bold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290445"/>
            <a:ext cx="3413125" cy="74129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3133070" y="7993380"/>
            <a:ext cx="5071745" cy="2261870"/>
          </a:xfrm>
          <a:custGeom>
            <a:avLst/>
            <a:gdLst/>
            <a:ahLst/>
            <a:cxnLst/>
            <a:rect l="l" t="t" r="r" b="b"/>
            <a:pathLst>
              <a:path w="8952524" h="3991015">
                <a:moveTo>
                  <a:pt x="0" y="0"/>
                </a:moveTo>
                <a:lnTo>
                  <a:pt x="8952524" y="0"/>
                </a:lnTo>
                <a:lnTo>
                  <a:pt x="8952524" y="3991015"/>
                </a:lnTo>
                <a:lnTo>
                  <a:pt x="0" y="399101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954"/>
            </a:stretch>
          </a:blipFill>
        </p:spPr>
      </p:sp>
      <p:sp>
        <p:nvSpPr>
          <p:cNvPr id="28" name="TextBox 12"/>
          <p:cNvSpPr txBox="1"/>
          <p:nvPr/>
        </p:nvSpPr>
        <p:spPr>
          <a:xfrm>
            <a:off x="990600" y="612140"/>
            <a:ext cx="16177260" cy="1140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8895"/>
              </a:lnSpc>
              <a:spcBef>
                <a:spcPct val="0"/>
              </a:spcBef>
            </a:pPr>
            <a:r>
              <a:rPr lang="zh-CN" altLang="en-US" sz="8000" b="1" spc="-266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Aileron Bold"/>
                <a:sym typeface="Aileron Bold"/>
              </a:rPr>
              <a:t>产品介绍</a:t>
            </a:r>
            <a:r>
              <a:rPr lang="en-US" altLang="zh-CN" sz="8000" b="1" spc="-266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Aileron Bold"/>
                <a:sym typeface="Aileron Bold"/>
              </a:rPr>
              <a:t>-</a:t>
            </a:r>
            <a:r>
              <a:rPr lang="en-US" altLang="zh-CN" sz="8000" b="1" spc="-266">
                <a:solidFill>
                  <a:srgbClr val="EE9F48"/>
                </a:solidFill>
                <a:latin typeface="STHeiti Regular" panose="02010600040101010101" charset="-122"/>
                <a:ea typeface="STHeiti Regular" panose="02010600040101010101" charset="-122"/>
                <a:cs typeface="Aileron Bold"/>
                <a:sym typeface="Aileron Bold"/>
              </a:rPr>
              <a:t>AI </a:t>
            </a:r>
            <a:r>
              <a:rPr lang="en-US" altLang="zh-CN" sz="8000" b="1" spc="-266">
                <a:solidFill>
                  <a:srgbClr val="EE9F48"/>
                </a:solidFill>
                <a:latin typeface="STHeiti Regular" panose="02010600040101010101" charset="-122"/>
                <a:ea typeface="STHeiti Regular" panose="02010600040101010101" charset="-122"/>
                <a:cs typeface="Aileron Bold"/>
                <a:sym typeface="Aileron Bold"/>
              </a:rPr>
              <a:t>Agent</a:t>
            </a:r>
            <a:endParaRPr lang="en-US" altLang="zh-CN" sz="8000" b="1" spc="-266">
              <a:solidFill>
                <a:srgbClr val="EE9F48"/>
              </a:solidFill>
              <a:latin typeface="STHeiti Regular" panose="02010600040101010101" charset="-122"/>
              <a:ea typeface="STHeiti Regular" panose="02010600040101010101" charset="-122"/>
              <a:cs typeface="Aileron Bold"/>
              <a:sym typeface="Aileron Bold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257300" y="3035300"/>
            <a:ext cx="4773295" cy="4773295"/>
          </a:xfrm>
          <a:prstGeom prst="ellipse">
            <a:avLst/>
          </a:prstGeom>
          <a:ln>
            <a:solidFill>
              <a:srgbClr val="EE9F48"/>
            </a:solidFill>
          </a:ln>
        </p:spPr>
        <p:style>
          <a:lnRef idx="2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2000"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6343650" y="3035300"/>
            <a:ext cx="4773295" cy="4773295"/>
          </a:xfrm>
          <a:prstGeom prst="ellipse">
            <a:avLst/>
          </a:prstGeom>
          <a:ln>
            <a:solidFill>
              <a:srgbClr val="EE9F48"/>
            </a:solidFill>
          </a:ln>
        </p:spPr>
        <p:style>
          <a:lnRef idx="2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2000"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1430000" y="3009900"/>
            <a:ext cx="4773295" cy="4773295"/>
          </a:xfrm>
          <a:prstGeom prst="ellipse">
            <a:avLst/>
          </a:prstGeom>
          <a:ln>
            <a:solidFill>
              <a:srgbClr val="EE9F48"/>
            </a:solidFill>
          </a:ln>
        </p:spPr>
        <p:style>
          <a:lnRef idx="2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2000"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998345" y="2019300"/>
            <a:ext cx="30359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zh-CN" altLang="en-US" sz="3600" b="1" spc="-18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STHeiti Light" panose="02010600040101010101" charset="-122"/>
              </a:rPr>
              <a:t>内容</a:t>
            </a:r>
            <a:r>
              <a:rPr lang="zh-CN" altLang="en-US" sz="3600" b="1" spc="-18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STHeiti Light" panose="02010600040101010101" charset="-122"/>
              </a:rPr>
              <a:t>供给</a:t>
            </a:r>
            <a:endParaRPr lang="zh-CN" altLang="en-US" sz="3600" b="1" spc="-18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cs typeface="STHeiti Light" panose="0201060004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002780" y="2019300"/>
            <a:ext cx="31730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zh-CN" altLang="en-US" sz="3600" b="1" spc="-18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STHeiti Light" panose="02010600040101010101" charset="-122"/>
              </a:rPr>
              <a:t>用户</a:t>
            </a:r>
            <a:r>
              <a:rPr lang="zh-CN" altLang="en-US" sz="3600" b="1" spc="-18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STHeiti Light" panose="02010600040101010101" charset="-122"/>
              </a:rPr>
              <a:t>撮合</a:t>
            </a:r>
            <a:endParaRPr lang="zh-CN" altLang="en-US" sz="3600" b="1" spc="-18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cs typeface="STHeiti Light" panose="02010600040101010101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2460605" y="2019300"/>
            <a:ext cx="2494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zh-CN" altLang="en-US" sz="3600" b="1" spc="-18">
                <a:latin typeface="STHeiti Regular" panose="02010600040101010101" charset="-122"/>
                <a:ea typeface="STHeiti Regular" panose="02010600040101010101" charset="-122"/>
                <a:cs typeface="STHeiti Light" panose="02010600040101010101" charset="-122"/>
                <a:sym typeface="+mn-ea"/>
              </a:rPr>
              <a:t>商户</a:t>
            </a:r>
            <a:r>
              <a:rPr lang="zh-CN" altLang="en-US" sz="3600" b="1" spc="-18">
                <a:latin typeface="STHeiti Regular" panose="02010600040101010101" charset="-122"/>
                <a:ea typeface="STHeiti Regular" panose="02010600040101010101" charset="-122"/>
                <a:cs typeface="STHeiti Light" panose="02010600040101010101" charset="-122"/>
                <a:sym typeface="+mn-ea"/>
              </a:rPr>
              <a:t>获客</a:t>
            </a:r>
            <a:endParaRPr lang="zh-CN" altLang="en-US" sz="3600" b="1" spc="-18">
              <a:latin typeface="STHeiti Regular" panose="02010600040101010101" charset="-122"/>
              <a:ea typeface="STHeiti Regular" panose="02010600040101010101" charset="-122"/>
              <a:cs typeface="STHeiti Light" panose="02010600040101010101" charset="-122"/>
              <a:sym typeface="+mn-ea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079500" y="3009900"/>
            <a:ext cx="4773295" cy="4773295"/>
          </a:xfrm>
          <a:prstGeom prst="ellipse">
            <a:avLst/>
          </a:prstGeom>
          <a:ln>
            <a:solidFill>
              <a:srgbClr val="67CA9B"/>
            </a:solidFill>
          </a:ln>
        </p:spPr>
        <p:style>
          <a:lnRef idx="2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2000"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6165850" y="3009900"/>
            <a:ext cx="4773295" cy="4773295"/>
          </a:xfrm>
          <a:prstGeom prst="ellipse">
            <a:avLst/>
          </a:prstGeom>
          <a:ln>
            <a:solidFill>
              <a:srgbClr val="67CA9B"/>
            </a:solidFill>
          </a:ln>
        </p:spPr>
        <p:style>
          <a:lnRef idx="2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2000"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11252200" y="2984500"/>
            <a:ext cx="4773295" cy="4773295"/>
          </a:xfrm>
          <a:prstGeom prst="ellipse">
            <a:avLst/>
          </a:prstGeom>
          <a:ln>
            <a:solidFill>
              <a:srgbClr val="67CA9B"/>
            </a:solidFill>
          </a:ln>
        </p:spPr>
        <p:style>
          <a:lnRef idx="2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2000"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471295" y="3670300"/>
            <a:ext cx="4135120" cy="33566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zh-CN" sz="2400" spc="-22">
                <a:solidFill>
                  <a:srgbClr val="1F191A"/>
                </a:solidFill>
                <a:highlight>
                  <a:srgbClr val="FFFF00"/>
                </a:highlight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现有内容</a:t>
            </a:r>
            <a:r>
              <a:rPr lang="zh-CN" sz="2400" spc="-22">
                <a:solidFill>
                  <a:srgbClr val="1F191A"/>
                </a:solidFill>
                <a:highlight>
                  <a:srgbClr val="FFFF00"/>
                </a:highlight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聚合</a:t>
            </a:r>
            <a:endParaRPr lang="zh-CN" sz="2400" spc="-22">
              <a:solidFill>
                <a:srgbClr val="1F191A"/>
              </a:solidFill>
              <a:highlight>
                <a:srgbClr val="FFFF00"/>
              </a:highlight>
              <a:latin typeface="STHeiti Light" panose="02010600040101010101" charset="-122"/>
              <a:ea typeface="STHeiti Light" panose="02010600040101010101" charset="-122"/>
              <a:cs typeface="Open Sauce Light"/>
              <a:sym typeface="Open Sauce Light"/>
            </a:endParaRPr>
          </a:p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zh-CN" sz="2400" spc="-22">
                <a:solidFill>
                  <a:srgbClr val="1F191A"/>
                </a:solidFill>
                <a:highlight>
                  <a:srgbClr val="FFFF00"/>
                </a:highlight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（仅用于冷启动阶段）</a:t>
            </a:r>
            <a:endParaRPr sz="2400" spc="-22">
              <a:solidFill>
                <a:srgbClr val="1F191A"/>
              </a:solidFill>
              <a:highlight>
                <a:srgbClr val="FFFF00"/>
              </a:highlight>
              <a:latin typeface="STHeiti Light" panose="02010600040101010101" charset="-122"/>
              <a:ea typeface="STHeiti Light" panose="02010600040101010101" charset="-122"/>
              <a:cs typeface="Open Sauce Light"/>
              <a:sym typeface="Open Sauce Light"/>
            </a:endParaRPr>
          </a:p>
          <a:p>
            <a:pPr algn="ctr">
              <a:lnSpc>
                <a:spcPct val="100000"/>
              </a:lnSpc>
              <a:buClrTx/>
              <a:buSzTx/>
              <a:buFontTx/>
            </a:pPr>
            <a:endParaRPr lang="zh-CN" altLang="en-US" sz="2400" spc="-18">
              <a:solidFill>
                <a:schemeClr val="tx1"/>
              </a:solidFill>
              <a:highlight>
                <a:srgbClr val="FFFF00"/>
              </a:highlight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</a:endParaRPr>
          </a:p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zh-CN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自动全网抓取</a:t>
            </a:r>
            <a:r>
              <a:rPr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、清洗</a:t>
            </a:r>
            <a:r>
              <a:rPr lang="zh-CN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、润色全国</a:t>
            </a:r>
            <a:r>
              <a:rPr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实时线下活动信息，目前日均</a:t>
            </a:r>
            <a:r>
              <a:rPr lang="zh-CN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推送</a:t>
            </a:r>
            <a:r>
              <a:rPr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数千个实时活动，为用户提供持续更新的线下场景内容供给。</a:t>
            </a:r>
            <a:endParaRPr lang="zh-CN" altLang="en-US" sz="2400" spc="-22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Light"/>
              <a:sym typeface="Open Sauce Ligh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576060" y="3670300"/>
            <a:ext cx="4130675" cy="33566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sz="2400" spc="-22">
                <a:solidFill>
                  <a:srgbClr val="1F191A"/>
                </a:solidFill>
                <a:highlight>
                  <a:srgbClr val="FFFF00"/>
                </a:highlight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AI Agent</a:t>
            </a:r>
            <a:r>
              <a:rPr lang="zh-CN" sz="2400" spc="-22">
                <a:solidFill>
                  <a:srgbClr val="1F191A"/>
                </a:solidFill>
                <a:highlight>
                  <a:srgbClr val="FFFF00"/>
                </a:highlight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自动</a:t>
            </a:r>
            <a:r>
              <a:rPr lang="zh-CN" sz="2400" spc="-22">
                <a:solidFill>
                  <a:srgbClr val="1F191A"/>
                </a:solidFill>
                <a:highlight>
                  <a:srgbClr val="FFFF00"/>
                </a:highlight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组局</a:t>
            </a:r>
            <a:endParaRPr lang="zh-CN" sz="2400" spc="-22">
              <a:solidFill>
                <a:srgbClr val="1F191A"/>
              </a:solidFill>
              <a:highlight>
                <a:srgbClr val="FFFF00"/>
              </a:highlight>
              <a:latin typeface="STHeiti Light" panose="02010600040101010101" charset="-122"/>
              <a:ea typeface="STHeiti Light" panose="02010600040101010101" charset="-122"/>
              <a:cs typeface="Open Sauce Light"/>
              <a:sym typeface="Open Sauce Light"/>
            </a:endParaRPr>
          </a:p>
          <a:p>
            <a:pPr algn="ctr">
              <a:lnSpc>
                <a:spcPct val="100000"/>
              </a:lnSpc>
              <a:buClrTx/>
              <a:buSzTx/>
              <a:buFontTx/>
            </a:pPr>
            <a:endParaRPr lang="zh-CN" altLang="en-US" sz="2400" spc="-18">
              <a:solidFill>
                <a:schemeClr val="tx1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</a:endParaRPr>
          </a:p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基于AI Agent的个性化内容</a:t>
            </a:r>
            <a:r>
              <a:rPr lang="zh-CN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推送</a:t>
            </a:r>
            <a:r>
              <a:rPr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，帮助用户更精准、即时的找到符合喜好的活动与人群撮合成局。</a:t>
            </a:r>
            <a:r>
              <a:rPr lang="zh-CN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（降低</a:t>
            </a:r>
            <a:r>
              <a:rPr lang="en-US" altLang="zh-CN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I</a:t>
            </a:r>
            <a:r>
              <a:rPr lang="zh-CN" altLang="en-US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人邀约或赴约的心理门槛</a:t>
            </a:r>
            <a:r>
              <a:rPr lang="zh-CN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）</a:t>
            </a:r>
            <a:endParaRPr lang="zh-CN" sz="2400" spc="-22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Light"/>
              <a:sym typeface="Open Sauce Ligh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1735435" y="3670300"/>
            <a:ext cx="4130675" cy="3336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en-US" altLang="zh-CN" sz="2400" spc="-18">
                <a:solidFill>
                  <a:schemeClr val="tx1"/>
                </a:solidFill>
                <a:highlight>
                  <a:srgbClr val="FFFF00"/>
                </a:highlight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AI</a:t>
            </a:r>
            <a:r>
              <a:rPr lang="zh-CN" altLang="en-US" sz="2400" spc="-18">
                <a:solidFill>
                  <a:schemeClr val="tx1"/>
                </a:solidFill>
                <a:highlight>
                  <a:srgbClr val="FFFF00"/>
                </a:highlight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寻找</a:t>
            </a:r>
            <a:r>
              <a:rPr lang="zh-CN" altLang="en-US" sz="2400" spc="-18">
                <a:solidFill>
                  <a:schemeClr val="tx1"/>
                </a:solidFill>
                <a:highlight>
                  <a:srgbClr val="FFFF00"/>
                </a:highlight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高潜在</a:t>
            </a:r>
            <a:r>
              <a:rPr lang="zh-CN" altLang="en-US" sz="2400" spc="-18">
                <a:solidFill>
                  <a:schemeClr val="tx1"/>
                </a:solidFill>
                <a:highlight>
                  <a:srgbClr val="FFFF00"/>
                </a:highlight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用户</a:t>
            </a:r>
            <a:endParaRPr lang="zh-CN" altLang="en-US" sz="2400" spc="-18">
              <a:solidFill>
                <a:schemeClr val="tx1"/>
              </a:solidFill>
              <a:highlight>
                <a:srgbClr val="FFFF00"/>
              </a:highlight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</a:endParaRPr>
          </a:p>
          <a:p>
            <a:pPr algn="ctr">
              <a:lnSpc>
                <a:spcPct val="100000"/>
              </a:lnSpc>
              <a:buClrTx/>
              <a:buSzTx/>
              <a:buFontTx/>
            </a:pPr>
            <a:endParaRPr lang="zh-CN" altLang="en-US" sz="2400" spc="-18">
              <a:solidFill>
                <a:schemeClr val="tx1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</a:endParaRPr>
          </a:p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zh-CN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通过两种方式寻找高潜</a:t>
            </a:r>
            <a:r>
              <a:rPr lang="zh-CN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客户：</a:t>
            </a:r>
            <a:endParaRPr lang="zh-CN" sz="2400" spc="-22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Light"/>
              <a:sym typeface="Open Sauce Light"/>
            </a:endParaRPr>
          </a:p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en-US" altLang="zh-CN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1. </a:t>
            </a:r>
            <a:r>
              <a:rPr lang="zh-CN" altLang="en-US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将店内实时动态整理并推送给附近偏好符合且时间可接受的</a:t>
            </a:r>
            <a:r>
              <a:rPr lang="zh-CN" altLang="en-US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用户；</a:t>
            </a:r>
            <a:endParaRPr lang="zh-CN" altLang="en-US" sz="2400" spc="-22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Light"/>
              <a:sym typeface="Open Sauce Light"/>
            </a:endParaRPr>
          </a:p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en-US" altLang="zh-CN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2. </a:t>
            </a:r>
            <a:r>
              <a:rPr lang="zh-CN" altLang="en-US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以该商户作为地点，</a:t>
            </a:r>
            <a:r>
              <a:rPr lang="en-US" altLang="zh-CN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AI</a:t>
            </a:r>
            <a:r>
              <a:rPr lang="zh-CN" altLang="en-US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自动发布组局，撮合附近</a:t>
            </a:r>
            <a:r>
              <a:rPr lang="zh-CN" altLang="en-US" sz="2400" spc="-22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Light"/>
                <a:sym typeface="Open Sauce Light"/>
              </a:rPr>
              <a:t>用户；</a:t>
            </a:r>
            <a:endParaRPr lang="zh-CN" altLang="en-US" sz="2400" spc="-22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Light"/>
              <a:sym typeface="Open Sauce Ligh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3000" y="8267700"/>
            <a:ext cx="1172464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olidFill>
                  <a:srgbClr val="000000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基于用户画像、兴趣标签、历史行为、时间偏好、位置轨迹、周边活动和参与人群特征建立向量数据库，借助大模型理解用户的自然语言需求与临时意图，通过多维召回与生成式推荐，为用户自动筛选更适合参加的活动与潜在同好。使得产品从一个地图信息工具进一步升级为由</a:t>
            </a:r>
            <a:r>
              <a:rPr lang="en-US" altLang="zh-CN" sz="2400" dirty="0">
                <a:solidFill>
                  <a:srgbClr val="000000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AI</a:t>
            </a:r>
            <a:r>
              <a:rPr lang="zh-CN" altLang="en-US" sz="2400" dirty="0">
                <a:solidFill>
                  <a:srgbClr val="000000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驱动的即时线下社交撮合系统</a:t>
            </a:r>
            <a:endParaRPr lang="zh-CN" altLang="en-US" sz="2400" dirty="0">
              <a:solidFill>
                <a:srgbClr val="000000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1010" y="8039100"/>
            <a:ext cx="681990" cy="503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>
                <a:latin typeface="STHeiti Light" panose="02010600040101010101" charset="-122"/>
                <a:ea typeface="STHeiti Light" panose="02010600040101010101" charset="-122"/>
              </a:rPr>
              <a:t>“</a:t>
            </a:r>
            <a:endParaRPr lang="zh-CN" altLang="en-US" sz="4000"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573000" y="9486900"/>
            <a:ext cx="681990" cy="503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>
                <a:latin typeface="STHeiti Light" panose="02010600040101010101" charset="-122"/>
                <a:ea typeface="STHeiti Light" panose="02010600040101010101" charset="-122"/>
              </a:rPr>
              <a:t>”</a:t>
            </a:r>
            <a:endParaRPr lang="zh-CN" altLang="en-US" sz="4000">
              <a:latin typeface="STHeiti Light" panose="02010600040101010101" charset="-122"/>
              <a:ea typeface="STHeiti Light" panose="020106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12"/>
          <p:cNvSpPr txBox="1"/>
          <p:nvPr/>
        </p:nvSpPr>
        <p:spPr>
          <a:xfrm>
            <a:off x="990600" y="612140"/>
            <a:ext cx="16177260" cy="1140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8895"/>
              </a:lnSpc>
              <a:spcBef>
                <a:spcPct val="0"/>
              </a:spcBef>
            </a:pPr>
            <a:r>
              <a:rPr lang="zh-CN" altLang="en-US" sz="8000" b="1" spc="-266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Aileron Bold"/>
                <a:sym typeface="Aileron Bold"/>
              </a:rPr>
              <a:t>盈利模式</a:t>
            </a:r>
            <a:endParaRPr lang="zh-CN" altLang="en-US" sz="8000" b="1" spc="-266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cs typeface="Aileron Bold"/>
              <a:sym typeface="Aileron Bold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14400" y="2019300"/>
            <a:ext cx="1607502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2800" spc="-18">
                <a:solidFill>
                  <a:schemeClr val="tx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主要包括商户权益、会员</a:t>
            </a:r>
            <a:r>
              <a:rPr lang="zh-CN" altLang="en-US" sz="2800" spc="-18">
                <a:solidFill>
                  <a:schemeClr val="tx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权益、推广、增值</a:t>
            </a:r>
            <a:r>
              <a:rPr lang="zh-CN" altLang="en-US" sz="2800" spc="-18">
                <a:solidFill>
                  <a:schemeClr val="tx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服务、佣金。其中商户服务预计将成为早期收入来源，广告和增值服务则是中长期主要增长引擎</a:t>
            </a:r>
            <a:endParaRPr lang="zh-CN" altLang="en-US" sz="2800" spc="-18">
              <a:solidFill>
                <a:schemeClr val="tx1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2800" b="1" spc="-18">
                <a:solidFill>
                  <a:schemeClr val="tx1"/>
                </a:solidFill>
                <a:highlight>
                  <a:srgbClr val="FFFF00"/>
                </a:highlight>
                <a:latin typeface="STHeiti Regular" panose="02010600040101010101" charset="-122"/>
                <a:ea typeface="STHeiti Regular" panose="02010600040101010101" charset="-122"/>
                <a:cs typeface="STHeiti Light" panose="02010600040101010101" charset="-122"/>
              </a:rPr>
              <a:t>让用户愿意为新的体验付费，而不是加重商户成本</a:t>
            </a:r>
            <a:r>
              <a:rPr lang="zh-CN" altLang="en-US" sz="2800" b="1" spc="-18">
                <a:solidFill>
                  <a:schemeClr val="tx1"/>
                </a:solidFill>
                <a:highlight>
                  <a:srgbClr val="FFFF00"/>
                </a:highlight>
                <a:latin typeface="STHeiti Regular" panose="02010600040101010101" charset="-122"/>
                <a:ea typeface="STHeiti Regular" panose="02010600040101010101" charset="-122"/>
                <a:cs typeface="STHeiti Light" panose="02010600040101010101" charset="-122"/>
              </a:rPr>
              <a:t>来换取流量</a:t>
            </a:r>
            <a:endParaRPr lang="zh-CN" altLang="en-US" sz="2800" b="1" spc="-18">
              <a:solidFill>
                <a:schemeClr val="tx1"/>
              </a:solidFill>
              <a:highlight>
                <a:srgbClr val="FFFF00"/>
              </a:highlight>
              <a:latin typeface="STHeiti Regular" panose="02010600040101010101" charset="-122"/>
              <a:ea typeface="STHeiti Regular" panose="02010600040101010101" charset="-122"/>
              <a:cs typeface="STHeiti Light" panose="02010600040101010101" charset="-122"/>
            </a:endParaRPr>
          </a:p>
        </p:txBody>
      </p:sp>
      <p:pic>
        <p:nvPicPr>
          <p:cNvPr id="17" name="图片 16" descr="商业化指引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200" y="758190"/>
            <a:ext cx="804545" cy="804545"/>
          </a:xfrm>
          <a:prstGeom prst="rect">
            <a:avLst/>
          </a:prstGeom>
        </p:spPr>
      </p:pic>
      <p:sp>
        <p:nvSpPr>
          <p:cNvPr id="78" name="任意多边形: 形状 30"/>
          <p:cNvSpPr/>
          <p:nvPr>
            <p:custDataLst>
              <p:tags r:id="rId2"/>
            </p:custDataLst>
          </p:nvPr>
        </p:nvSpPr>
        <p:spPr>
          <a:xfrm>
            <a:off x="1096328" y="3798385"/>
            <a:ext cx="3816691" cy="3428679"/>
          </a:xfrm>
          <a:custGeom>
            <a:avLst/>
            <a:gdLst>
              <a:gd name="connsiteX0" fmla="*/ 646744 w 2493990"/>
              <a:gd name="connsiteY0" fmla="*/ 0 h 2240387"/>
              <a:gd name="connsiteX1" fmla="*/ 1940233 w 2493990"/>
              <a:gd name="connsiteY1" fmla="*/ 0 h 2240387"/>
              <a:gd name="connsiteX2" fmla="*/ 2493990 w 2493990"/>
              <a:gd name="connsiteY2" fmla="*/ 959135 h 2240387"/>
              <a:gd name="connsiteX3" fmla="*/ 2493990 w 2493990"/>
              <a:gd name="connsiteY3" fmla="*/ 1287748 h 2240387"/>
              <a:gd name="connsiteX4" fmla="*/ 2483516 w 2493990"/>
              <a:gd name="connsiteY4" fmla="*/ 1305700 h 2240387"/>
              <a:gd name="connsiteX5" fmla="*/ 1940233 w 2493990"/>
              <a:gd name="connsiteY5" fmla="*/ 2240387 h 2240387"/>
              <a:gd name="connsiteX6" fmla="*/ 646744 w 2493990"/>
              <a:gd name="connsiteY6" fmla="*/ 2240387 h 2240387"/>
              <a:gd name="connsiteX7" fmla="*/ 0 w 2493990"/>
              <a:gd name="connsiteY7" fmla="*/ 1120194 h 2240387"/>
              <a:gd name="connsiteX0-1" fmla="*/ 646744 w 2493990"/>
              <a:gd name="connsiteY0-2" fmla="*/ 0 h 2240387"/>
              <a:gd name="connsiteX1-3" fmla="*/ 1940233 w 2493990"/>
              <a:gd name="connsiteY1-4" fmla="*/ 0 h 2240387"/>
              <a:gd name="connsiteX2-5" fmla="*/ 2493990 w 2493990"/>
              <a:gd name="connsiteY2-6" fmla="*/ 959135 h 2240387"/>
              <a:gd name="connsiteX3-7" fmla="*/ 2493384 w 2493990"/>
              <a:gd name="connsiteY3-8" fmla="*/ 1135566 h 2240387"/>
              <a:gd name="connsiteX4-9" fmla="*/ 2493990 w 2493990"/>
              <a:gd name="connsiteY4-10" fmla="*/ 1287748 h 2240387"/>
              <a:gd name="connsiteX5-11" fmla="*/ 2483516 w 2493990"/>
              <a:gd name="connsiteY5-12" fmla="*/ 1305700 h 2240387"/>
              <a:gd name="connsiteX6-13" fmla="*/ 1940233 w 2493990"/>
              <a:gd name="connsiteY6-14" fmla="*/ 2240387 h 2240387"/>
              <a:gd name="connsiteX7-15" fmla="*/ 646744 w 2493990"/>
              <a:gd name="connsiteY7-16" fmla="*/ 2240387 h 2240387"/>
              <a:gd name="connsiteX8" fmla="*/ 0 w 2493990"/>
              <a:gd name="connsiteY8" fmla="*/ 1120194 h 2240387"/>
              <a:gd name="connsiteX9" fmla="*/ 646744 w 2493990"/>
              <a:gd name="connsiteY9" fmla="*/ 0 h 2240387"/>
              <a:gd name="connsiteX0-17" fmla="*/ 646744 w 2493990"/>
              <a:gd name="connsiteY0-18" fmla="*/ 0 h 2240387"/>
              <a:gd name="connsiteX1-19" fmla="*/ 1940233 w 2493990"/>
              <a:gd name="connsiteY1-20" fmla="*/ 0 h 2240387"/>
              <a:gd name="connsiteX2-21" fmla="*/ 2493990 w 2493990"/>
              <a:gd name="connsiteY2-22" fmla="*/ 959135 h 2240387"/>
              <a:gd name="connsiteX3-23" fmla="*/ 2493384 w 2493990"/>
              <a:gd name="connsiteY3-24" fmla="*/ 1135566 h 2240387"/>
              <a:gd name="connsiteX4-25" fmla="*/ 2493990 w 2493990"/>
              <a:gd name="connsiteY4-26" fmla="*/ 1287748 h 2240387"/>
              <a:gd name="connsiteX5-27" fmla="*/ 2483516 w 2493990"/>
              <a:gd name="connsiteY5-28" fmla="*/ 1305700 h 2240387"/>
              <a:gd name="connsiteX6-29" fmla="*/ 1940233 w 2493990"/>
              <a:gd name="connsiteY6-30" fmla="*/ 2240387 h 2240387"/>
              <a:gd name="connsiteX7-31" fmla="*/ 646744 w 2493990"/>
              <a:gd name="connsiteY7-32" fmla="*/ 2240387 h 2240387"/>
              <a:gd name="connsiteX8-33" fmla="*/ 0 w 2493990"/>
              <a:gd name="connsiteY8-34" fmla="*/ 1120194 h 2240387"/>
              <a:gd name="connsiteX9-35" fmla="*/ 646744 w 2493990"/>
              <a:gd name="connsiteY9-36" fmla="*/ 0 h 2240387"/>
              <a:gd name="connsiteX0-37" fmla="*/ 2493384 w 2584824"/>
              <a:gd name="connsiteY0-38" fmla="*/ 1135566 h 2240387"/>
              <a:gd name="connsiteX1-39" fmla="*/ 2493990 w 2584824"/>
              <a:gd name="connsiteY1-40" fmla="*/ 1287748 h 2240387"/>
              <a:gd name="connsiteX2-41" fmla="*/ 2483516 w 2584824"/>
              <a:gd name="connsiteY2-42" fmla="*/ 1305700 h 2240387"/>
              <a:gd name="connsiteX3-43" fmla="*/ 1940233 w 2584824"/>
              <a:gd name="connsiteY3-44" fmla="*/ 2240387 h 2240387"/>
              <a:gd name="connsiteX4-45" fmla="*/ 646744 w 2584824"/>
              <a:gd name="connsiteY4-46" fmla="*/ 2240387 h 2240387"/>
              <a:gd name="connsiteX5-47" fmla="*/ 0 w 2584824"/>
              <a:gd name="connsiteY5-48" fmla="*/ 1120194 h 2240387"/>
              <a:gd name="connsiteX6-49" fmla="*/ 646744 w 2584824"/>
              <a:gd name="connsiteY6-50" fmla="*/ 0 h 2240387"/>
              <a:gd name="connsiteX7-51" fmla="*/ 1940233 w 2584824"/>
              <a:gd name="connsiteY7-52" fmla="*/ 0 h 2240387"/>
              <a:gd name="connsiteX8-53" fmla="*/ 2493990 w 2584824"/>
              <a:gd name="connsiteY8-54" fmla="*/ 959135 h 2240387"/>
              <a:gd name="connsiteX9-55" fmla="*/ 2584824 w 2584824"/>
              <a:gd name="connsiteY9-56" fmla="*/ 1227006 h 2240387"/>
              <a:gd name="connsiteX0-57" fmla="*/ 2493384 w 2493990"/>
              <a:gd name="connsiteY0-58" fmla="*/ 1135566 h 2240387"/>
              <a:gd name="connsiteX1-59" fmla="*/ 2493990 w 2493990"/>
              <a:gd name="connsiteY1-60" fmla="*/ 1287748 h 2240387"/>
              <a:gd name="connsiteX2-61" fmla="*/ 2483516 w 2493990"/>
              <a:gd name="connsiteY2-62" fmla="*/ 1305700 h 2240387"/>
              <a:gd name="connsiteX3-63" fmla="*/ 1940233 w 2493990"/>
              <a:gd name="connsiteY3-64" fmla="*/ 2240387 h 2240387"/>
              <a:gd name="connsiteX4-65" fmla="*/ 646744 w 2493990"/>
              <a:gd name="connsiteY4-66" fmla="*/ 2240387 h 2240387"/>
              <a:gd name="connsiteX5-67" fmla="*/ 0 w 2493990"/>
              <a:gd name="connsiteY5-68" fmla="*/ 1120194 h 2240387"/>
              <a:gd name="connsiteX6-69" fmla="*/ 646744 w 2493990"/>
              <a:gd name="connsiteY6-70" fmla="*/ 0 h 2240387"/>
              <a:gd name="connsiteX7-71" fmla="*/ 1940233 w 2493990"/>
              <a:gd name="connsiteY7-72" fmla="*/ 0 h 2240387"/>
              <a:gd name="connsiteX8-73" fmla="*/ 2493990 w 2493990"/>
              <a:gd name="connsiteY8-74" fmla="*/ 959135 h 2240387"/>
              <a:gd name="connsiteX0-75" fmla="*/ 2493990 w 2493990"/>
              <a:gd name="connsiteY0-76" fmla="*/ 1287748 h 2240387"/>
              <a:gd name="connsiteX1-77" fmla="*/ 2483516 w 2493990"/>
              <a:gd name="connsiteY1-78" fmla="*/ 1305700 h 2240387"/>
              <a:gd name="connsiteX2-79" fmla="*/ 1940233 w 2493990"/>
              <a:gd name="connsiteY2-80" fmla="*/ 2240387 h 2240387"/>
              <a:gd name="connsiteX3-81" fmla="*/ 646744 w 2493990"/>
              <a:gd name="connsiteY3-82" fmla="*/ 2240387 h 2240387"/>
              <a:gd name="connsiteX4-83" fmla="*/ 0 w 2493990"/>
              <a:gd name="connsiteY4-84" fmla="*/ 1120194 h 2240387"/>
              <a:gd name="connsiteX5-85" fmla="*/ 646744 w 2493990"/>
              <a:gd name="connsiteY5-86" fmla="*/ 0 h 2240387"/>
              <a:gd name="connsiteX6-87" fmla="*/ 1940233 w 2493990"/>
              <a:gd name="connsiteY6-88" fmla="*/ 0 h 2240387"/>
              <a:gd name="connsiteX7-89" fmla="*/ 2493990 w 2493990"/>
              <a:gd name="connsiteY7-90" fmla="*/ 959135 h 22403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93990" h="2240387">
                <a:moveTo>
                  <a:pt x="2493990" y="1287748"/>
                </a:moveTo>
                <a:lnTo>
                  <a:pt x="2483516" y="1305700"/>
                </a:lnTo>
                <a:lnTo>
                  <a:pt x="1940233" y="2240387"/>
                </a:lnTo>
                <a:lnTo>
                  <a:pt x="646744" y="2240387"/>
                </a:lnTo>
                <a:lnTo>
                  <a:pt x="0" y="1120194"/>
                </a:lnTo>
                <a:lnTo>
                  <a:pt x="646744" y="0"/>
                </a:lnTo>
                <a:lnTo>
                  <a:pt x="1940233" y="0"/>
                </a:lnTo>
                <a:lnTo>
                  <a:pt x="2493990" y="959135"/>
                </a:lnTo>
              </a:path>
            </a:pathLst>
          </a:custGeom>
          <a:noFill/>
          <a:ln w="12700">
            <a:solidFill>
              <a:schemeClr val="accent6">
                <a:alpha val="20000"/>
              </a:schemeClr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dirty="0">
              <a:solidFill>
                <a:schemeClr val="lt1"/>
              </a:solidFill>
            </a:endParaRPr>
          </a:p>
        </p:txBody>
      </p:sp>
      <p:sp>
        <p:nvSpPr>
          <p:cNvPr id="79" name="任意多边形: 形状 38"/>
          <p:cNvSpPr/>
          <p:nvPr>
            <p:custDataLst>
              <p:tags r:id="rId3"/>
            </p:custDataLst>
          </p:nvPr>
        </p:nvSpPr>
        <p:spPr>
          <a:xfrm>
            <a:off x="12972653" y="3798385"/>
            <a:ext cx="3958464" cy="3428679"/>
          </a:xfrm>
          <a:custGeom>
            <a:avLst/>
            <a:gdLst>
              <a:gd name="connsiteX0" fmla="*/ 646744 w 2586977"/>
              <a:gd name="connsiteY0" fmla="*/ 0 h 2240387"/>
              <a:gd name="connsiteX1" fmla="*/ 1940233 w 2586977"/>
              <a:gd name="connsiteY1" fmla="*/ 0 h 2240387"/>
              <a:gd name="connsiteX2" fmla="*/ 2586977 w 2586977"/>
              <a:gd name="connsiteY2" fmla="*/ 1120194 h 2240387"/>
              <a:gd name="connsiteX3" fmla="*/ 1940233 w 2586977"/>
              <a:gd name="connsiteY3" fmla="*/ 2240387 h 2240387"/>
              <a:gd name="connsiteX4" fmla="*/ 736693 w 2586977"/>
              <a:gd name="connsiteY4" fmla="*/ 2240387 h 2240387"/>
              <a:gd name="connsiteX5" fmla="*/ 736693 w 2586977"/>
              <a:gd name="connsiteY5" fmla="*/ 1726018 h 2240387"/>
              <a:gd name="connsiteX6" fmla="*/ 561841 w 2586977"/>
              <a:gd name="connsiteY6" fmla="*/ 1726018 h 2240387"/>
              <a:gd name="connsiteX7" fmla="*/ 561841 w 2586977"/>
              <a:gd name="connsiteY7" fmla="*/ 2093331 h 2240387"/>
              <a:gd name="connsiteX8" fmla="*/ 0 w 2586977"/>
              <a:gd name="connsiteY8" fmla="*/ 1120194 h 2240387"/>
              <a:gd name="connsiteX0-1" fmla="*/ 736693 w 2586977"/>
              <a:gd name="connsiteY0-2" fmla="*/ 1726018 h 2240387"/>
              <a:gd name="connsiteX1-3" fmla="*/ 561841 w 2586977"/>
              <a:gd name="connsiteY1-4" fmla="*/ 1726018 h 2240387"/>
              <a:gd name="connsiteX2-5" fmla="*/ 561841 w 2586977"/>
              <a:gd name="connsiteY2-6" fmla="*/ 2093331 h 2240387"/>
              <a:gd name="connsiteX3-7" fmla="*/ 0 w 2586977"/>
              <a:gd name="connsiteY3-8" fmla="*/ 1120194 h 2240387"/>
              <a:gd name="connsiteX4-9" fmla="*/ 646744 w 2586977"/>
              <a:gd name="connsiteY4-10" fmla="*/ 0 h 2240387"/>
              <a:gd name="connsiteX5-11" fmla="*/ 1940233 w 2586977"/>
              <a:gd name="connsiteY5-12" fmla="*/ 0 h 2240387"/>
              <a:gd name="connsiteX6-13" fmla="*/ 2586977 w 2586977"/>
              <a:gd name="connsiteY6-14" fmla="*/ 1120194 h 2240387"/>
              <a:gd name="connsiteX7-15" fmla="*/ 1940233 w 2586977"/>
              <a:gd name="connsiteY7-16" fmla="*/ 2240387 h 2240387"/>
              <a:gd name="connsiteX8-17" fmla="*/ 736693 w 2586977"/>
              <a:gd name="connsiteY8-18" fmla="*/ 2240387 h 2240387"/>
              <a:gd name="connsiteX9" fmla="*/ 828133 w 2586977"/>
              <a:gd name="connsiteY9" fmla="*/ 1817458 h 2240387"/>
              <a:gd name="connsiteX0-19" fmla="*/ 736693 w 2586977"/>
              <a:gd name="connsiteY0-20" fmla="*/ 1726018 h 2240387"/>
              <a:gd name="connsiteX1-21" fmla="*/ 561841 w 2586977"/>
              <a:gd name="connsiteY1-22" fmla="*/ 1726018 h 2240387"/>
              <a:gd name="connsiteX2-23" fmla="*/ 561841 w 2586977"/>
              <a:gd name="connsiteY2-24" fmla="*/ 2093331 h 2240387"/>
              <a:gd name="connsiteX3-25" fmla="*/ 0 w 2586977"/>
              <a:gd name="connsiteY3-26" fmla="*/ 1120194 h 2240387"/>
              <a:gd name="connsiteX4-27" fmla="*/ 646744 w 2586977"/>
              <a:gd name="connsiteY4-28" fmla="*/ 0 h 2240387"/>
              <a:gd name="connsiteX5-29" fmla="*/ 1940233 w 2586977"/>
              <a:gd name="connsiteY5-30" fmla="*/ 0 h 2240387"/>
              <a:gd name="connsiteX6-31" fmla="*/ 2586977 w 2586977"/>
              <a:gd name="connsiteY6-32" fmla="*/ 1120194 h 2240387"/>
              <a:gd name="connsiteX7-33" fmla="*/ 1940233 w 2586977"/>
              <a:gd name="connsiteY7-34" fmla="*/ 2240387 h 2240387"/>
              <a:gd name="connsiteX8-35" fmla="*/ 736693 w 2586977"/>
              <a:gd name="connsiteY8-36" fmla="*/ 2240387 h 2240387"/>
              <a:gd name="connsiteX0-37" fmla="*/ 561841 w 2586977"/>
              <a:gd name="connsiteY0-38" fmla="*/ 1726018 h 2240387"/>
              <a:gd name="connsiteX1-39" fmla="*/ 561841 w 2586977"/>
              <a:gd name="connsiteY1-40" fmla="*/ 2093331 h 2240387"/>
              <a:gd name="connsiteX2-41" fmla="*/ 0 w 2586977"/>
              <a:gd name="connsiteY2-42" fmla="*/ 1120194 h 2240387"/>
              <a:gd name="connsiteX3-43" fmla="*/ 646744 w 2586977"/>
              <a:gd name="connsiteY3-44" fmla="*/ 0 h 2240387"/>
              <a:gd name="connsiteX4-45" fmla="*/ 1940233 w 2586977"/>
              <a:gd name="connsiteY4-46" fmla="*/ 0 h 2240387"/>
              <a:gd name="connsiteX5-47" fmla="*/ 2586977 w 2586977"/>
              <a:gd name="connsiteY5-48" fmla="*/ 1120194 h 2240387"/>
              <a:gd name="connsiteX6-49" fmla="*/ 1940233 w 2586977"/>
              <a:gd name="connsiteY6-50" fmla="*/ 2240387 h 2240387"/>
              <a:gd name="connsiteX7-51" fmla="*/ 736693 w 2586977"/>
              <a:gd name="connsiteY7-52" fmla="*/ 2240387 h 2240387"/>
              <a:gd name="connsiteX0-53" fmla="*/ 561841 w 2586977"/>
              <a:gd name="connsiteY0-54" fmla="*/ 2093331 h 2240387"/>
              <a:gd name="connsiteX1-55" fmla="*/ 0 w 2586977"/>
              <a:gd name="connsiteY1-56" fmla="*/ 1120194 h 2240387"/>
              <a:gd name="connsiteX2-57" fmla="*/ 646744 w 2586977"/>
              <a:gd name="connsiteY2-58" fmla="*/ 0 h 2240387"/>
              <a:gd name="connsiteX3-59" fmla="*/ 1940233 w 2586977"/>
              <a:gd name="connsiteY3-60" fmla="*/ 0 h 2240387"/>
              <a:gd name="connsiteX4-61" fmla="*/ 2586977 w 2586977"/>
              <a:gd name="connsiteY4-62" fmla="*/ 1120194 h 2240387"/>
              <a:gd name="connsiteX5-63" fmla="*/ 1940233 w 2586977"/>
              <a:gd name="connsiteY5-64" fmla="*/ 2240387 h 2240387"/>
              <a:gd name="connsiteX6-65" fmla="*/ 736693 w 2586977"/>
              <a:gd name="connsiteY6-66" fmla="*/ 2240387 h 22403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586977" h="2240387">
                <a:moveTo>
                  <a:pt x="561841" y="2093331"/>
                </a:moveTo>
                <a:lnTo>
                  <a:pt x="0" y="1120194"/>
                </a:lnTo>
                <a:lnTo>
                  <a:pt x="646744" y="0"/>
                </a:lnTo>
                <a:lnTo>
                  <a:pt x="1940233" y="0"/>
                </a:lnTo>
                <a:lnTo>
                  <a:pt x="2586977" y="1120194"/>
                </a:lnTo>
                <a:lnTo>
                  <a:pt x="1940233" y="2240387"/>
                </a:lnTo>
                <a:lnTo>
                  <a:pt x="736693" y="2240387"/>
                </a:lnTo>
              </a:path>
            </a:pathLst>
          </a:custGeom>
          <a:noFill/>
          <a:ln w="12700">
            <a:solidFill>
              <a:schemeClr val="accent6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0" name="任意多边形: 形状 36"/>
          <p:cNvSpPr/>
          <p:nvPr>
            <p:custDataLst>
              <p:tags r:id="rId4"/>
            </p:custDataLst>
          </p:nvPr>
        </p:nvSpPr>
        <p:spPr>
          <a:xfrm>
            <a:off x="7034957" y="3798385"/>
            <a:ext cx="3824153" cy="3428679"/>
          </a:xfrm>
          <a:custGeom>
            <a:avLst/>
            <a:gdLst>
              <a:gd name="connsiteX0" fmla="*/ 646745 w 2498882"/>
              <a:gd name="connsiteY0" fmla="*/ 0 h 2240387"/>
              <a:gd name="connsiteX1" fmla="*/ 1940233 w 2498882"/>
              <a:gd name="connsiteY1" fmla="*/ 0 h 2240387"/>
              <a:gd name="connsiteX2" fmla="*/ 2498882 w 2498882"/>
              <a:gd name="connsiteY2" fmla="*/ 967609 h 2240387"/>
              <a:gd name="connsiteX3" fmla="*/ 2498882 w 2498882"/>
              <a:gd name="connsiteY3" fmla="*/ 1272779 h 2240387"/>
              <a:gd name="connsiteX4" fmla="*/ 1940233 w 2498882"/>
              <a:gd name="connsiteY4" fmla="*/ 2240387 h 2240387"/>
              <a:gd name="connsiteX5" fmla="*/ 646745 w 2498882"/>
              <a:gd name="connsiteY5" fmla="*/ 2240387 h 2240387"/>
              <a:gd name="connsiteX6" fmla="*/ 0 w 2498882"/>
              <a:gd name="connsiteY6" fmla="*/ 1120194 h 2240387"/>
              <a:gd name="connsiteX0-1" fmla="*/ 646745 w 2498882"/>
              <a:gd name="connsiteY0-2" fmla="*/ 0 h 2240387"/>
              <a:gd name="connsiteX1-3" fmla="*/ 1940233 w 2498882"/>
              <a:gd name="connsiteY1-4" fmla="*/ 0 h 2240387"/>
              <a:gd name="connsiteX2-5" fmla="*/ 2498882 w 2498882"/>
              <a:gd name="connsiteY2-6" fmla="*/ 967609 h 2240387"/>
              <a:gd name="connsiteX3-7" fmla="*/ 2493887 w 2498882"/>
              <a:gd name="connsiteY3-8" fmla="*/ 1110572 h 2240387"/>
              <a:gd name="connsiteX4-9" fmla="*/ 2498882 w 2498882"/>
              <a:gd name="connsiteY4-10" fmla="*/ 1272779 h 2240387"/>
              <a:gd name="connsiteX5-11" fmla="*/ 1940233 w 2498882"/>
              <a:gd name="connsiteY5-12" fmla="*/ 2240387 h 2240387"/>
              <a:gd name="connsiteX6-13" fmla="*/ 646745 w 2498882"/>
              <a:gd name="connsiteY6-14" fmla="*/ 2240387 h 2240387"/>
              <a:gd name="connsiteX7" fmla="*/ 0 w 2498882"/>
              <a:gd name="connsiteY7" fmla="*/ 1120194 h 2240387"/>
              <a:gd name="connsiteX8" fmla="*/ 646745 w 2498882"/>
              <a:gd name="connsiteY8" fmla="*/ 0 h 2240387"/>
              <a:gd name="connsiteX0-15" fmla="*/ 2493887 w 2585327"/>
              <a:gd name="connsiteY0-16" fmla="*/ 1110572 h 2240387"/>
              <a:gd name="connsiteX1-17" fmla="*/ 2498882 w 2585327"/>
              <a:gd name="connsiteY1-18" fmla="*/ 1272779 h 2240387"/>
              <a:gd name="connsiteX2-19" fmla="*/ 1940233 w 2585327"/>
              <a:gd name="connsiteY2-20" fmla="*/ 2240387 h 2240387"/>
              <a:gd name="connsiteX3-21" fmla="*/ 646745 w 2585327"/>
              <a:gd name="connsiteY3-22" fmla="*/ 2240387 h 2240387"/>
              <a:gd name="connsiteX4-23" fmla="*/ 0 w 2585327"/>
              <a:gd name="connsiteY4-24" fmla="*/ 1120194 h 2240387"/>
              <a:gd name="connsiteX5-25" fmla="*/ 646745 w 2585327"/>
              <a:gd name="connsiteY5-26" fmla="*/ 0 h 2240387"/>
              <a:gd name="connsiteX6-27" fmla="*/ 1940233 w 2585327"/>
              <a:gd name="connsiteY6-28" fmla="*/ 0 h 2240387"/>
              <a:gd name="connsiteX7-29" fmla="*/ 2498882 w 2585327"/>
              <a:gd name="connsiteY7-30" fmla="*/ 967609 h 2240387"/>
              <a:gd name="connsiteX8-31" fmla="*/ 2585327 w 2585327"/>
              <a:gd name="connsiteY8-32" fmla="*/ 1202012 h 2240387"/>
              <a:gd name="connsiteX0-33" fmla="*/ 2493887 w 2498882"/>
              <a:gd name="connsiteY0-34" fmla="*/ 1110572 h 2240387"/>
              <a:gd name="connsiteX1-35" fmla="*/ 2498882 w 2498882"/>
              <a:gd name="connsiteY1-36" fmla="*/ 1272779 h 2240387"/>
              <a:gd name="connsiteX2-37" fmla="*/ 1940233 w 2498882"/>
              <a:gd name="connsiteY2-38" fmla="*/ 2240387 h 2240387"/>
              <a:gd name="connsiteX3-39" fmla="*/ 646745 w 2498882"/>
              <a:gd name="connsiteY3-40" fmla="*/ 2240387 h 2240387"/>
              <a:gd name="connsiteX4-41" fmla="*/ 0 w 2498882"/>
              <a:gd name="connsiteY4-42" fmla="*/ 1120194 h 2240387"/>
              <a:gd name="connsiteX5-43" fmla="*/ 646745 w 2498882"/>
              <a:gd name="connsiteY5-44" fmla="*/ 0 h 2240387"/>
              <a:gd name="connsiteX6-45" fmla="*/ 1940233 w 2498882"/>
              <a:gd name="connsiteY6-46" fmla="*/ 0 h 2240387"/>
              <a:gd name="connsiteX7-47" fmla="*/ 2498882 w 2498882"/>
              <a:gd name="connsiteY7-48" fmla="*/ 967609 h 2240387"/>
              <a:gd name="connsiteX0-49" fmla="*/ 2498882 w 2498882"/>
              <a:gd name="connsiteY0-50" fmla="*/ 1272779 h 2240387"/>
              <a:gd name="connsiteX1-51" fmla="*/ 1940233 w 2498882"/>
              <a:gd name="connsiteY1-52" fmla="*/ 2240387 h 2240387"/>
              <a:gd name="connsiteX2-53" fmla="*/ 646745 w 2498882"/>
              <a:gd name="connsiteY2-54" fmla="*/ 2240387 h 2240387"/>
              <a:gd name="connsiteX3-55" fmla="*/ 0 w 2498882"/>
              <a:gd name="connsiteY3-56" fmla="*/ 1120194 h 2240387"/>
              <a:gd name="connsiteX4-57" fmla="*/ 646745 w 2498882"/>
              <a:gd name="connsiteY4-58" fmla="*/ 0 h 2240387"/>
              <a:gd name="connsiteX5-59" fmla="*/ 1940233 w 2498882"/>
              <a:gd name="connsiteY5-60" fmla="*/ 0 h 2240387"/>
              <a:gd name="connsiteX6-61" fmla="*/ 2498882 w 2498882"/>
              <a:gd name="connsiteY6-62" fmla="*/ 967609 h 22403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498882" h="2240387">
                <a:moveTo>
                  <a:pt x="2498882" y="1272779"/>
                </a:moveTo>
                <a:lnTo>
                  <a:pt x="1940233" y="2240387"/>
                </a:lnTo>
                <a:lnTo>
                  <a:pt x="646745" y="2240387"/>
                </a:lnTo>
                <a:lnTo>
                  <a:pt x="0" y="1120194"/>
                </a:lnTo>
                <a:lnTo>
                  <a:pt x="646745" y="0"/>
                </a:lnTo>
                <a:lnTo>
                  <a:pt x="1940233" y="0"/>
                </a:lnTo>
                <a:lnTo>
                  <a:pt x="2498882" y="967609"/>
                </a:lnTo>
              </a:path>
            </a:pathLst>
          </a:custGeom>
          <a:noFill/>
          <a:ln w="12700">
            <a:solidFill>
              <a:schemeClr val="accent6">
                <a:alpha val="20000"/>
              </a:schemeClr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81" name="任意多边形: 形状 53"/>
          <p:cNvSpPr/>
          <p:nvPr>
            <p:custDataLst>
              <p:tags r:id="rId5"/>
            </p:custDataLst>
          </p:nvPr>
        </p:nvSpPr>
        <p:spPr>
          <a:xfrm>
            <a:off x="5180709" y="5511792"/>
            <a:ext cx="2843864" cy="1714340"/>
          </a:xfrm>
          <a:custGeom>
            <a:avLst/>
            <a:gdLst>
              <a:gd name="connsiteX0" fmla="*/ 728609 w 2586977"/>
              <a:gd name="connsiteY0" fmla="*/ 0 h 2240387"/>
              <a:gd name="connsiteX1" fmla="*/ 1940233 w 2586977"/>
              <a:gd name="connsiteY1" fmla="*/ 0 h 2240387"/>
              <a:gd name="connsiteX2" fmla="*/ 2586977 w 2586977"/>
              <a:gd name="connsiteY2" fmla="*/ 1120194 h 2240387"/>
              <a:gd name="connsiteX3" fmla="*/ 1940233 w 2586977"/>
              <a:gd name="connsiteY3" fmla="*/ 2240387 h 2240387"/>
              <a:gd name="connsiteX4" fmla="*/ 646744 w 2586977"/>
              <a:gd name="connsiteY4" fmla="*/ 2240387 h 2240387"/>
              <a:gd name="connsiteX5" fmla="*/ 0 w 2586977"/>
              <a:gd name="connsiteY5" fmla="*/ 1120194 h 2240387"/>
              <a:gd name="connsiteX6" fmla="*/ 553757 w 2586977"/>
              <a:gd name="connsiteY6" fmla="*/ 161059 h 2240387"/>
              <a:gd name="connsiteX7" fmla="*/ 553757 w 2586977"/>
              <a:gd name="connsiteY7" fmla="*/ 758695 h 2240387"/>
              <a:gd name="connsiteX8" fmla="*/ 728609 w 2586977"/>
              <a:gd name="connsiteY8" fmla="*/ 758695 h 2240387"/>
              <a:gd name="connsiteX0-1" fmla="*/ 728609 w 2586977"/>
              <a:gd name="connsiteY0-2" fmla="*/ 758695 h 2240387"/>
              <a:gd name="connsiteX1-3" fmla="*/ 728609 w 2586977"/>
              <a:gd name="connsiteY1-4" fmla="*/ 0 h 2240387"/>
              <a:gd name="connsiteX2-5" fmla="*/ 1940233 w 2586977"/>
              <a:gd name="connsiteY2-6" fmla="*/ 0 h 2240387"/>
              <a:gd name="connsiteX3-7" fmla="*/ 2586977 w 2586977"/>
              <a:gd name="connsiteY3-8" fmla="*/ 1120194 h 2240387"/>
              <a:gd name="connsiteX4-9" fmla="*/ 1940233 w 2586977"/>
              <a:gd name="connsiteY4-10" fmla="*/ 2240387 h 2240387"/>
              <a:gd name="connsiteX5-11" fmla="*/ 646744 w 2586977"/>
              <a:gd name="connsiteY5-12" fmla="*/ 2240387 h 2240387"/>
              <a:gd name="connsiteX6-13" fmla="*/ 0 w 2586977"/>
              <a:gd name="connsiteY6-14" fmla="*/ 1120194 h 2240387"/>
              <a:gd name="connsiteX7-15" fmla="*/ 553757 w 2586977"/>
              <a:gd name="connsiteY7-16" fmla="*/ 161059 h 2240387"/>
              <a:gd name="connsiteX8-17" fmla="*/ 553757 w 2586977"/>
              <a:gd name="connsiteY8-18" fmla="*/ 758695 h 2240387"/>
              <a:gd name="connsiteX9" fmla="*/ 820049 w 2586977"/>
              <a:gd name="connsiteY9" fmla="*/ 850135 h 2240387"/>
              <a:gd name="connsiteX0-19" fmla="*/ 728609 w 2586977"/>
              <a:gd name="connsiteY0-20" fmla="*/ 758695 h 2240387"/>
              <a:gd name="connsiteX1-21" fmla="*/ 728609 w 2586977"/>
              <a:gd name="connsiteY1-22" fmla="*/ 0 h 2240387"/>
              <a:gd name="connsiteX2-23" fmla="*/ 1940233 w 2586977"/>
              <a:gd name="connsiteY2-24" fmla="*/ 0 h 2240387"/>
              <a:gd name="connsiteX3-25" fmla="*/ 2586977 w 2586977"/>
              <a:gd name="connsiteY3-26" fmla="*/ 1120194 h 2240387"/>
              <a:gd name="connsiteX4-27" fmla="*/ 1940233 w 2586977"/>
              <a:gd name="connsiteY4-28" fmla="*/ 2240387 h 2240387"/>
              <a:gd name="connsiteX5-29" fmla="*/ 646744 w 2586977"/>
              <a:gd name="connsiteY5-30" fmla="*/ 2240387 h 2240387"/>
              <a:gd name="connsiteX6-31" fmla="*/ 0 w 2586977"/>
              <a:gd name="connsiteY6-32" fmla="*/ 1120194 h 2240387"/>
              <a:gd name="connsiteX7-33" fmla="*/ 553757 w 2586977"/>
              <a:gd name="connsiteY7-34" fmla="*/ 161059 h 2240387"/>
              <a:gd name="connsiteX8-35" fmla="*/ 553757 w 2586977"/>
              <a:gd name="connsiteY8-36" fmla="*/ 758695 h 2240387"/>
              <a:gd name="connsiteX0-37" fmla="*/ 728609 w 2586977"/>
              <a:gd name="connsiteY0-38" fmla="*/ 0 h 2240387"/>
              <a:gd name="connsiteX1-39" fmla="*/ 1940233 w 2586977"/>
              <a:gd name="connsiteY1-40" fmla="*/ 0 h 2240387"/>
              <a:gd name="connsiteX2-41" fmla="*/ 2586977 w 2586977"/>
              <a:gd name="connsiteY2-42" fmla="*/ 1120194 h 2240387"/>
              <a:gd name="connsiteX3-43" fmla="*/ 1940233 w 2586977"/>
              <a:gd name="connsiteY3-44" fmla="*/ 2240387 h 2240387"/>
              <a:gd name="connsiteX4-45" fmla="*/ 646744 w 2586977"/>
              <a:gd name="connsiteY4-46" fmla="*/ 2240387 h 2240387"/>
              <a:gd name="connsiteX5-47" fmla="*/ 0 w 2586977"/>
              <a:gd name="connsiteY5-48" fmla="*/ 1120194 h 2240387"/>
              <a:gd name="connsiteX6-49" fmla="*/ 553757 w 2586977"/>
              <a:gd name="connsiteY6-50" fmla="*/ 161059 h 2240387"/>
              <a:gd name="connsiteX7-51" fmla="*/ 553757 w 2586977"/>
              <a:gd name="connsiteY7-52" fmla="*/ 758695 h 2240387"/>
              <a:gd name="connsiteX0-53" fmla="*/ 728609 w 2586977"/>
              <a:gd name="connsiteY0-54" fmla="*/ 0 h 2240387"/>
              <a:gd name="connsiteX1-55" fmla="*/ 1940233 w 2586977"/>
              <a:gd name="connsiteY1-56" fmla="*/ 0 h 2240387"/>
              <a:gd name="connsiteX2-57" fmla="*/ 2586977 w 2586977"/>
              <a:gd name="connsiteY2-58" fmla="*/ 1120194 h 2240387"/>
              <a:gd name="connsiteX3-59" fmla="*/ 1940233 w 2586977"/>
              <a:gd name="connsiteY3-60" fmla="*/ 2240387 h 2240387"/>
              <a:gd name="connsiteX4-61" fmla="*/ 646744 w 2586977"/>
              <a:gd name="connsiteY4-62" fmla="*/ 2240387 h 2240387"/>
              <a:gd name="connsiteX5-63" fmla="*/ 0 w 2586977"/>
              <a:gd name="connsiteY5-64" fmla="*/ 1120194 h 2240387"/>
              <a:gd name="connsiteX6-65" fmla="*/ 553757 w 2586977"/>
              <a:gd name="connsiteY6-66" fmla="*/ 161059 h 2240387"/>
              <a:gd name="connsiteX0-67" fmla="*/ 728609 w 2586977"/>
              <a:gd name="connsiteY0-68" fmla="*/ 0 h 2240387"/>
              <a:gd name="connsiteX1-69" fmla="*/ 1940233 w 2586977"/>
              <a:gd name="connsiteY1-70" fmla="*/ 0 h 2240387"/>
              <a:gd name="connsiteX2-71" fmla="*/ 2586977 w 2586977"/>
              <a:gd name="connsiteY2-72" fmla="*/ 1120194 h 2240387"/>
              <a:gd name="connsiteX3-73" fmla="*/ 1940233 w 2586977"/>
              <a:gd name="connsiteY3-74" fmla="*/ 2240387 h 2240387"/>
              <a:gd name="connsiteX4-75" fmla="*/ 646744 w 2586977"/>
              <a:gd name="connsiteY4-76" fmla="*/ 2240387 h 2240387"/>
              <a:gd name="connsiteX5-77" fmla="*/ 0 w 2586977"/>
              <a:gd name="connsiteY5-78" fmla="*/ 1120194 h 2240387"/>
              <a:gd name="connsiteX0-79" fmla="*/ 81865 w 1940233"/>
              <a:gd name="connsiteY0-80" fmla="*/ 0 h 2240387"/>
              <a:gd name="connsiteX1-81" fmla="*/ 1293489 w 1940233"/>
              <a:gd name="connsiteY1-82" fmla="*/ 0 h 2240387"/>
              <a:gd name="connsiteX2-83" fmla="*/ 1940233 w 1940233"/>
              <a:gd name="connsiteY2-84" fmla="*/ 1120194 h 2240387"/>
              <a:gd name="connsiteX3-85" fmla="*/ 1293489 w 1940233"/>
              <a:gd name="connsiteY3-86" fmla="*/ 2240387 h 2240387"/>
              <a:gd name="connsiteX4-87" fmla="*/ 0 w 1940233"/>
              <a:gd name="connsiteY4-88" fmla="*/ 2240387 h 2240387"/>
              <a:gd name="connsiteX0-89" fmla="*/ 0 w 1858368"/>
              <a:gd name="connsiteY0-90" fmla="*/ 0 h 2240387"/>
              <a:gd name="connsiteX1-91" fmla="*/ 1211624 w 1858368"/>
              <a:gd name="connsiteY1-92" fmla="*/ 0 h 2240387"/>
              <a:gd name="connsiteX2-93" fmla="*/ 1858368 w 1858368"/>
              <a:gd name="connsiteY2-94" fmla="*/ 1120194 h 2240387"/>
              <a:gd name="connsiteX3-95" fmla="*/ 1211624 w 1858368"/>
              <a:gd name="connsiteY3-96" fmla="*/ 2240387 h 2240387"/>
              <a:gd name="connsiteX0-97" fmla="*/ 0 w 1858368"/>
              <a:gd name="connsiteY0-98" fmla="*/ 0 h 1120194"/>
              <a:gd name="connsiteX1-99" fmla="*/ 1211624 w 1858368"/>
              <a:gd name="connsiteY1-100" fmla="*/ 0 h 1120194"/>
              <a:gd name="connsiteX2-101" fmla="*/ 1858368 w 1858368"/>
              <a:gd name="connsiteY2-102" fmla="*/ 1120194 h 112019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858368" h="1120194">
                <a:moveTo>
                  <a:pt x="0" y="0"/>
                </a:moveTo>
                <a:lnTo>
                  <a:pt x="1211624" y="0"/>
                </a:lnTo>
                <a:lnTo>
                  <a:pt x="1858368" y="1120194"/>
                </a:lnTo>
              </a:path>
            </a:pathLst>
          </a:custGeom>
          <a:noFill/>
          <a:ln w="12700">
            <a:solidFill>
              <a:schemeClr val="accent6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2" name="任意多边形: 形状 54"/>
          <p:cNvSpPr/>
          <p:nvPr>
            <p:custDataLst>
              <p:tags r:id="rId6"/>
            </p:custDataLst>
          </p:nvPr>
        </p:nvSpPr>
        <p:spPr>
          <a:xfrm>
            <a:off x="4066109" y="5758963"/>
            <a:ext cx="3798969" cy="3181508"/>
          </a:xfrm>
          <a:custGeom>
            <a:avLst/>
            <a:gdLst>
              <a:gd name="connsiteX0" fmla="*/ 728609 w 2586977"/>
              <a:gd name="connsiteY0" fmla="*/ 0 h 2240387"/>
              <a:gd name="connsiteX1" fmla="*/ 1940233 w 2586977"/>
              <a:gd name="connsiteY1" fmla="*/ 0 h 2240387"/>
              <a:gd name="connsiteX2" fmla="*/ 2586977 w 2586977"/>
              <a:gd name="connsiteY2" fmla="*/ 1120194 h 2240387"/>
              <a:gd name="connsiteX3" fmla="*/ 1940233 w 2586977"/>
              <a:gd name="connsiteY3" fmla="*/ 2240387 h 2240387"/>
              <a:gd name="connsiteX4" fmla="*/ 646744 w 2586977"/>
              <a:gd name="connsiteY4" fmla="*/ 2240387 h 2240387"/>
              <a:gd name="connsiteX5" fmla="*/ 0 w 2586977"/>
              <a:gd name="connsiteY5" fmla="*/ 1120194 h 2240387"/>
              <a:gd name="connsiteX6" fmla="*/ 553757 w 2586977"/>
              <a:gd name="connsiteY6" fmla="*/ 161059 h 2240387"/>
              <a:gd name="connsiteX7" fmla="*/ 553757 w 2586977"/>
              <a:gd name="connsiteY7" fmla="*/ 758695 h 2240387"/>
              <a:gd name="connsiteX8" fmla="*/ 728609 w 2586977"/>
              <a:gd name="connsiteY8" fmla="*/ 758695 h 2240387"/>
              <a:gd name="connsiteX0-1" fmla="*/ 728609 w 2586977"/>
              <a:gd name="connsiteY0-2" fmla="*/ 758695 h 2240387"/>
              <a:gd name="connsiteX1-3" fmla="*/ 728609 w 2586977"/>
              <a:gd name="connsiteY1-4" fmla="*/ 0 h 2240387"/>
              <a:gd name="connsiteX2-5" fmla="*/ 1940233 w 2586977"/>
              <a:gd name="connsiteY2-6" fmla="*/ 0 h 2240387"/>
              <a:gd name="connsiteX3-7" fmla="*/ 2586977 w 2586977"/>
              <a:gd name="connsiteY3-8" fmla="*/ 1120194 h 2240387"/>
              <a:gd name="connsiteX4-9" fmla="*/ 1940233 w 2586977"/>
              <a:gd name="connsiteY4-10" fmla="*/ 2240387 h 2240387"/>
              <a:gd name="connsiteX5-11" fmla="*/ 646744 w 2586977"/>
              <a:gd name="connsiteY5-12" fmla="*/ 2240387 h 2240387"/>
              <a:gd name="connsiteX6-13" fmla="*/ 0 w 2586977"/>
              <a:gd name="connsiteY6-14" fmla="*/ 1120194 h 2240387"/>
              <a:gd name="connsiteX7-15" fmla="*/ 553757 w 2586977"/>
              <a:gd name="connsiteY7-16" fmla="*/ 161059 h 2240387"/>
              <a:gd name="connsiteX8-17" fmla="*/ 553757 w 2586977"/>
              <a:gd name="connsiteY8-18" fmla="*/ 758695 h 2240387"/>
              <a:gd name="connsiteX9" fmla="*/ 820049 w 2586977"/>
              <a:gd name="connsiteY9" fmla="*/ 850135 h 2240387"/>
              <a:gd name="connsiteX0-19" fmla="*/ 728609 w 2586977"/>
              <a:gd name="connsiteY0-20" fmla="*/ 758695 h 2240387"/>
              <a:gd name="connsiteX1-21" fmla="*/ 728609 w 2586977"/>
              <a:gd name="connsiteY1-22" fmla="*/ 0 h 2240387"/>
              <a:gd name="connsiteX2-23" fmla="*/ 1940233 w 2586977"/>
              <a:gd name="connsiteY2-24" fmla="*/ 0 h 2240387"/>
              <a:gd name="connsiteX3-25" fmla="*/ 2586977 w 2586977"/>
              <a:gd name="connsiteY3-26" fmla="*/ 1120194 h 2240387"/>
              <a:gd name="connsiteX4-27" fmla="*/ 1940233 w 2586977"/>
              <a:gd name="connsiteY4-28" fmla="*/ 2240387 h 2240387"/>
              <a:gd name="connsiteX5-29" fmla="*/ 646744 w 2586977"/>
              <a:gd name="connsiteY5-30" fmla="*/ 2240387 h 2240387"/>
              <a:gd name="connsiteX6-31" fmla="*/ 0 w 2586977"/>
              <a:gd name="connsiteY6-32" fmla="*/ 1120194 h 2240387"/>
              <a:gd name="connsiteX7-33" fmla="*/ 553757 w 2586977"/>
              <a:gd name="connsiteY7-34" fmla="*/ 161059 h 2240387"/>
              <a:gd name="connsiteX8-35" fmla="*/ 553757 w 2586977"/>
              <a:gd name="connsiteY8-36" fmla="*/ 758695 h 2240387"/>
              <a:gd name="connsiteX0-37" fmla="*/ 728609 w 2586977"/>
              <a:gd name="connsiteY0-38" fmla="*/ 0 h 2240387"/>
              <a:gd name="connsiteX1-39" fmla="*/ 1940233 w 2586977"/>
              <a:gd name="connsiteY1-40" fmla="*/ 0 h 2240387"/>
              <a:gd name="connsiteX2-41" fmla="*/ 2586977 w 2586977"/>
              <a:gd name="connsiteY2-42" fmla="*/ 1120194 h 2240387"/>
              <a:gd name="connsiteX3-43" fmla="*/ 1940233 w 2586977"/>
              <a:gd name="connsiteY3-44" fmla="*/ 2240387 h 2240387"/>
              <a:gd name="connsiteX4-45" fmla="*/ 646744 w 2586977"/>
              <a:gd name="connsiteY4-46" fmla="*/ 2240387 h 2240387"/>
              <a:gd name="connsiteX5-47" fmla="*/ 0 w 2586977"/>
              <a:gd name="connsiteY5-48" fmla="*/ 1120194 h 2240387"/>
              <a:gd name="connsiteX6-49" fmla="*/ 553757 w 2586977"/>
              <a:gd name="connsiteY6-50" fmla="*/ 161059 h 2240387"/>
              <a:gd name="connsiteX7-51" fmla="*/ 553757 w 2586977"/>
              <a:gd name="connsiteY7-52" fmla="*/ 758695 h 2240387"/>
              <a:gd name="connsiteX0-53" fmla="*/ 728609 w 2586977"/>
              <a:gd name="connsiteY0-54" fmla="*/ 0 h 2240387"/>
              <a:gd name="connsiteX1-55" fmla="*/ 1940233 w 2586977"/>
              <a:gd name="connsiteY1-56" fmla="*/ 0 h 2240387"/>
              <a:gd name="connsiteX2-57" fmla="*/ 2586977 w 2586977"/>
              <a:gd name="connsiteY2-58" fmla="*/ 1120194 h 2240387"/>
              <a:gd name="connsiteX3-59" fmla="*/ 1940233 w 2586977"/>
              <a:gd name="connsiteY3-60" fmla="*/ 2240387 h 2240387"/>
              <a:gd name="connsiteX4-61" fmla="*/ 646744 w 2586977"/>
              <a:gd name="connsiteY4-62" fmla="*/ 2240387 h 2240387"/>
              <a:gd name="connsiteX5-63" fmla="*/ 0 w 2586977"/>
              <a:gd name="connsiteY5-64" fmla="*/ 1120194 h 2240387"/>
              <a:gd name="connsiteX6-65" fmla="*/ 553757 w 2586977"/>
              <a:gd name="connsiteY6-66" fmla="*/ 161059 h 2240387"/>
              <a:gd name="connsiteX0-67" fmla="*/ 1940233 w 2586977"/>
              <a:gd name="connsiteY0-68" fmla="*/ 0 h 2240387"/>
              <a:gd name="connsiteX1-69" fmla="*/ 2586977 w 2586977"/>
              <a:gd name="connsiteY1-70" fmla="*/ 1120194 h 2240387"/>
              <a:gd name="connsiteX2-71" fmla="*/ 1940233 w 2586977"/>
              <a:gd name="connsiteY2-72" fmla="*/ 2240387 h 2240387"/>
              <a:gd name="connsiteX3-73" fmla="*/ 646744 w 2586977"/>
              <a:gd name="connsiteY3-74" fmla="*/ 2240387 h 2240387"/>
              <a:gd name="connsiteX4-75" fmla="*/ 0 w 2586977"/>
              <a:gd name="connsiteY4-76" fmla="*/ 1120194 h 2240387"/>
              <a:gd name="connsiteX5-77" fmla="*/ 553757 w 2586977"/>
              <a:gd name="connsiteY5-78" fmla="*/ 161059 h 2240387"/>
              <a:gd name="connsiteX0-79" fmla="*/ 2586977 w 2586977"/>
              <a:gd name="connsiteY0-80" fmla="*/ 959135 h 2079328"/>
              <a:gd name="connsiteX1-81" fmla="*/ 1940233 w 2586977"/>
              <a:gd name="connsiteY1-82" fmla="*/ 2079328 h 2079328"/>
              <a:gd name="connsiteX2-83" fmla="*/ 646744 w 2586977"/>
              <a:gd name="connsiteY2-84" fmla="*/ 2079328 h 2079328"/>
              <a:gd name="connsiteX3-85" fmla="*/ 0 w 2586977"/>
              <a:gd name="connsiteY3-86" fmla="*/ 959135 h 2079328"/>
              <a:gd name="connsiteX4-87" fmla="*/ 553757 w 2586977"/>
              <a:gd name="connsiteY4-88" fmla="*/ 0 h 2079328"/>
              <a:gd name="connsiteX0-89" fmla="*/ 2482474 w 2482474"/>
              <a:gd name="connsiteY0-90" fmla="*/ 1134551 h 2079328"/>
              <a:gd name="connsiteX1-91" fmla="*/ 1940233 w 2482474"/>
              <a:gd name="connsiteY1-92" fmla="*/ 2079328 h 2079328"/>
              <a:gd name="connsiteX2-93" fmla="*/ 646744 w 2482474"/>
              <a:gd name="connsiteY2-94" fmla="*/ 2079328 h 2079328"/>
              <a:gd name="connsiteX3-95" fmla="*/ 0 w 2482474"/>
              <a:gd name="connsiteY3-96" fmla="*/ 959135 h 2079328"/>
              <a:gd name="connsiteX4-97" fmla="*/ 553757 w 2482474"/>
              <a:gd name="connsiteY4-98" fmla="*/ 0 h 207932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82474" h="2079328">
                <a:moveTo>
                  <a:pt x="2482474" y="1134551"/>
                </a:moveTo>
                <a:lnTo>
                  <a:pt x="1940233" y="2079328"/>
                </a:lnTo>
                <a:lnTo>
                  <a:pt x="646744" y="2079328"/>
                </a:lnTo>
                <a:lnTo>
                  <a:pt x="0" y="959135"/>
                </a:lnTo>
                <a:lnTo>
                  <a:pt x="553757" y="0"/>
                </a:lnTo>
              </a:path>
            </a:pathLst>
          </a:custGeom>
          <a:noFill/>
          <a:ln w="12700">
            <a:solidFill>
              <a:schemeClr val="accent6">
                <a:alpha val="20000"/>
              </a:schemeClr>
            </a:solidFill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3" name="任意多边形: 形状 55"/>
          <p:cNvSpPr/>
          <p:nvPr>
            <p:custDataLst>
              <p:tags r:id="rId7"/>
            </p:custDataLst>
          </p:nvPr>
        </p:nvSpPr>
        <p:spPr>
          <a:xfrm>
            <a:off x="10003805" y="5758963"/>
            <a:ext cx="3798969" cy="3181508"/>
          </a:xfrm>
          <a:custGeom>
            <a:avLst/>
            <a:gdLst>
              <a:gd name="connsiteX0" fmla="*/ 728609 w 2586977"/>
              <a:gd name="connsiteY0" fmla="*/ 0 h 2240387"/>
              <a:gd name="connsiteX1" fmla="*/ 1940233 w 2586977"/>
              <a:gd name="connsiteY1" fmla="*/ 0 h 2240387"/>
              <a:gd name="connsiteX2" fmla="*/ 2586977 w 2586977"/>
              <a:gd name="connsiteY2" fmla="*/ 1120194 h 2240387"/>
              <a:gd name="connsiteX3" fmla="*/ 1940233 w 2586977"/>
              <a:gd name="connsiteY3" fmla="*/ 2240387 h 2240387"/>
              <a:gd name="connsiteX4" fmla="*/ 646744 w 2586977"/>
              <a:gd name="connsiteY4" fmla="*/ 2240387 h 2240387"/>
              <a:gd name="connsiteX5" fmla="*/ 0 w 2586977"/>
              <a:gd name="connsiteY5" fmla="*/ 1120194 h 2240387"/>
              <a:gd name="connsiteX6" fmla="*/ 553757 w 2586977"/>
              <a:gd name="connsiteY6" fmla="*/ 161059 h 2240387"/>
              <a:gd name="connsiteX7" fmla="*/ 553757 w 2586977"/>
              <a:gd name="connsiteY7" fmla="*/ 758695 h 2240387"/>
              <a:gd name="connsiteX8" fmla="*/ 728609 w 2586977"/>
              <a:gd name="connsiteY8" fmla="*/ 758695 h 2240387"/>
              <a:gd name="connsiteX0-1" fmla="*/ 728609 w 2586977"/>
              <a:gd name="connsiteY0-2" fmla="*/ 758695 h 2240387"/>
              <a:gd name="connsiteX1-3" fmla="*/ 728609 w 2586977"/>
              <a:gd name="connsiteY1-4" fmla="*/ 0 h 2240387"/>
              <a:gd name="connsiteX2-5" fmla="*/ 1940233 w 2586977"/>
              <a:gd name="connsiteY2-6" fmla="*/ 0 h 2240387"/>
              <a:gd name="connsiteX3-7" fmla="*/ 2586977 w 2586977"/>
              <a:gd name="connsiteY3-8" fmla="*/ 1120194 h 2240387"/>
              <a:gd name="connsiteX4-9" fmla="*/ 1940233 w 2586977"/>
              <a:gd name="connsiteY4-10" fmla="*/ 2240387 h 2240387"/>
              <a:gd name="connsiteX5-11" fmla="*/ 646744 w 2586977"/>
              <a:gd name="connsiteY5-12" fmla="*/ 2240387 h 2240387"/>
              <a:gd name="connsiteX6-13" fmla="*/ 0 w 2586977"/>
              <a:gd name="connsiteY6-14" fmla="*/ 1120194 h 2240387"/>
              <a:gd name="connsiteX7-15" fmla="*/ 553757 w 2586977"/>
              <a:gd name="connsiteY7-16" fmla="*/ 161059 h 2240387"/>
              <a:gd name="connsiteX8-17" fmla="*/ 553757 w 2586977"/>
              <a:gd name="connsiteY8-18" fmla="*/ 758695 h 2240387"/>
              <a:gd name="connsiteX9" fmla="*/ 820049 w 2586977"/>
              <a:gd name="connsiteY9" fmla="*/ 850135 h 2240387"/>
              <a:gd name="connsiteX0-19" fmla="*/ 728609 w 2586977"/>
              <a:gd name="connsiteY0-20" fmla="*/ 758695 h 2240387"/>
              <a:gd name="connsiteX1-21" fmla="*/ 728609 w 2586977"/>
              <a:gd name="connsiteY1-22" fmla="*/ 0 h 2240387"/>
              <a:gd name="connsiteX2-23" fmla="*/ 1940233 w 2586977"/>
              <a:gd name="connsiteY2-24" fmla="*/ 0 h 2240387"/>
              <a:gd name="connsiteX3-25" fmla="*/ 2586977 w 2586977"/>
              <a:gd name="connsiteY3-26" fmla="*/ 1120194 h 2240387"/>
              <a:gd name="connsiteX4-27" fmla="*/ 1940233 w 2586977"/>
              <a:gd name="connsiteY4-28" fmla="*/ 2240387 h 2240387"/>
              <a:gd name="connsiteX5-29" fmla="*/ 646744 w 2586977"/>
              <a:gd name="connsiteY5-30" fmla="*/ 2240387 h 2240387"/>
              <a:gd name="connsiteX6-31" fmla="*/ 0 w 2586977"/>
              <a:gd name="connsiteY6-32" fmla="*/ 1120194 h 2240387"/>
              <a:gd name="connsiteX7-33" fmla="*/ 553757 w 2586977"/>
              <a:gd name="connsiteY7-34" fmla="*/ 161059 h 2240387"/>
              <a:gd name="connsiteX8-35" fmla="*/ 553757 w 2586977"/>
              <a:gd name="connsiteY8-36" fmla="*/ 758695 h 2240387"/>
              <a:gd name="connsiteX0-37" fmla="*/ 728609 w 2586977"/>
              <a:gd name="connsiteY0-38" fmla="*/ 0 h 2240387"/>
              <a:gd name="connsiteX1-39" fmla="*/ 1940233 w 2586977"/>
              <a:gd name="connsiteY1-40" fmla="*/ 0 h 2240387"/>
              <a:gd name="connsiteX2-41" fmla="*/ 2586977 w 2586977"/>
              <a:gd name="connsiteY2-42" fmla="*/ 1120194 h 2240387"/>
              <a:gd name="connsiteX3-43" fmla="*/ 1940233 w 2586977"/>
              <a:gd name="connsiteY3-44" fmla="*/ 2240387 h 2240387"/>
              <a:gd name="connsiteX4-45" fmla="*/ 646744 w 2586977"/>
              <a:gd name="connsiteY4-46" fmla="*/ 2240387 h 2240387"/>
              <a:gd name="connsiteX5-47" fmla="*/ 0 w 2586977"/>
              <a:gd name="connsiteY5-48" fmla="*/ 1120194 h 2240387"/>
              <a:gd name="connsiteX6-49" fmla="*/ 553757 w 2586977"/>
              <a:gd name="connsiteY6-50" fmla="*/ 161059 h 2240387"/>
              <a:gd name="connsiteX7-51" fmla="*/ 553757 w 2586977"/>
              <a:gd name="connsiteY7-52" fmla="*/ 758695 h 2240387"/>
              <a:gd name="connsiteX0-53" fmla="*/ 728609 w 2586977"/>
              <a:gd name="connsiteY0-54" fmla="*/ 0 h 2240387"/>
              <a:gd name="connsiteX1-55" fmla="*/ 1940233 w 2586977"/>
              <a:gd name="connsiteY1-56" fmla="*/ 0 h 2240387"/>
              <a:gd name="connsiteX2-57" fmla="*/ 2586977 w 2586977"/>
              <a:gd name="connsiteY2-58" fmla="*/ 1120194 h 2240387"/>
              <a:gd name="connsiteX3-59" fmla="*/ 1940233 w 2586977"/>
              <a:gd name="connsiteY3-60" fmla="*/ 2240387 h 2240387"/>
              <a:gd name="connsiteX4-61" fmla="*/ 646744 w 2586977"/>
              <a:gd name="connsiteY4-62" fmla="*/ 2240387 h 2240387"/>
              <a:gd name="connsiteX5-63" fmla="*/ 0 w 2586977"/>
              <a:gd name="connsiteY5-64" fmla="*/ 1120194 h 2240387"/>
              <a:gd name="connsiteX6-65" fmla="*/ 553757 w 2586977"/>
              <a:gd name="connsiteY6-66" fmla="*/ 161059 h 2240387"/>
              <a:gd name="connsiteX0-67" fmla="*/ 1940233 w 2586977"/>
              <a:gd name="connsiteY0-68" fmla="*/ 0 h 2240387"/>
              <a:gd name="connsiteX1-69" fmla="*/ 2586977 w 2586977"/>
              <a:gd name="connsiteY1-70" fmla="*/ 1120194 h 2240387"/>
              <a:gd name="connsiteX2-71" fmla="*/ 1940233 w 2586977"/>
              <a:gd name="connsiteY2-72" fmla="*/ 2240387 h 2240387"/>
              <a:gd name="connsiteX3-73" fmla="*/ 646744 w 2586977"/>
              <a:gd name="connsiteY3-74" fmla="*/ 2240387 h 2240387"/>
              <a:gd name="connsiteX4-75" fmla="*/ 0 w 2586977"/>
              <a:gd name="connsiteY4-76" fmla="*/ 1120194 h 2240387"/>
              <a:gd name="connsiteX5-77" fmla="*/ 553757 w 2586977"/>
              <a:gd name="connsiteY5-78" fmla="*/ 161059 h 2240387"/>
              <a:gd name="connsiteX0-79" fmla="*/ 2586977 w 2586977"/>
              <a:gd name="connsiteY0-80" fmla="*/ 959135 h 2079328"/>
              <a:gd name="connsiteX1-81" fmla="*/ 1940233 w 2586977"/>
              <a:gd name="connsiteY1-82" fmla="*/ 2079328 h 2079328"/>
              <a:gd name="connsiteX2-83" fmla="*/ 646744 w 2586977"/>
              <a:gd name="connsiteY2-84" fmla="*/ 2079328 h 2079328"/>
              <a:gd name="connsiteX3-85" fmla="*/ 0 w 2586977"/>
              <a:gd name="connsiteY3-86" fmla="*/ 959135 h 2079328"/>
              <a:gd name="connsiteX4-87" fmla="*/ 553757 w 2586977"/>
              <a:gd name="connsiteY4-88" fmla="*/ 0 h 2079328"/>
              <a:gd name="connsiteX0-89" fmla="*/ 2482474 w 2482474"/>
              <a:gd name="connsiteY0-90" fmla="*/ 1134551 h 2079328"/>
              <a:gd name="connsiteX1-91" fmla="*/ 1940233 w 2482474"/>
              <a:gd name="connsiteY1-92" fmla="*/ 2079328 h 2079328"/>
              <a:gd name="connsiteX2-93" fmla="*/ 646744 w 2482474"/>
              <a:gd name="connsiteY2-94" fmla="*/ 2079328 h 2079328"/>
              <a:gd name="connsiteX3-95" fmla="*/ 0 w 2482474"/>
              <a:gd name="connsiteY3-96" fmla="*/ 959135 h 2079328"/>
              <a:gd name="connsiteX4-97" fmla="*/ 553757 w 2482474"/>
              <a:gd name="connsiteY4-98" fmla="*/ 0 h 207932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82474" h="2079328">
                <a:moveTo>
                  <a:pt x="2482474" y="1134551"/>
                </a:moveTo>
                <a:lnTo>
                  <a:pt x="1940233" y="2079328"/>
                </a:lnTo>
                <a:lnTo>
                  <a:pt x="646744" y="2079328"/>
                </a:lnTo>
                <a:lnTo>
                  <a:pt x="0" y="959135"/>
                </a:lnTo>
                <a:lnTo>
                  <a:pt x="553757" y="0"/>
                </a:lnTo>
              </a:path>
            </a:pathLst>
          </a:custGeom>
          <a:noFill/>
          <a:ln w="12700">
            <a:solidFill>
              <a:schemeClr val="accent6">
                <a:alpha val="20000"/>
              </a:schemeClr>
            </a:solidFill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4" name="任意多边形: 形状 56"/>
          <p:cNvSpPr/>
          <p:nvPr>
            <p:custDataLst>
              <p:tags r:id="rId8"/>
            </p:custDataLst>
          </p:nvPr>
        </p:nvSpPr>
        <p:spPr>
          <a:xfrm>
            <a:off x="11118406" y="5511792"/>
            <a:ext cx="2843864" cy="1714340"/>
          </a:xfrm>
          <a:custGeom>
            <a:avLst/>
            <a:gdLst>
              <a:gd name="connsiteX0" fmla="*/ 728609 w 2586977"/>
              <a:gd name="connsiteY0" fmla="*/ 0 h 2240387"/>
              <a:gd name="connsiteX1" fmla="*/ 1940233 w 2586977"/>
              <a:gd name="connsiteY1" fmla="*/ 0 h 2240387"/>
              <a:gd name="connsiteX2" fmla="*/ 2586977 w 2586977"/>
              <a:gd name="connsiteY2" fmla="*/ 1120194 h 2240387"/>
              <a:gd name="connsiteX3" fmla="*/ 1940233 w 2586977"/>
              <a:gd name="connsiteY3" fmla="*/ 2240387 h 2240387"/>
              <a:gd name="connsiteX4" fmla="*/ 646744 w 2586977"/>
              <a:gd name="connsiteY4" fmla="*/ 2240387 h 2240387"/>
              <a:gd name="connsiteX5" fmla="*/ 0 w 2586977"/>
              <a:gd name="connsiteY5" fmla="*/ 1120194 h 2240387"/>
              <a:gd name="connsiteX6" fmla="*/ 553757 w 2586977"/>
              <a:gd name="connsiteY6" fmla="*/ 161059 h 2240387"/>
              <a:gd name="connsiteX7" fmla="*/ 553757 w 2586977"/>
              <a:gd name="connsiteY7" fmla="*/ 758695 h 2240387"/>
              <a:gd name="connsiteX8" fmla="*/ 728609 w 2586977"/>
              <a:gd name="connsiteY8" fmla="*/ 758695 h 2240387"/>
              <a:gd name="connsiteX0-1" fmla="*/ 728609 w 2586977"/>
              <a:gd name="connsiteY0-2" fmla="*/ 758695 h 2240387"/>
              <a:gd name="connsiteX1-3" fmla="*/ 728609 w 2586977"/>
              <a:gd name="connsiteY1-4" fmla="*/ 0 h 2240387"/>
              <a:gd name="connsiteX2-5" fmla="*/ 1940233 w 2586977"/>
              <a:gd name="connsiteY2-6" fmla="*/ 0 h 2240387"/>
              <a:gd name="connsiteX3-7" fmla="*/ 2586977 w 2586977"/>
              <a:gd name="connsiteY3-8" fmla="*/ 1120194 h 2240387"/>
              <a:gd name="connsiteX4-9" fmla="*/ 1940233 w 2586977"/>
              <a:gd name="connsiteY4-10" fmla="*/ 2240387 h 2240387"/>
              <a:gd name="connsiteX5-11" fmla="*/ 646744 w 2586977"/>
              <a:gd name="connsiteY5-12" fmla="*/ 2240387 h 2240387"/>
              <a:gd name="connsiteX6-13" fmla="*/ 0 w 2586977"/>
              <a:gd name="connsiteY6-14" fmla="*/ 1120194 h 2240387"/>
              <a:gd name="connsiteX7-15" fmla="*/ 553757 w 2586977"/>
              <a:gd name="connsiteY7-16" fmla="*/ 161059 h 2240387"/>
              <a:gd name="connsiteX8-17" fmla="*/ 553757 w 2586977"/>
              <a:gd name="connsiteY8-18" fmla="*/ 758695 h 2240387"/>
              <a:gd name="connsiteX9" fmla="*/ 820049 w 2586977"/>
              <a:gd name="connsiteY9" fmla="*/ 850135 h 2240387"/>
              <a:gd name="connsiteX0-19" fmla="*/ 728609 w 2586977"/>
              <a:gd name="connsiteY0-20" fmla="*/ 758695 h 2240387"/>
              <a:gd name="connsiteX1-21" fmla="*/ 728609 w 2586977"/>
              <a:gd name="connsiteY1-22" fmla="*/ 0 h 2240387"/>
              <a:gd name="connsiteX2-23" fmla="*/ 1940233 w 2586977"/>
              <a:gd name="connsiteY2-24" fmla="*/ 0 h 2240387"/>
              <a:gd name="connsiteX3-25" fmla="*/ 2586977 w 2586977"/>
              <a:gd name="connsiteY3-26" fmla="*/ 1120194 h 2240387"/>
              <a:gd name="connsiteX4-27" fmla="*/ 1940233 w 2586977"/>
              <a:gd name="connsiteY4-28" fmla="*/ 2240387 h 2240387"/>
              <a:gd name="connsiteX5-29" fmla="*/ 646744 w 2586977"/>
              <a:gd name="connsiteY5-30" fmla="*/ 2240387 h 2240387"/>
              <a:gd name="connsiteX6-31" fmla="*/ 0 w 2586977"/>
              <a:gd name="connsiteY6-32" fmla="*/ 1120194 h 2240387"/>
              <a:gd name="connsiteX7-33" fmla="*/ 553757 w 2586977"/>
              <a:gd name="connsiteY7-34" fmla="*/ 161059 h 2240387"/>
              <a:gd name="connsiteX8-35" fmla="*/ 553757 w 2586977"/>
              <a:gd name="connsiteY8-36" fmla="*/ 758695 h 2240387"/>
              <a:gd name="connsiteX0-37" fmla="*/ 728609 w 2586977"/>
              <a:gd name="connsiteY0-38" fmla="*/ 0 h 2240387"/>
              <a:gd name="connsiteX1-39" fmla="*/ 1940233 w 2586977"/>
              <a:gd name="connsiteY1-40" fmla="*/ 0 h 2240387"/>
              <a:gd name="connsiteX2-41" fmla="*/ 2586977 w 2586977"/>
              <a:gd name="connsiteY2-42" fmla="*/ 1120194 h 2240387"/>
              <a:gd name="connsiteX3-43" fmla="*/ 1940233 w 2586977"/>
              <a:gd name="connsiteY3-44" fmla="*/ 2240387 h 2240387"/>
              <a:gd name="connsiteX4-45" fmla="*/ 646744 w 2586977"/>
              <a:gd name="connsiteY4-46" fmla="*/ 2240387 h 2240387"/>
              <a:gd name="connsiteX5-47" fmla="*/ 0 w 2586977"/>
              <a:gd name="connsiteY5-48" fmla="*/ 1120194 h 2240387"/>
              <a:gd name="connsiteX6-49" fmla="*/ 553757 w 2586977"/>
              <a:gd name="connsiteY6-50" fmla="*/ 161059 h 2240387"/>
              <a:gd name="connsiteX7-51" fmla="*/ 553757 w 2586977"/>
              <a:gd name="connsiteY7-52" fmla="*/ 758695 h 2240387"/>
              <a:gd name="connsiteX0-53" fmla="*/ 728609 w 2586977"/>
              <a:gd name="connsiteY0-54" fmla="*/ 0 h 2240387"/>
              <a:gd name="connsiteX1-55" fmla="*/ 1940233 w 2586977"/>
              <a:gd name="connsiteY1-56" fmla="*/ 0 h 2240387"/>
              <a:gd name="connsiteX2-57" fmla="*/ 2586977 w 2586977"/>
              <a:gd name="connsiteY2-58" fmla="*/ 1120194 h 2240387"/>
              <a:gd name="connsiteX3-59" fmla="*/ 1940233 w 2586977"/>
              <a:gd name="connsiteY3-60" fmla="*/ 2240387 h 2240387"/>
              <a:gd name="connsiteX4-61" fmla="*/ 646744 w 2586977"/>
              <a:gd name="connsiteY4-62" fmla="*/ 2240387 h 2240387"/>
              <a:gd name="connsiteX5-63" fmla="*/ 0 w 2586977"/>
              <a:gd name="connsiteY5-64" fmla="*/ 1120194 h 2240387"/>
              <a:gd name="connsiteX6-65" fmla="*/ 553757 w 2586977"/>
              <a:gd name="connsiteY6-66" fmla="*/ 161059 h 2240387"/>
              <a:gd name="connsiteX0-67" fmla="*/ 728609 w 2586977"/>
              <a:gd name="connsiteY0-68" fmla="*/ 0 h 2240387"/>
              <a:gd name="connsiteX1-69" fmla="*/ 1940233 w 2586977"/>
              <a:gd name="connsiteY1-70" fmla="*/ 0 h 2240387"/>
              <a:gd name="connsiteX2-71" fmla="*/ 2586977 w 2586977"/>
              <a:gd name="connsiteY2-72" fmla="*/ 1120194 h 2240387"/>
              <a:gd name="connsiteX3-73" fmla="*/ 1940233 w 2586977"/>
              <a:gd name="connsiteY3-74" fmla="*/ 2240387 h 2240387"/>
              <a:gd name="connsiteX4-75" fmla="*/ 646744 w 2586977"/>
              <a:gd name="connsiteY4-76" fmla="*/ 2240387 h 2240387"/>
              <a:gd name="connsiteX5-77" fmla="*/ 0 w 2586977"/>
              <a:gd name="connsiteY5-78" fmla="*/ 1120194 h 2240387"/>
              <a:gd name="connsiteX0-79" fmla="*/ 81865 w 1940233"/>
              <a:gd name="connsiteY0-80" fmla="*/ 0 h 2240387"/>
              <a:gd name="connsiteX1-81" fmla="*/ 1293489 w 1940233"/>
              <a:gd name="connsiteY1-82" fmla="*/ 0 h 2240387"/>
              <a:gd name="connsiteX2-83" fmla="*/ 1940233 w 1940233"/>
              <a:gd name="connsiteY2-84" fmla="*/ 1120194 h 2240387"/>
              <a:gd name="connsiteX3-85" fmla="*/ 1293489 w 1940233"/>
              <a:gd name="connsiteY3-86" fmla="*/ 2240387 h 2240387"/>
              <a:gd name="connsiteX4-87" fmla="*/ 0 w 1940233"/>
              <a:gd name="connsiteY4-88" fmla="*/ 2240387 h 2240387"/>
              <a:gd name="connsiteX0-89" fmla="*/ 0 w 1858368"/>
              <a:gd name="connsiteY0-90" fmla="*/ 0 h 2240387"/>
              <a:gd name="connsiteX1-91" fmla="*/ 1211624 w 1858368"/>
              <a:gd name="connsiteY1-92" fmla="*/ 0 h 2240387"/>
              <a:gd name="connsiteX2-93" fmla="*/ 1858368 w 1858368"/>
              <a:gd name="connsiteY2-94" fmla="*/ 1120194 h 2240387"/>
              <a:gd name="connsiteX3-95" fmla="*/ 1211624 w 1858368"/>
              <a:gd name="connsiteY3-96" fmla="*/ 2240387 h 2240387"/>
              <a:gd name="connsiteX0-97" fmla="*/ 0 w 1858368"/>
              <a:gd name="connsiteY0-98" fmla="*/ 0 h 1120194"/>
              <a:gd name="connsiteX1-99" fmla="*/ 1211624 w 1858368"/>
              <a:gd name="connsiteY1-100" fmla="*/ 0 h 1120194"/>
              <a:gd name="connsiteX2-101" fmla="*/ 1858368 w 1858368"/>
              <a:gd name="connsiteY2-102" fmla="*/ 1120194 h 112019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858368" h="1120194">
                <a:moveTo>
                  <a:pt x="0" y="0"/>
                </a:moveTo>
                <a:lnTo>
                  <a:pt x="1211624" y="0"/>
                </a:lnTo>
                <a:lnTo>
                  <a:pt x="1858368" y="1120194"/>
                </a:lnTo>
              </a:path>
            </a:pathLst>
          </a:custGeom>
          <a:noFill/>
          <a:ln w="12700">
            <a:solidFill>
              <a:schemeClr val="accent6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cxnSp>
        <p:nvCxnSpPr>
          <p:cNvPr id="90" name="直接连接符 89"/>
          <p:cNvCxnSpPr/>
          <p:nvPr>
            <p:custDataLst>
              <p:tags r:id="rId9"/>
            </p:custDataLst>
          </p:nvPr>
        </p:nvCxnSpPr>
        <p:spPr>
          <a:xfrm flipH="1">
            <a:off x="3061569" y="7329663"/>
            <a:ext cx="11193" cy="819619"/>
          </a:xfrm>
          <a:prstGeom prst="line">
            <a:avLst/>
          </a:prstGeom>
          <a:ln w="31750" cap="rnd">
            <a:solidFill>
              <a:schemeClr val="accent6">
                <a:lumMod val="60000"/>
                <a:lumOff val="40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>
            <p:custDataLst>
              <p:tags r:id="rId10"/>
            </p:custDataLst>
          </p:nvPr>
        </p:nvCxnSpPr>
        <p:spPr>
          <a:xfrm flipH="1">
            <a:off x="6035081" y="4747894"/>
            <a:ext cx="11193" cy="713861"/>
          </a:xfrm>
          <a:prstGeom prst="line">
            <a:avLst/>
          </a:prstGeom>
          <a:ln w="31750" cap="rnd">
            <a:solidFill>
              <a:schemeClr val="accent6">
                <a:lumMod val="60000"/>
                <a:lumOff val="40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>
            <p:custDataLst>
              <p:tags r:id="rId11"/>
            </p:custDataLst>
          </p:nvPr>
        </p:nvCxnSpPr>
        <p:spPr>
          <a:xfrm flipH="1">
            <a:off x="9033776" y="7396819"/>
            <a:ext cx="11193" cy="819619"/>
          </a:xfrm>
          <a:prstGeom prst="line">
            <a:avLst/>
          </a:prstGeom>
          <a:ln w="31750" cap="rnd">
            <a:solidFill>
              <a:schemeClr val="accent6">
                <a:lumMod val="60000"/>
                <a:lumOff val="40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>
            <p:custDataLst>
              <p:tags r:id="rId12"/>
            </p:custDataLst>
          </p:nvPr>
        </p:nvCxnSpPr>
        <p:spPr>
          <a:xfrm flipH="1">
            <a:off x="11993297" y="4760952"/>
            <a:ext cx="11193" cy="713861"/>
          </a:xfrm>
          <a:prstGeom prst="line">
            <a:avLst/>
          </a:prstGeom>
          <a:ln w="31750" cap="rnd">
            <a:solidFill>
              <a:schemeClr val="accent6">
                <a:lumMod val="60000"/>
                <a:lumOff val="40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>
            <p:custDataLst>
              <p:tags r:id="rId13"/>
            </p:custDataLst>
          </p:nvPr>
        </p:nvCxnSpPr>
        <p:spPr>
          <a:xfrm flipH="1">
            <a:off x="14972405" y="7381896"/>
            <a:ext cx="11193" cy="819619"/>
          </a:xfrm>
          <a:prstGeom prst="line">
            <a:avLst/>
          </a:prstGeom>
          <a:ln w="31750" cap="rnd">
            <a:solidFill>
              <a:schemeClr val="accent6">
                <a:lumMod val="60000"/>
                <a:lumOff val="40000"/>
              </a:schemeClr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六边形 94"/>
          <p:cNvSpPr/>
          <p:nvPr>
            <p:custDataLst>
              <p:tags r:id="rId14"/>
            </p:custDataLst>
          </p:nvPr>
        </p:nvSpPr>
        <p:spPr>
          <a:xfrm>
            <a:off x="1401327" y="4057681"/>
            <a:ext cx="3320777" cy="2877442"/>
          </a:xfrm>
          <a:prstGeom prst="hexagon">
            <a:avLst>
              <a:gd name="adj" fmla="val 28654"/>
              <a:gd name="vf" fmla="val 11547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317500" dist="190500" dir="2700000" algn="tl" rotWithShape="0">
              <a:schemeClr val="accent6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6195" tIns="45720" rIns="91440" bIns="45720" numCol="1" spcCol="0" rtlCol="0" fromWordArt="0" anchor="ctr" anchorCtr="0" forceAA="0" compatLnSpc="1">
            <a:noAutofit/>
          </a:bodyPr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商户认证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9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9~299元/年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 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 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  - 官方标识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  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 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 - 发布商品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  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 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 - 数据后台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 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 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  - 展现权重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</p:txBody>
      </p:sp>
      <p:sp>
        <p:nvSpPr>
          <p:cNvPr id="96" name="六边形 95"/>
          <p:cNvSpPr/>
          <p:nvPr>
            <p:custDataLst>
              <p:tags r:id="rId15"/>
            </p:custDataLst>
          </p:nvPr>
        </p:nvSpPr>
        <p:spPr>
          <a:xfrm>
            <a:off x="4320540" y="5777865"/>
            <a:ext cx="3434715" cy="2877185"/>
          </a:xfrm>
          <a:prstGeom prst="hexagon">
            <a:avLst>
              <a:gd name="adj" fmla="val 28654"/>
              <a:gd name="vf" fmla="val 11547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317500" dist="190500" dir="2700000" algn="tl" rotWithShape="0">
              <a:schemeClr val="accent6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6195" tIns="45720" rIns="91440" bIns="45720" numCol="1" spcCol="0" rtlCol="0" fromWordArt="0" anchor="ctr" anchorCtr="0" forceAA="0" compatLnSpc="1">
            <a:noAutofit/>
          </a:bodyPr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会员权益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   - 解锁完整附近的人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   - 附近的人优先展示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   - 谁查看了我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   - NOW展现权重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   - 给远方用户发消息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   - 自定义活动推动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</p:txBody>
      </p:sp>
      <p:sp>
        <p:nvSpPr>
          <p:cNvPr id="97" name="六边形 96"/>
          <p:cNvSpPr/>
          <p:nvPr>
            <p:custDataLst>
              <p:tags r:id="rId16"/>
            </p:custDataLst>
          </p:nvPr>
        </p:nvSpPr>
        <p:spPr>
          <a:xfrm>
            <a:off x="7360476" y="4056749"/>
            <a:ext cx="3320777" cy="2877442"/>
          </a:xfrm>
          <a:prstGeom prst="hexagon">
            <a:avLst>
              <a:gd name="adj" fmla="val 28654"/>
              <a:gd name="vf" fmla="val 11547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317500" dist="190500" dir="2700000" algn="tl" rotWithShape="0">
              <a:schemeClr val="accent6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6195" tIns="45720" rIns="91440" bIns="45720" numCol="1" spcCol="0" rtlCol="0" fromWordArt="0" anchor="ctr" anchorCtr="0" forceAA="0" compatLnSpc="1">
            <a:noAutofit/>
          </a:bodyPr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 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活动同城置顶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城市榜单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精准投放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AI活动助手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AI活动订阅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活动加热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</p:txBody>
      </p:sp>
      <p:sp>
        <p:nvSpPr>
          <p:cNvPr id="98" name="六边形 97"/>
          <p:cNvSpPr/>
          <p:nvPr>
            <p:custDataLst>
              <p:tags r:id="rId17"/>
            </p:custDataLst>
          </p:nvPr>
        </p:nvSpPr>
        <p:spPr>
          <a:xfrm>
            <a:off x="10338652" y="5777617"/>
            <a:ext cx="3320777" cy="2877442"/>
          </a:xfrm>
          <a:prstGeom prst="hexagon">
            <a:avLst>
              <a:gd name="adj" fmla="val 28654"/>
              <a:gd name="vf" fmla="val 11547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317500" dist="190500" dir="2700000" algn="tl" rotWithShape="0">
              <a:schemeClr val="accent6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6195" tIns="45720" rIns="91440" bIns="45720" numCol="1" spcCol="0" rtlCol="0" fromWordArt="0" anchor="ctr" anchorCtr="0" forceAA="0" compatLnSpc="1">
            <a:noAutofit/>
          </a:bodyPr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原生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广告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  - 地图上的推荐活动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 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- 同城活动推送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</p:txBody>
      </p:sp>
      <p:sp>
        <p:nvSpPr>
          <p:cNvPr id="99" name="六边形 98"/>
          <p:cNvSpPr/>
          <p:nvPr>
            <p:custDataLst>
              <p:tags r:id="rId18"/>
            </p:custDataLst>
          </p:nvPr>
        </p:nvSpPr>
        <p:spPr>
          <a:xfrm>
            <a:off x="13319625" y="4057681"/>
            <a:ext cx="3320777" cy="2877442"/>
          </a:xfrm>
          <a:prstGeom prst="hexagon">
            <a:avLst>
              <a:gd name="adj" fmla="val 28654"/>
              <a:gd name="vf" fmla="val 11547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317500" dist="190500" dir="2700000" algn="tl" rotWithShape="0">
              <a:schemeClr val="accent6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6195" tIns="45720" rIns="91440" bIns="45720" numCol="1" spcCol="0" rtlCol="0" fromWordArt="0" anchor="ctr" anchorCtr="0" forceAA="0" compatLnSpc="1">
            <a:noAutofit/>
          </a:bodyPr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付费活动报名费佣金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商品核销佣金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  <a:p>
            <a:pPr lvl="0" indent="0" algn="ctr" fontAlgn="auto">
              <a:lnSpc>
                <a:spcPct val="130000"/>
              </a:lnSpc>
              <a:buClrTx/>
              <a:buSzTx/>
              <a:buFontTx/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</p:txBody>
      </p:sp>
      <p:pic>
        <p:nvPicPr>
          <p:cNvPr id="100" name="图片 99" descr="huiyuan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82570" y="7828915"/>
            <a:ext cx="609600" cy="609600"/>
          </a:xfrm>
          <a:prstGeom prst="rect">
            <a:avLst/>
          </a:prstGeom>
        </p:spPr>
      </p:pic>
      <p:pic>
        <p:nvPicPr>
          <p:cNvPr id="107" name="图片 106" descr="huiyuan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74690" y="4240530"/>
            <a:ext cx="609600" cy="609600"/>
          </a:xfrm>
          <a:prstGeom prst="rect">
            <a:avLst/>
          </a:prstGeom>
        </p:spPr>
      </p:pic>
      <p:sp>
        <p:nvSpPr>
          <p:cNvPr id="109" name="矩形 108"/>
          <p:cNvSpPr/>
          <p:nvPr>
            <p:custDataLst>
              <p:tags r:id="rId20"/>
            </p:custDataLst>
          </p:nvPr>
        </p:nvSpPr>
        <p:spPr>
          <a:xfrm>
            <a:off x="7770495" y="8495030"/>
            <a:ext cx="2504440" cy="4540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+mn-ea"/>
                <a:sym typeface="+mn-ea"/>
              </a:rPr>
              <a:t>增值服务费</a:t>
            </a:r>
            <a:endParaRPr lang="zh-CN" altLang="en-US" sz="2800" b="1" dirty="0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cs typeface="+mn-ea"/>
              <a:sym typeface="+mn-ea"/>
            </a:endParaRPr>
          </a:p>
        </p:txBody>
      </p:sp>
      <p:sp>
        <p:nvSpPr>
          <p:cNvPr id="110" name="矩形 109"/>
          <p:cNvSpPr/>
          <p:nvPr>
            <p:custDataLst>
              <p:tags r:id="rId21"/>
            </p:custDataLst>
          </p:nvPr>
        </p:nvSpPr>
        <p:spPr>
          <a:xfrm>
            <a:off x="4191000" y="3728085"/>
            <a:ext cx="3587115" cy="4699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EE9F48"/>
                </a:solidFill>
                <a:latin typeface="STHeiti Regular" panose="02010600040101010101" charset="-122"/>
                <a:ea typeface="STHeiti Regular" panose="02010600040101010101" charset="-122"/>
                <a:cs typeface="+mn-ea"/>
                <a:sym typeface="+mn-ea"/>
              </a:rPr>
              <a:t>Zup plus </a:t>
            </a:r>
            <a:r>
              <a:rPr lang="zh-CN" altLang="en-US" sz="2800" b="1" dirty="0">
                <a:solidFill>
                  <a:srgbClr val="EE9F48"/>
                </a:solidFill>
                <a:latin typeface="STHeiti Regular" panose="02010600040101010101" charset="-122"/>
                <a:ea typeface="STHeiti Regular" panose="02010600040101010101" charset="-122"/>
                <a:cs typeface="+mn-ea"/>
                <a:sym typeface="+mn-ea"/>
              </a:rPr>
              <a:t>会员</a:t>
            </a:r>
            <a:endParaRPr lang="zh-CN" altLang="en-US" sz="2800" b="1" dirty="0">
              <a:solidFill>
                <a:srgbClr val="EE9F48"/>
              </a:solidFill>
              <a:latin typeface="STHeiti Regular" panose="02010600040101010101" charset="-122"/>
              <a:ea typeface="STHeiti Regular" panose="02010600040101010101" charset="-122"/>
              <a:cs typeface="+mn-ea"/>
              <a:sym typeface="+mn-ea"/>
            </a:endParaRPr>
          </a:p>
        </p:txBody>
      </p:sp>
      <p:sp>
        <p:nvSpPr>
          <p:cNvPr id="111" name="矩形 110"/>
          <p:cNvSpPr/>
          <p:nvPr>
            <p:custDataLst>
              <p:tags r:id="rId22"/>
            </p:custDataLst>
          </p:nvPr>
        </p:nvSpPr>
        <p:spPr>
          <a:xfrm>
            <a:off x="10744200" y="3802380"/>
            <a:ext cx="2504440" cy="44386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+mn-ea"/>
                <a:sym typeface="+mn-ea"/>
              </a:rPr>
              <a:t>Native Ads</a:t>
            </a:r>
            <a:endParaRPr lang="zh-CN" altLang="en-US" sz="2800" b="1" dirty="0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cs typeface="+mn-ea"/>
              <a:sym typeface="+mn-ea"/>
            </a:endParaRPr>
          </a:p>
        </p:txBody>
      </p:sp>
      <p:sp>
        <p:nvSpPr>
          <p:cNvPr id="112" name="矩形 111"/>
          <p:cNvSpPr/>
          <p:nvPr>
            <p:custDataLst>
              <p:tags r:id="rId23"/>
            </p:custDataLst>
          </p:nvPr>
        </p:nvSpPr>
        <p:spPr>
          <a:xfrm>
            <a:off x="13792200" y="8470900"/>
            <a:ext cx="2504440" cy="44386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+mn-ea"/>
                <a:sym typeface="+mn-ea"/>
              </a:rPr>
              <a:t>报名</a:t>
            </a:r>
            <a:r>
              <a:rPr lang="en-US" altLang="zh-CN" sz="2800" b="1" dirty="0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+mn-ea"/>
                <a:sym typeface="+mn-ea"/>
              </a:rPr>
              <a:t>/</a:t>
            </a:r>
            <a:r>
              <a:rPr lang="zh-CN" altLang="en-US" sz="2800" b="1" dirty="0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+mn-ea"/>
                <a:sym typeface="+mn-ea"/>
              </a:rPr>
              <a:t>销售抽佣</a:t>
            </a:r>
            <a:endParaRPr lang="zh-CN" altLang="en-US" sz="2800" b="1" dirty="0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cs typeface="+mn-ea"/>
              <a:sym typeface="+mn-ea"/>
            </a:endParaRPr>
          </a:p>
        </p:txBody>
      </p:sp>
      <p:sp>
        <p:nvSpPr>
          <p:cNvPr id="113" name="矩形 112"/>
          <p:cNvSpPr/>
          <p:nvPr>
            <p:custDataLst>
              <p:tags r:id="rId24"/>
            </p:custDataLst>
          </p:nvPr>
        </p:nvSpPr>
        <p:spPr>
          <a:xfrm>
            <a:off x="1371600" y="8446770"/>
            <a:ext cx="3520440" cy="4540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67CA9B"/>
                </a:solidFill>
                <a:latin typeface="STHeiti Regular" panose="02010600040101010101" charset="-122"/>
                <a:ea typeface="STHeiti Regular" panose="02010600040101010101" charset="-122"/>
                <a:cs typeface="+mn-ea"/>
                <a:sym typeface="+mn-ea"/>
              </a:rPr>
              <a:t>商户认证服务费</a:t>
            </a:r>
            <a:endParaRPr lang="zh-CN" altLang="en-US" sz="2800" b="1" dirty="0">
              <a:solidFill>
                <a:srgbClr val="67CA9B"/>
              </a:solidFill>
              <a:latin typeface="STHeiti Regular" panose="02010600040101010101" charset="-122"/>
              <a:ea typeface="STHeiti Regular" panose="02010600040101010101" charset="-122"/>
              <a:cs typeface="+mn-ea"/>
              <a:sym typeface="+mn-ea"/>
            </a:endParaRPr>
          </a:p>
        </p:txBody>
      </p:sp>
      <p:pic>
        <p:nvPicPr>
          <p:cNvPr id="115" name="图片 114" descr="-xianshangguanggao-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643360" y="4305300"/>
            <a:ext cx="714375" cy="714375"/>
          </a:xfrm>
          <a:prstGeom prst="rect">
            <a:avLst/>
          </a:prstGeom>
        </p:spPr>
      </p:pic>
      <p:pic>
        <p:nvPicPr>
          <p:cNvPr id="117" name="图片 116" descr="baomingfei-2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729460" y="7931150"/>
            <a:ext cx="534670" cy="443230"/>
          </a:xfrm>
          <a:prstGeom prst="rect">
            <a:avLst/>
          </a:prstGeom>
        </p:spPr>
      </p:pic>
      <p:pic>
        <p:nvPicPr>
          <p:cNvPr id="118" name="图片 117" descr="zengzhifuwu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35695" y="7816215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12"/>
          <p:cNvSpPr txBox="1"/>
          <p:nvPr/>
        </p:nvSpPr>
        <p:spPr>
          <a:xfrm>
            <a:off x="990600" y="612140"/>
            <a:ext cx="16177260" cy="1140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8895"/>
              </a:lnSpc>
              <a:spcBef>
                <a:spcPct val="0"/>
              </a:spcBef>
            </a:pPr>
            <a:r>
              <a:rPr lang="zh-CN" altLang="en-US" sz="8000" b="1" spc="-266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Aileron Bold"/>
                <a:sym typeface="Aileron Bold"/>
              </a:rPr>
              <a:t>市场策略</a:t>
            </a:r>
            <a:endParaRPr lang="zh-CN" altLang="en-US" sz="8000" b="1" spc="-266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cs typeface="Aileron Bold"/>
              <a:sym typeface="Aileron Bold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14400" y="2019300"/>
            <a:ext cx="161772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2800" spc="-18">
                <a:solidFill>
                  <a:schemeClr val="tx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 获取用户（KOL）→ </a:t>
            </a:r>
            <a:r>
              <a:rPr lang="zh-CN" altLang="en-US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精细运营（城市）</a:t>
            </a:r>
            <a:r>
              <a:rPr lang="zh-CN" altLang="en-US" sz="2800" spc="-18">
                <a:solidFill>
                  <a:schemeClr val="tx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→ </a:t>
            </a:r>
            <a:r>
              <a:rPr lang="zh-CN" altLang="en-US" sz="28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丰富供给（商户合作）</a:t>
            </a:r>
            <a:r>
              <a:rPr lang="zh-CN" altLang="en-US" sz="2800" spc="-18">
                <a:solidFill>
                  <a:schemeClr val="tx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→ 生态合作→ 广告放大→ </a:t>
            </a:r>
            <a:r>
              <a:rPr lang="zh-CN" altLang="en-US" sz="2800" spc="-18">
                <a:solidFill>
                  <a:schemeClr val="tx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社交裂变</a:t>
            </a:r>
            <a:endParaRPr lang="zh-CN" altLang="en-US" sz="2800" spc="-18">
              <a:solidFill>
                <a:schemeClr val="tx1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</a:endParaRPr>
          </a:p>
        </p:txBody>
      </p:sp>
      <p:sp>
        <p:nvSpPr>
          <p:cNvPr id="84" name="矩形: 圆角 24"/>
          <p:cNvSpPr/>
          <p:nvPr>
            <p:custDataLst>
              <p:tags r:id="rId1"/>
            </p:custDataLst>
          </p:nvPr>
        </p:nvSpPr>
        <p:spPr>
          <a:xfrm>
            <a:off x="1059939" y="2972066"/>
            <a:ext cx="4738873" cy="3078575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>
            <a:solidFill>
              <a:srgbClr val="6ACB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85" name="矩形 84"/>
          <p:cNvSpPr/>
          <p:nvPr>
            <p:custDataLst>
              <p:tags r:id="rId2"/>
            </p:custDataLst>
          </p:nvPr>
        </p:nvSpPr>
        <p:spPr>
          <a:xfrm>
            <a:off x="1355412" y="3932608"/>
            <a:ext cx="4148269" cy="16149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建立标准化达人合作体系。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- 总结高转化内容模板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- 批量复制高转化内容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- 达人按播放量/CPS结算</a:t>
            </a:r>
            <a:endParaRPr lang="zh-CN" altLang="en-US" dirty="0">
              <a:ln>
                <a:noFill/>
                <a:prstDash val="sysDot"/>
              </a:ln>
              <a:solidFill>
                <a:srgbClr val="212121"/>
              </a:solidFill>
              <a:latin typeface="STHeiti Light" panose="02010600040101010101" charset="-122"/>
              <a:ea typeface="STHeiti Light" panose="02010600040101010101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ln>
                <a:noFill/>
                <a:prstDash val="sysDot"/>
              </a:ln>
              <a:solidFill>
                <a:srgbClr val="212121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</a:endParaRPr>
          </a:p>
        </p:txBody>
      </p:sp>
      <p:sp>
        <p:nvSpPr>
          <p:cNvPr id="86" name="矩形 85"/>
          <p:cNvSpPr/>
          <p:nvPr>
            <p:custDataLst>
              <p:tags r:id="rId3"/>
            </p:custDataLst>
          </p:nvPr>
        </p:nvSpPr>
        <p:spPr>
          <a:xfrm>
            <a:off x="1355725" y="3089910"/>
            <a:ext cx="3651250" cy="8432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+mn-ea"/>
              </a:rPr>
              <a:t>自媒体与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+mn-ea"/>
              </a:rPr>
              <a:t>KOL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+mn-ea"/>
              </a:rPr>
              <a:t>矩阵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STHeiti Regular" panose="02010600040101010101" charset="-122"/>
              <a:ea typeface="STHeiti Regular" panose="02010600040101010101" charset="-122"/>
              <a:cs typeface="STHeiti Regular" panose="02010600040101010101" charset="-122"/>
              <a:sym typeface="+mn-ea"/>
            </a:endParaRPr>
          </a:p>
        </p:txBody>
      </p:sp>
      <p:sp>
        <p:nvSpPr>
          <p:cNvPr id="87" name="矩形 86"/>
          <p:cNvSpPr/>
          <p:nvPr>
            <p:custDataLst>
              <p:tags r:id="rId4"/>
            </p:custDataLst>
          </p:nvPr>
        </p:nvSpPr>
        <p:spPr>
          <a:xfrm>
            <a:off x="4465126" y="3089761"/>
            <a:ext cx="1038595" cy="84315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altLang="zh-CN" sz="3200" b="1">
                <a:solidFill>
                  <a:srgbClr val="67CA9B"/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</a:rPr>
              <a:t>01</a:t>
            </a:r>
            <a:endParaRPr lang="en-US" altLang="zh-CN" sz="3200" b="1">
              <a:solidFill>
                <a:srgbClr val="67CA9B"/>
              </a:solidFill>
              <a:latin typeface="STHeiti Light" panose="02010600040101010101" charset="-122"/>
              <a:ea typeface="STHeiti Light" panose="02010600040101010101" charset="-122"/>
              <a:cs typeface="+mn-ea"/>
            </a:endParaRPr>
          </a:p>
        </p:txBody>
      </p:sp>
      <p:sp>
        <p:nvSpPr>
          <p:cNvPr id="88" name="矩形: 圆角 17"/>
          <p:cNvSpPr/>
          <p:nvPr>
            <p:custDataLst>
              <p:tags r:id="rId5"/>
            </p:custDataLst>
          </p:nvPr>
        </p:nvSpPr>
        <p:spPr>
          <a:xfrm>
            <a:off x="6411076" y="2972066"/>
            <a:ext cx="4738873" cy="3078575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>
            <a:solidFill>
              <a:srgbClr val="EE9F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89" name="矩形 88"/>
          <p:cNvSpPr/>
          <p:nvPr>
            <p:custDataLst>
              <p:tags r:id="rId6"/>
            </p:custDataLst>
          </p:nvPr>
        </p:nvSpPr>
        <p:spPr>
          <a:xfrm>
            <a:off x="6706549" y="3932608"/>
            <a:ext cx="4148269" cy="16149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n>
                  <a:noFill/>
                  <a:prstDash val="sysDot"/>
                </a:ln>
                <a:solidFill>
                  <a:srgbClr val="212121"/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优先聚焦北京等核心城市，以重点商圈为中心建立种子用户和种子商户网络，形成区域活跃度后逐步复制至更多商圈和城市，实现低成本、高效率的城市扩张。</a:t>
            </a:r>
            <a:endParaRPr lang="zh-CN" altLang="en-US" dirty="0">
              <a:ln>
                <a:noFill/>
                <a:prstDash val="sysDot"/>
              </a:ln>
              <a:solidFill>
                <a:srgbClr val="212121"/>
              </a:solidFill>
              <a:latin typeface="STHeiti Light" panose="02010600040101010101" charset="-122"/>
              <a:ea typeface="STHeiti Light" panose="02010600040101010101" charset="-122"/>
              <a:cs typeface="+mn-ea"/>
            </a:endParaRPr>
          </a:p>
        </p:txBody>
      </p:sp>
      <p:sp>
        <p:nvSpPr>
          <p:cNvPr id="90" name="矩形 89"/>
          <p:cNvSpPr/>
          <p:nvPr>
            <p:custDataLst>
              <p:tags r:id="rId7"/>
            </p:custDataLst>
          </p:nvPr>
        </p:nvSpPr>
        <p:spPr>
          <a:xfrm>
            <a:off x="6706235" y="3089910"/>
            <a:ext cx="3651250" cy="8432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800" b="1" dirty="0">
                <a:latin typeface="STHeiti Regular" panose="02010600040101010101" charset="-122"/>
                <a:ea typeface="STHeiti Regular" panose="02010600040101010101" charset="-122"/>
                <a:cs typeface="+mn-ea"/>
                <a:sym typeface="+mn-ea"/>
              </a:rPr>
              <a:t>城市精细化运营</a:t>
            </a:r>
            <a:endParaRPr lang="zh-CN" altLang="en-US" sz="2800" b="1">
              <a:solidFill>
                <a:schemeClr val="accent6"/>
              </a:solidFill>
              <a:latin typeface="STHeiti Regular" panose="02010600040101010101" charset="-122"/>
              <a:ea typeface="STHeiti Regular" panose="02010600040101010101" charset="-122"/>
              <a:cs typeface="+mn-ea"/>
            </a:endParaRPr>
          </a:p>
        </p:txBody>
      </p:sp>
      <p:sp>
        <p:nvSpPr>
          <p:cNvPr id="91" name="矩形 90"/>
          <p:cNvSpPr/>
          <p:nvPr>
            <p:custDataLst>
              <p:tags r:id="rId8"/>
            </p:custDataLst>
          </p:nvPr>
        </p:nvSpPr>
        <p:spPr>
          <a:xfrm>
            <a:off x="9816262" y="3089761"/>
            <a:ext cx="1038596" cy="84315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altLang="zh-CN" sz="3200" b="1">
                <a:solidFill>
                  <a:schemeClr val="accent6"/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</a:rPr>
              <a:t>02</a:t>
            </a:r>
            <a:endParaRPr lang="en-US" altLang="zh-CN" sz="3200" b="1">
              <a:solidFill>
                <a:schemeClr val="accent6"/>
              </a:solidFill>
              <a:latin typeface="STHeiti Light" panose="02010600040101010101" charset="-122"/>
              <a:ea typeface="STHeiti Light" panose="02010600040101010101" charset="-122"/>
              <a:cs typeface="+mn-ea"/>
            </a:endParaRPr>
          </a:p>
        </p:txBody>
      </p:sp>
      <p:sp>
        <p:nvSpPr>
          <p:cNvPr id="92" name="矩形: 圆角 22"/>
          <p:cNvSpPr/>
          <p:nvPr>
            <p:custDataLst>
              <p:tags r:id="rId9"/>
            </p:custDataLst>
          </p:nvPr>
        </p:nvSpPr>
        <p:spPr>
          <a:xfrm>
            <a:off x="11749524" y="2972066"/>
            <a:ext cx="4738873" cy="3078575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>
            <a:solidFill>
              <a:srgbClr val="6ACB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93" name="矩形 92"/>
          <p:cNvSpPr/>
          <p:nvPr>
            <p:custDataLst>
              <p:tags r:id="rId10"/>
            </p:custDataLst>
          </p:nvPr>
        </p:nvSpPr>
        <p:spPr>
          <a:xfrm>
            <a:off x="12044090" y="3856408"/>
            <a:ext cx="4148270" cy="16149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n>
                  <a:noFill/>
                  <a:prstDash val="sysDot"/>
                </a:ln>
                <a:solidFill>
                  <a:srgbClr val="21212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拓展酒馆、LiveHouse、咖啡馆、运动场馆等高频社交场景的优质商户入驻，通过实时活动发布、店内二维码、联合活动、用户福利等方式，将商户流量转化为平台用户，实现商户与平台双向增长。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</p:txBody>
      </p:sp>
      <p:sp>
        <p:nvSpPr>
          <p:cNvPr id="94" name="矩形 93"/>
          <p:cNvSpPr/>
          <p:nvPr>
            <p:custDataLst>
              <p:tags r:id="rId11"/>
            </p:custDataLst>
          </p:nvPr>
        </p:nvSpPr>
        <p:spPr>
          <a:xfrm>
            <a:off x="12044045" y="3089910"/>
            <a:ext cx="3651250" cy="8432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+mn-ea"/>
              </a:rPr>
              <a:t>商户合作获客（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+mn-ea"/>
              </a:rPr>
              <a:t>B2C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+mn-ea"/>
              </a:rPr>
              <a:t>）</a:t>
            </a:r>
            <a:endParaRPr lang="zh-CN" altLang="en-US" sz="2800" b="1">
              <a:solidFill>
                <a:schemeClr val="accent5"/>
              </a:solidFill>
              <a:latin typeface="STHeiti Regular" panose="02010600040101010101" charset="-122"/>
              <a:ea typeface="STHeiti Regular" panose="02010600040101010101" charset="-122"/>
              <a:cs typeface="+mn-ea"/>
            </a:endParaRPr>
          </a:p>
        </p:txBody>
      </p:sp>
      <p:sp>
        <p:nvSpPr>
          <p:cNvPr id="95" name="矩形 94"/>
          <p:cNvSpPr/>
          <p:nvPr>
            <p:custDataLst>
              <p:tags r:id="rId12"/>
            </p:custDataLst>
          </p:nvPr>
        </p:nvSpPr>
        <p:spPr>
          <a:xfrm>
            <a:off x="15153804" y="3089761"/>
            <a:ext cx="1038595" cy="84315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altLang="zh-CN" sz="3200" b="1">
                <a:solidFill>
                  <a:srgbClr val="67CA9B"/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</a:rPr>
              <a:t>03</a:t>
            </a:r>
            <a:endParaRPr lang="en-US" altLang="zh-CN" sz="3200" b="1">
              <a:solidFill>
                <a:srgbClr val="67CA9B"/>
              </a:solidFill>
              <a:latin typeface="STHeiti Light" panose="02010600040101010101" charset="-122"/>
              <a:ea typeface="STHeiti Light" panose="02010600040101010101" charset="-122"/>
              <a:cs typeface="+mn-ea"/>
            </a:endParaRPr>
          </a:p>
        </p:txBody>
      </p:sp>
      <p:sp>
        <p:nvSpPr>
          <p:cNvPr id="96" name="矩形: 圆角 39"/>
          <p:cNvSpPr/>
          <p:nvPr>
            <p:custDataLst>
              <p:tags r:id="rId13"/>
            </p:custDataLst>
          </p:nvPr>
        </p:nvSpPr>
        <p:spPr>
          <a:xfrm>
            <a:off x="1071722" y="6438885"/>
            <a:ext cx="4738873" cy="3078575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>
            <a:solidFill>
              <a:srgbClr val="EE9F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97" name="矩形 96"/>
          <p:cNvSpPr/>
          <p:nvPr>
            <p:custDataLst>
              <p:tags r:id="rId14"/>
            </p:custDataLst>
          </p:nvPr>
        </p:nvSpPr>
        <p:spPr>
          <a:xfrm>
            <a:off x="1367194" y="7399426"/>
            <a:ext cx="4148269" cy="16149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n>
                  <a:noFill/>
                  <a:prstDash val="sysDot"/>
                </a:ln>
                <a:solidFill>
                  <a:srgbClr val="212121"/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</a:rPr>
              <a:t>积极与地图、本地生活、演出、活动等平台探索内容互通、联合运营及流量合作，扩大平台触达范围，提升用户获取效率和品牌影响力。</a:t>
            </a:r>
            <a:endParaRPr lang="zh-CN" altLang="en-US">
              <a:ln>
                <a:noFill/>
                <a:prstDash val="sysDot"/>
              </a:ln>
              <a:solidFill>
                <a:srgbClr val="212121"/>
              </a:solidFill>
              <a:latin typeface="STHeiti Light" panose="02010600040101010101" charset="-122"/>
              <a:ea typeface="STHeiti Light" panose="02010600040101010101" charset="-122"/>
              <a:cs typeface="+mn-ea"/>
            </a:endParaRPr>
          </a:p>
        </p:txBody>
      </p:sp>
      <p:sp>
        <p:nvSpPr>
          <p:cNvPr id="98" name="矩形 97"/>
          <p:cNvSpPr/>
          <p:nvPr>
            <p:custDataLst>
              <p:tags r:id="rId15"/>
            </p:custDataLst>
          </p:nvPr>
        </p:nvSpPr>
        <p:spPr>
          <a:xfrm>
            <a:off x="1367155" y="6556375"/>
            <a:ext cx="3651250" cy="8432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800" b="1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+mn-ea"/>
              </a:rPr>
              <a:t>平台生态合作</a:t>
            </a:r>
            <a:endParaRPr lang="zh-CN" altLang="en-US" sz="2800" b="1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cs typeface="+mn-ea"/>
            </a:endParaRPr>
          </a:p>
        </p:txBody>
      </p:sp>
      <p:sp>
        <p:nvSpPr>
          <p:cNvPr id="99" name="矩形 98"/>
          <p:cNvSpPr/>
          <p:nvPr>
            <p:custDataLst>
              <p:tags r:id="rId16"/>
            </p:custDataLst>
          </p:nvPr>
        </p:nvSpPr>
        <p:spPr>
          <a:xfrm>
            <a:off x="4476908" y="6556580"/>
            <a:ext cx="1038595" cy="84315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altLang="zh-CN" sz="3200" b="1">
                <a:solidFill>
                  <a:schemeClr val="accent6"/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</a:rPr>
              <a:t>04</a:t>
            </a:r>
            <a:endParaRPr lang="en-US" altLang="zh-CN" sz="3200" b="1">
              <a:solidFill>
                <a:schemeClr val="accent6"/>
              </a:solidFill>
              <a:latin typeface="STHeiti Light" panose="02010600040101010101" charset="-122"/>
              <a:ea typeface="STHeiti Light" panose="02010600040101010101" charset="-122"/>
              <a:cs typeface="+mn-ea"/>
            </a:endParaRPr>
          </a:p>
        </p:txBody>
      </p:sp>
      <p:sp>
        <p:nvSpPr>
          <p:cNvPr id="100" name="矩形: 圆角 44"/>
          <p:cNvSpPr/>
          <p:nvPr>
            <p:custDataLst>
              <p:tags r:id="rId17"/>
            </p:custDataLst>
          </p:nvPr>
        </p:nvSpPr>
        <p:spPr>
          <a:xfrm>
            <a:off x="6411076" y="6438885"/>
            <a:ext cx="4738873" cy="3078575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>
            <a:solidFill>
              <a:srgbClr val="6ACB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101" name="矩形 100"/>
          <p:cNvSpPr/>
          <p:nvPr>
            <p:custDataLst>
              <p:tags r:id="rId18"/>
            </p:custDataLst>
          </p:nvPr>
        </p:nvSpPr>
        <p:spPr>
          <a:xfrm>
            <a:off x="6706549" y="7399426"/>
            <a:ext cx="4148269" cy="16149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  <a:sym typeface="+mn-ea"/>
              </a:rPr>
              <a:t>结合平台运营数据，围绕城市、兴趣和消费场景进行精准广告投放，持续优化获客成本；结合节假日、热点事件和城市特色，策划具有传播性的城市话题和线上活动。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  <a:cs typeface="+mn-ea"/>
              <a:sym typeface="+mn-ea"/>
            </a:endParaRPr>
          </a:p>
        </p:txBody>
      </p:sp>
      <p:sp>
        <p:nvSpPr>
          <p:cNvPr id="102" name="矩形 101"/>
          <p:cNvSpPr/>
          <p:nvPr>
            <p:custDataLst>
              <p:tags r:id="rId19"/>
            </p:custDataLst>
          </p:nvPr>
        </p:nvSpPr>
        <p:spPr>
          <a:xfrm>
            <a:off x="6706235" y="6556375"/>
            <a:ext cx="3651250" cy="8432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Regular" panose="02010600040101010101" charset="-122"/>
                <a:ea typeface="STHeiti Regular" panose="02010600040101010101" charset="-122"/>
                <a:cs typeface="+mn-ea"/>
                <a:sym typeface="+mn-ea"/>
              </a:rPr>
              <a:t>广告投放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Regular" panose="02010600040101010101" charset="-122"/>
                <a:ea typeface="STHeiti Regular" panose="02010600040101010101" charset="-122"/>
                <a:cs typeface="+mn-ea"/>
                <a:sym typeface="+mn-ea"/>
              </a:rPr>
              <a:t>+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Regular" panose="02010600040101010101" charset="-122"/>
                <a:ea typeface="STHeiti Regular" panose="02010600040101010101" charset="-122"/>
                <a:cs typeface="+mn-ea"/>
                <a:sym typeface="+mn-ea"/>
              </a:rPr>
              <a:t>事件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Regular" panose="02010600040101010101" charset="-122"/>
                <a:ea typeface="STHeiti Regular" panose="02010600040101010101" charset="-122"/>
                <a:cs typeface="+mn-ea"/>
                <a:sym typeface="+mn-ea"/>
              </a:rPr>
              <a:t>传播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STHeiti Regular" panose="02010600040101010101" charset="-122"/>
              <a:ea typeface="STHeiti Regular" panose="02010600040101010101" charset="-122"/>
              <a:cs typeface="+mn-ea"/>
              <a:sym typeface="+mn-ea"/>
            </a:endParaRPr>
          </a:p>
        </p:txBody>
      </p:sp>
      <p:sp>
        <p:nvSpPr>
          <p:cNvPr id="103" name="矩形 102"/>
          <p:cNvSpPr/>
          <p:nvPr>
            <p:custDataLst>
              <p:tags r:id="rId20"/>
            </p:custDataLst>
          </p:nvPr>
        </p:nvSpPr>
        <p:spPr>
          <a:xfrm>
            <a:off x="9816262" y="6556580"/>
            <a:ext cx="1038596" cy="84315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altLang="zh-CN" sz="3200" b="1">
                <a:solidFill>
                  <a:srgbClr val="67CA9B"/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</a:rPr>
              <a:t>05</a:t>
            </a:r>
            <a:endParaRPr lang="en-US" altLang="zh-CN" sz="3200" b="1">
              <a:solidFill>
                <a:srgbClr val="67CA9B"/>
              </a:solidFill>
              <a:latin typeface="STHeiti Light" panose="02010600040101010101" charset="-122"/>
              <a:ea typeface="STHeiti Light" panose="02010600040101010101" charset="-122"/>
              <a:cs typeface="+mn-ea"/>
            </a:endParaRPr>
          </a:p>
        </p:txBody>
      </p:sp>
      <p:sp>
        <p:nvSpPr>
          <p:cNvPr id="104" name="矩形: 圆角 49"/>
          <p:cNvSpPr/>
          <p:nvPr>
            <p:custDataLst>
              <p:tags r:id="rId21"/>
            </p:custDataLst>
          </p:nvPr>
        </p:nvSpPr>
        <p:spPr>
          <a:xfrm>
            <a:off x="11736835" y="6438885"/>
            <a:ext cx="4738873" cy="3078575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>
            <a:solidFill>
              <a:srgbClr val="EE9F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105" name="矩形 104"/>
          <p:cNvSpPr/>
          <p:nvPr>
            <p:custDataLst>
              <p:tags r:id="rId22"/>
            </p:custDataLst>
          </p:nvPr>
        </p:nvSpPr>
        <p:spPr>
          <a:xfrm>
            <a:off x="12032307" y="7399426"/>
            <a:ext cx="4148269" cy="16149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n>
                  <a:noFill/>
                  <a:prstDash val="sysDot"/>
                </a:ln>
                <a:solidFill>
                  <a:srgbClr val="212121"/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</a:rPr>
              <a:t>围绕组局、邀约、活动分享等核心场景，建立邀请好友、活动分享和社交传播机制，引导用户在真实线下社交过程中自然裂变，持续提升用户增长效率。</a:t>
            </a:r>
            <a:endParaRPr lang="zh-CN" altLang="en-US">
              <a:ln>
                <a:noFill/>
                <a:prstDash val="sysDot"/>
              </a:ln>
              <a:solidFill>
                <a:srgbClr val="212121"/>
              </a:solidFill>
              <a:latin typeface="STHeiti Light" panose="02010600040101010101" charset="-122"/>
              <a:ea typeface="STHeiti Light" panose="02010600040101010101" charset="-122"/>
              <a:cs typeface="+mn-ea"/>
            </a:endParaRPr>
          </a:p>
        </p:txBody>
      </p:sp>
      <p:sp>
        <p:nvSpPr>
          <p:cNvPr id="106" name="矩形 105"/>
          <p:cNvSpPr/>
          <p:nvPr>
            <p:custDataLst>
              <p:tags r:id="rId23"/>
            </p:custDataLst>
          </p:nvPr>
        </p:nvSpPr>
        <p:spPr>
          <a:xfrm>
            <a:off x="12032615" y="6556375"/>
            <a:ext cx="3651250" cy="8432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800" b="1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+mn-ea"/>
              </a:rPr>
              <a:t>社交裂变增长</a:t>
            </a:r>
            <a:endParaRPr lang="zh-CN" altLang="en-US" sz="2800" b="1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cs typeface="+mn-ea"/>
            </a:endParaRPr>
          </a:p>
        </p:txBody>
      </p:sp>
      <p:sp>
        <p:nvSpPr>
          <p:cNvPr id="107" name="矩形 106"/>
          <p:cNvSpPr/>
          <p:nvPr>
            <p:custDataLst>
              <p:tags r:id="rId24"/>
            </p:custDataLst>
          </p:nvPr>
        </p:nvSpPr>
        <p:spPr>
          <a:xfrm>
            <a:off x="15142021" y="6556580"/>
            <a:ext cx="1038595" cy="84315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altLang="zh-CN" sz="3200" b="1">
                <a:solidFill>
                  <a:schemeClr val="accent6"/>
                </a:solidFill>
                <a:latin typeface="STHeiti Light" panose="02010600040101010101" charset="-122"/>
                <a:ea typeface="STHeiti Light" panose="02010600040101010101" charset="-122"/>
                <a:cs typeface="+mn-ea"/>
              </a:rPr>
              <a:t>06</a:t>
            </a:r>
            <a:endParaRPr lang="en-US" altLang="zh-CN" sz="3200" b="1">
              <a:solidFill>
                <a:schemeClr val="accent6"/>
              </a:solidFill>
              <a:latin typeface="STHeiti Light" panose="02010600040101010101" charset="-122"/>
              <a:ea typeface="STHeiti Light" panose="02010600040101010101" charset="-122"/>
              <a:cs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>
            <p:custDataLst>
              <p:tags r:id="rId1"/>
            </p:custDataLst>
          </p:nvPr>
        </p:nvCxnSpPr>
        <p:spPr>
          <a:xfrm>
            <a:off x="1082280" y="8171677"/>
            <a:ext cx="16884015" cy="1968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endCxn id="11" idx="0"/>
          </p:cNvCxnSpPr>
          <p:nvPr>
            <p:custDataLst>
              <p:tags r:id="rId2"/>
            </p:custDataLst>
          </p:nvPr>
        </p:nvCxnSpPr>
        <p:spPr>
          <a:xfrm flipV="1">
            <a:off x="4424028" y="5347096"/>
            <a:ext cx="2592" cy="274630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  <a:alpha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直角三角形 10"/>
          <p:cNvSpPr/>
          <p:nvPr>
            <p:custDataLst>
              <p:tags r:id="rId3"/>
            </p:custDataLst>
          </p:nvPr>
        </p:nvSpPr>
        <p:spPr>
          <a:xfrm flipV="1">
            <a:off x="4426724" y="5135748"/>
            <a:ext cx="484301" cy="211487"/>
          </a:xfrm>
          <a:prstGeom prst="rtTriangle">
            <a:avLst/>
          </a:prstGeom>
          <a:solidFill>
            <a:srgbClr val="15B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15" name="椭圆 14"/>
          <p:cNvSpPr/>
          <p:nvPr>
            <p:custDataLst>
              <p:tags r:id="rId4"/>
            </p:custDataLst>
          </p:nvPr>
        </p:nvSpPr>
        <p:spPr>
          <a:xfrm>
            <a:off x="4338610" y="8093453"/>
            <a:ext cx="171837" cy="171837"/>
          </a:xfrm>
          <a:prstGeom prst="ellipse">
            <a:avLst/>
          </a:prstGeom>
          <a:solidFill>
            <a:srgbClr val="67CA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1037158" y="4528821"/>
            <a:ext cx="3873447" cy="607324"/>
          </a:xfrm>
          <a:prstGeom prst="rect">
            <a:avLst/>
          </a:prstGeom>
          <a:solidFill>
            <a:srgbClr val="67CA9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44000" rtlCol="0" anchor="ctr"/>
          <a:p>
            <a:r>
              <a:rPr lang="zh-CN" altLang="en-US" sz="2400" b="1" spc="100" dirty="0">
                <a:solidFill>
                  <a:srgbClr val="FFFFFF"/>
                </a:solidFill>
                <a:latin typeface="STHeiti Regular" panose="02010600040101010101" charset="-122"/>
                <a:ea typeface="STHeiti Regular" panose="02010600040101010101" charset="-122"/>
              </a:rPr>
              <a:t>产品完善与市场拓展</a:t>
            </a:r>
            <a:endParaRPr lang="zh-CN" altLang="en-US" sz="2400" b="1" spc="100" dirty="0">
              <a:solidFill>
                <a:srgbClr val="FFFFFF"/>
              </a:solidFill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6"/>
            </p:custDataLst>
          </p:nvPr>
        </p:nvSpPr>
        <p:spPr>
          <a:xfrm>
            <a:off x="1154430" y="5375275"/>
            <a:ext cx="3057525" cy="27006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</a:rPr>
              <a:t>持续迭代产品体验，完善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</a:rPr>
              <a:t>AI Agent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</a:rPr>
              <a:t>及商户服务等核心功能；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</a:rPr>
              <a:t>全面启动市场推广，建立稳定的内容、用户及商户运营体系，完成天使轮融资。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</a:endParaRPr>
          </a:p>
        </p:txBody>
      </p:sp>
      <p:cxnSp>
        <p:nvCxnSpPr>
          <p:cNvPr id="17" name="直接连接符 16"/>
          <p:cNvCxnSpPr/>
          <p:nvPr>
            <p:custDataLst>
              <p:tags r:id="rId7"/>
            </p:custDataLst>
          </p:nvPr>
        </p:nvCxnSpPr>
        <p:spPr>
          <a:xfrm flipH="1" flipV="1">
            <a:off x="8624643" y="4479885"/>
            <a:ext cx="1" cy="360542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  <a:alpha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>
            <p:custDataLst>
              <p:tags r:id="rId8"/>
            </p:custDataLst>
          </p:nvPr>
        </p:nvSpPr>
        <p:spPr>
          <a:xfrm>
            <a:off x="8538328" y="8085361"/>
            <a:ext cx="171837" cy="17183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24" name="矩形 23"/>
          <p:cNvSpPr/>
          <p:nvPr>
            <p:custDataLst>
              <p:tags r:id="rId9"/>
            </p:custDataLst>
          </p:nvPr>
        </p:nvSpPr>
        <p:spPr>
          <a:xfrm>
            <a:off x="5223061" y="3628919"/>
            <a:ext cx="3887477" cy="607324"/>
          </a:xfrm>
          <a:prstGeom prst="rect">
            <a:avLst/>
          </a:prstGeom>
          <a:solidFill>
            <a:srgbClr val="EE9F4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44000" rtlCol="0" anchor="ctr"/>
          <a:p>
            <a:r>
              <a:rPr lang="zh-CN" altLang="en-US" sz="2400" b="1" spc="100" dirty="0">
                <a:solidFill>
                  <a:srgbClr val="FFFFFF"/>
                </a:solidFill>
                <a:latin typeface="STHeiti Regular" panose="02010600040101010101" charset="-122"/>
                <a:ea typeface="STHeiti Regular" panose="02010600040101010101" charset="-122"/>
              </a:rPr>
              <a:t>商业化</a:t>
            </a:r>
            <a:r>
              <a:rPr lang="zh-CN" altLang="en-US" sz="2400" b="1" spc="100" dirty="0">
                <a:solidFill>
                  <a:srgbClr val="FFFFFF"/>
                </a:solidFill>
                <a:latin typeface="STHeiti Regular" panose="02010600040101010101" charset="-122"/>
                <a:ea typeface="STHeiti Regular" panose="02010600040101010101" charset="-122"/>
              </a:rPr>
              <a:t>建设</a:t>
            </a:r>
            <a:endParaRPr lang="zh-CN" altLang="en-US" sz="2400" b="1" spc="100" dirty="0">
              <a:solidFill>
                <a:srgbClr val="FFFFFF"/>
              </a:solidFill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25" name="直角三角形 24"/>
          <p:cNvSpPr/>
          <p:nvPr>
            <p:custDataLst>
              <p:tags r:id="rId10"/>
            </p:custDataLst>
          </p:nvPr>
        </p:nvSpPr>
        <p:spPr>
          <a:xfrm flipV="1">
            <a:off x="8624643" y="4236064"/>
            <a:ext cx="484301" cy="211487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1"/>
            </p:custDataLst>
          </p:nvPr>
        </p:nvSpPr>
        <p:spPr>
          <a:xfrm>
            <a:off x="5302885" y="4446905"/>
            <a:ext cx="3058160" cy="36055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</a:rPr>
              <a:t>持续提升用户规模和平台活跃度，完善会员订阅、商户服务、广告推广等商业化体系，形成稳定收入来源；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</a:rPr>
              <a:t>实现累计注册用户100万+、认证商户5000+；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</a:rPr>
              <a:t>启动Pre-A轮融资。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12"/>
            </p:custDataLst>
          </p:nvPr>
        </p:nvCxnSpPr>
        <p:spPr>
          <a:xfrm flipH="1" flipV="1">
            <a:off x="12866813" y="3171664"/>
            <a:ext cx="1" cy="491364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  <a:alpha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直角三角形 30"/>
          <p:cNvSpPr/>
          <p:nvPr>
            <p:custDataLst>
              <p:tags r:id="rId13"/>
            </p:custDataLst>
          </p:nvPr>
        </p:nvSpPr>
        <p:spPr>
          <a:xfrm flipV="1">
            <a:off x="12876703" y="3282256"/>
            <a:ext cx="484301" cy="211487"/>
          </a:xfrm>
          <a:prstGeom prst="rtTriangle">
            <a:avLst/>
          </a:prstGeom>
          <a:solidFill>
            <a:srgbClr val="15B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32" name="椭圆 31"/>
          <p:cNvSpPr/>
          <p:nvPr>
            <p:custDataLst>
              <p:tags r:id="rId14"/>
            </p:custDataLst>
          </p:nvPr>
        </p:nvSpPr>
        <p:spPr>
          <a:xfrm>
            <a:off x="12780497" y="8085361"/>
            <a:ext cx="171837" cy="171837"/>
          </a:xfrm>
          <a:prstGeom prst="ellipse">
            <a:avLst/>
          </a:prstGeom>
          <a:solidFill>
            <a:srgbClr val="67CA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44" name="矩形 43"/>
          <p:cNvSpPr/>
          <p:nvPr>
            <p:custDataLst>
              <p:tags r:id="rId15"/>
            </p:custDataLst>
          </p:nvPr>
        </p:nvSpPr>
        <p:spPr>
          <a:xfrm>
            <a:off x="9429913" y="2675321"/>
            <a:ext cx="3933578" cy="607324"/>
          </a:xfrm>
          <a:prstGeom prst="rect">
            <a:avLst/>
          </a:prstGeom>
          <a:solidFill>
            <a:srgbClr val="67CA9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44000" rtlCol="0" anchor="ctr"/>
          <a:p>
            <a:r>
              <a:rPr lang="zh-CN" altLang="en-US" sz="2400" b="1" spc="100" dirty="0">
                <a:solidFill>
                  <a:srgbClr val="FFFFFF"/>
                </a:solidFill>
                <a:latin typeface="STHeiti Regular" panose="02010600040101010101" charset="-122"/>
                <a:ea typeface="STHeiti Regular" panose="02010600040101010101" charset="-122"/>
              </a:rPr>
              <a:t>规模化</a:t>
            </a:r>
            <a:r>
              <a:rPr lang="zh-CN" altLang="en-US" sz="2400" b="1" spc="100" dirty="0">
                <a:solidFill>
                  <a:srgbClr val="FFFFFF"/>
                </a:solidFill>
                <a:latin typeface="STHeiti Regular" panose="02010600040101010101" charset="-122"/>
                <a:ea typeface="STHeiti Regular" panose="02010600040101010101" charset="-122"/>
              </a:rPr>
              <a:t>发展</a:t>
            </a:r>
            <a:endParaRPr lang="zh-CN" altLang="en-US" sz="2400" b="1" spc="100" dirty="0">
              <a:solidFill>
                <a:srgbClr val="FFFFFF"/>
              </a:solidFill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16"/>
            </p:custDataLst>
          </p:nvPr>
        </p:nvSpPr>
        <p:spPr>
          <a:xfrm>
            <a:off x="9600565" y="3516630"/>
            <a:ext cx="3048000" cy="45364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sym typeface="+mn-ea"/>
              </a:rPr>
              <a:t>以“城市实时生活入口”的品牌化建设为目标，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</a:rPr>
              <a:t>打通与大型流量平台与本地生活服务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</a:rPr>
              <a:t>平台生态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</a:rPr>
              <a:t>合作，加快业务规模扩张；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</a:rPr>
              <a:t>实现累计注册用户1000万+、认证商户5万+，启动A轮融资。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48" name="TextBox 12"/>
          <p:cNvSpPr txBox="1"/>
          <p:nvPr/>
        </p:nvSpPr>
        <p:spPr>
          <a:xfrm>
            <a:off x="990600" y="612140"/>
            <a:ext cx="16177260" cy="1140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8895"/>
              </a:lnSpc>
              <a:spcBef>
                <a:spcPct val="0"/>
              </a:spcBef>
            </a:pPr>
            <a:r>
              <a:rPr lang="zh-CN" altLang="en-US" sz="8000" b="1" spc="-266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Aileron Bold"/>
                <a:sym typeface="Aileron Bold"/>
              </a:rPr>
              <a:t>发展</a:t>
            </a:r>
            <a:r>
              <a:rPr lang="zh-CN" altLang="en-US" sz="8000" b="1" spc="-266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Aileron Bold"/>
                <a:sym typeface="Aileron Bold"/>
              </a:rPr>
              <a:t>规划</a:t>
            </a:r>
            <a:endParaRPr lang="zh-CN" altLang="en-US" sz="8000" b="1" spc="-266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cs typeface="Aileron Bold"/>
              <a:sym typeface="Aileron Bold"/>
            </a:endParaRPr>
          </a:p>
        </p:txBody>
      </p:sp>
      <p:cxnSp>
        <p:nvCxnSpPr>
          <p:cNvPr id="49" name="直接连接符 48"/>
          <p:cNvCxnSpPr>
            <a:endCxn id="55" idx="0"/>
          </p:cNvCxnSpPr>
          <p:nvPr>
            <p:custDataLst>
              <p:tags r:id="rId17"/>
            </p:custDataLst>
          </p:nvPr>
        </p:nvCxnSpPr>
        <p:spPr>
          <a:xfrm flipV="1">
            <a:off x="17072646" y="2526380"/>
            <a:ext cx="0" cy="556697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  <a:alpha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/>
          <p:cNvSpPr/>
          <p:nvPr>
            <p:custDataLst>
              <p:tags r:id="rId18"/>
            </p:custDataLst>
          </p:nvPr>
        </p:nvSpPr>
        <p:spPr>
          <a:xfrm>
            <a:off x="16986329" y="8093398"/>
            <a:ext cx="171837" cy="17183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51" name="矩形 50"/>
          <p:cNvSpPr/>
          <p:nvPr>
            <p:custDataLst>
              <p:tags r:id="rId19"/>
            </p:custDataLst>
          </p:nvPr>
        </p:nvSpPr>
        <p:spPr>
          <a:xfrm>
            <a:off x="13671063" y="1707931"/>
            <a:ext cx="3887477" cy="607325"/>
          </a:xfrm>
          <a:prstGeom prst="rect">
            <a:avLst/>
          </a:prstGeom>
          <a:solidFill>
            <a:srgbClr val="EE9F4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44000" rtlCol="0" anchor="ctr"/>
          <a:p>
            <a:r>
              <a:rPr lang="zh-CN" altLang="en-US" sz="2400" b="1" spc="100" dirty="0">
                <a:solidFill>
                  <a:srgbClr val="FFFFFF"/>
                </a:solidFill>
                <a:latin typeface="STHeiti Regular" panose="02010600040101010101" charset="-122"/>
                <a:ea typeface="STHeiti Regular" panose="02010600040101010101" charset="-122"/>
              </a:rPr>
              <a:t>生态化</a:t>
            </a:r>
            <a:r>
              <a:rPr lang="zh-CN" altLang="en-US" sz="2400" b="1" spc="100" dirty="0">
                <a:solidFill>
                  <a:srgbClr val="FFFFFF"/>
                </a:solidFill>
                <a:latin typeface="STHeiti Regular" panose="02010600040101010101" charset="-122"/>
                <a:ea typeface="STHeiti Regular" panose="02010600040101010101" charset="-122"/>
              </a:rPr>
              <a:t>运营</a:t>
            </a:r>
            <a:endParaRPr lang="zh-CN" altLang="en-US" sz="2400" b="1" spc="100" dirty="0">
              <a:solidFill>
                <a:srgbClr val="FFFFFF"/>
              </a:solidFill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55" name="直角三角形 54"/>
          <p:cNvSpPr/>
          <p:nvPr>
            <p:custDataLst>
              <p:tags r:id="rId20"/>
            </p:custDataLst>
          </p:nvPr>
        </p:nvSpPr>
        <p:spPr>
          <a:xfrm flipV="1">
            <a:off x="17072645" y="2315076"/>
            <a:ext cx="484301" cy="211488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21"/>
            </p:custDataLst>
          </p:nvPr>
        </p:nvSpPr>
        <p:spPr>
          <a:xfrm>
            <a:off x="13750925" y="2526030"/>
            <a:ext cx="3094355" cy="55365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  <a:sym typeface="+mn-ea"/>
              </a:rPr>
              <a:t>持续优化AI能力及商户经营工具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</a:rPr>
              <a:t>，连接更多用户、商户及线下场景，进一步提升平台商业化能力和运营效率；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</a:rPr>
              <a:t>实现累计注册用户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</a:rPr>
              <a:t>3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THeiti Light" panose="02010600040101010101" charset="-122"/>
                <a:ea typeface="STHeiti Light" panose="02010600040101010101" charset="-122"/>
              </a:rPr>
              <a:t>000万+、认证商户10万+，实现稳定盈利，并根据业务发展需要启动新一轮资本运作。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STHeiti Light" panose="02010600040101010101" charset="-122"/>
              <a:ea typeface="STHeiti Light" panose="02010600040101010101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054100" y="4076700"/>
            <a:ext cx="12541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 spc="100" dirty="0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sym typeface="+mn-ea"/>
              </a:rPr>
              <a:t>2026</a:t>
            </a:r>
            <a:endParaRPr lang="en-US" altLang="zh-CN" sz="2400" b="1" spc="100" dirty="0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5240020" y="3204845"/>
            <a:ext cx="12541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 spc="100" dirty="0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sym typeface="+mn-ea"/>
              </a:rPr>
              <a:t>2027</a:t>
            </a:r>
            <a:endParaRPr lang="en-US" altLang="zh-CN" sz="2400" b="1" spc="100" dirty="0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sym typeface="+mn-ea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9448800" y="2230755"/>
            <a:ext cx="21316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 spc="100" dirty="0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sym typeface="+mn-ea"/>
              </a:rPr>
              <a:t>2028</a:t>
            </a:r>
            <a:r>
              <a:rPr lang="zh-CN" altLang="en-US" sz="2400" b="1" spc="100" dirty="0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sym typeface="+mn-ea"/>
              </a:rPr>
              <a:t>～</a:t>
            </a:r>
            <a:r>
              <a:rPr lang="en-US" altLang="zh-CN" sz="2400" b="1" spc="100" dirty="0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sym typeface="+mn-ea"/>
              </a:rPr>
              <a:t>2029</a:t>
            </a:r>
            <a:endParaRPr lang="en-US" altLang="zh-CN" sz="2400" b="1" spc="100" dirty="0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3688060" y="1195070"/>
            <a:ext cx="12541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 spc="100" dirty="0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sym typeface="+mn-ea"/>
              </a:rPr>
              <a:t>2030</a:t>
            </a:r>
            <a:endParaRPr lang="en-US" altLang="zh-CN" sz="2400" b="1" spc="100" dirty="0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sym typeface="+mn-ea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1099185" y="8572500"/>
            <a:ext cx="161772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spc="-18">
                <a:solidFill>
                  <a:schemeClr val="tx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Zup</a:t>
            </a:r>
            <a:r>
              <a:rPr lang="en-US" altLang="zh-CN" sz="2000" spc="-18">
                <a:solidFill>
                  <a:schemeClr val="tx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! </a:t>
            </a:r>
            <a:r>
              <a:rPr lang="zh-CN" altLang="en-US" sz="2000" spc="-18">
                <a:solidFill>
                  <a:schemeClr val="tx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将采用</a:t>
            </a:r>
            <a:r>
              <a:rPr lang="zh-CN" altLang="en-US" sz="2000" spc="-18"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+mn-ea"/>
              </a:rPr>
              <a:t>“</a:t>
            </a:r>
            <a:r>
              <a:rPr lang="zh-CN" altLang="en-US" sz="2000" spc="-18">
                <a:solidFill>
                  <a:schemeClr val="tx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单城验证、逐城复制”的发展策略。商业化将优先从商户服务切入，逐步拓展会员订阅、精准广告和平台增值服务；</a:t>
            </a:r>
            <a:endParaRPr lang="zh-CN" altLang="en-US" sz="2000" spc="-18">
              <a:solidFill>
                <a:schemeClr val="tx1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1" spc="-18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STHeiti Light" panose="02010600040101010101" charset="-122"/>
              </a:rPr>
              <a:t>同步拓展海外市场，</a:t>
            </a:r>
            <a:r>
              <a:rPr lang="zh-CN" altLang="en-US" sz="2000" spc="-18">
                <a:solidFill>
                  <a:schemeClr val="tx1"/>
                </a:solidFill>
                <a:highlight>
                  <a:srgbClr val="FFFF00"/>
                </a:highlight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我们的目标不是打造一款社交App，而是成为连接人与城市实时生活的基础设施，最终成为“城市实时生活入口”。</a:t>
            </a:r>
            <a:endParaRPr lang="zh-CN" altLang="en-US" sz="2000" spc="-18">
              <a:solidFill>
                <a:schemeClr val="tx1"/>
              </a:solidFill>
              <a:highlight>
                <a:srgbClr val="FFFF00"/>
              </a:highlight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12"/>
          <p:cNvSpPr txBox="1"/>
          <p:nvPr/>
        </p:nvSpPr>
        <p:spPr>
          <a:xfrm>
            <a:off x="990600" y="612140"/>
            <a:ext cx="16177260" cy="1140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8895"/>
              </a:lnSpc>
              <a:spcBef>
                <a:spcPct val="0"/>
              </a:spcBef>
            </a:pPr>
            <a:r>
              <a:rPr lang="zh-CN" altLang="en-US" sz="8000" b="1" spc="-266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Aileron Bold"/>
                <a:sym typeface="Aileron Bold"/>
              </a:rPr>
              <a:t>融资需求</a:t>
            </a:r>
            <a:endParaRPr lang="zh-CN" altLang="en-US" sz="8000" b="1" spc="-266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cs typeface="Aileron Bold"/>
              <a:sym typeface="Aileron Bold"/>
            </a:endParaRPr>
          </a:p>
        </p:txBody>
      </p:sp>
      <p:sp>
        <p:nvSpPr>
          <p:cNvPr id="69" name="TextBox 14"/>
          <p:cNvSpPr txBox="1"/>
          <p:nvPr/>
        </p:nvSpPr>
        <p:spPr>
          <a:xfrm>
            <a:off x="1447800" y="5349240"/>
            <a:ext cx="4424045" cy="476694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p>
            <a:pPr lvl="0" indent="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None/>
            </a:pPr>
            <a:r>
              <a:rPr sz="26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Open Sauce Bold"/>
              </a:rPr>
              <a:t>产研投入：200万</a:t>
            </a:r>
            <a:endParaRPr sz="2600" b="1" spc="-28">
              <a:solidFill>
                <a:srgbClr val="1F191A"/>
              </a:solidFill>
              <a:latin typeface="STHeiti Regular" panose="02010600040101010101" charset="-122"/>
              <a:ea typeface="STHeiti Regular" panose="02010600040101010101" charset="-122"/>
              <a:cs typeface="STHeiti Regular" panose="02010600040101010101" charset="-122"/>
              <a:sym typeface="Open Sauce Bold"/>
            </a:endParaRPr>
          </a:p>
          <a:p>
            <a:pPr marL="800100" lvl="1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sz="26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Open Sauce Bold"/>
              </a:rPr>
              <a:t>产品持续迭代</a:t>
            </a:r>
            <a:endParaRPr sz="26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Open Sauce Bold"/>
            </a:endParaRPr>
          </a:p>
          <a:p>
            <a:pPr marL="800100" lvl="1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zh-CN" sz="26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Open Sauce Bold"/>
              </a:rPr>
              <a:t>微信小微</a:t>
            </a:r>
            <a:r>
              <a:rPr lang="en-US" altLang="zh-CN" sz="26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Open Sauce Bold"/>
              </a:rPr>
              <a:t>AI</a:t>
            </a:r>
            <a:r>
              <a:rPr lang="zh-CN" altLang="en-US" sz="26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Open Sauce Bold"/>
              </a:rPr>
              <a:t>接入</a:t>
            </a:r>
            <a:endParaRPr sz="26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Open Sauce Bold"/>
            </a:endParaRPr>
          </a:p>
          <a:p>
            <a:pPr marL="800100" lvl="1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sz="26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Open Sauce Bold"/>
              </a:rPr>
              <a:t>AI Agent</a:t>
            </a:r>
            <a:r>
              <a:rPr lang="zh-CN" sz="26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Open Sauce Bold"/>
              </a:rPr>
              <a:t>开发</a:t>
            </a:r>
            <a:endParaRPr sz="26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Open Sauce Bold"/>
            </a:endParaRPr>
          </a:p>
          <a:p>
            <a:pPr marL="800100" lvl="1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sz="26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Open Sauce Bold"/>
              </a:rPr>
              <a:t>海外版开发</a:t>
            </a:r>
            <a:endParaRPr sz="26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Open Sauce Bold"/>
            </a:endParaRPr>
          </a:p>
          <a:p>
            <a:pPr lvl="0" indent="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None/>
            </a:pPr>
            <a:endParaRPr sz="26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Open Sauce Bold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05000" y="2324100"/>
            <a:ext cx="2241550" cy="716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zh-CN" altLang="en-US" sz="3200" b="1" spc="-18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STHeiti Light" panose="02010600040101010101" charset="-122"/>
              </a:rPr>
              <a:t>融资阶段</a:t>
            </a:r>
            <a:endParaRPr lang="zh-CN" altLang="en-US" sz="3200" b="1" spc="-18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cs typeface="STHeiti Light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938135" y="2247900"/>
            <a:ext cx="2241550" cy="716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zh-CN" altLang="en-US" sz="3200" b="1" spc="-18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STHeiti Light" panose="02010600040101010101" charset="-122"/>
              </a:rPr>
              <a:t>融资金额</a:t>
            </a:r>
            <a:endParaRPr lang="zh-CN" altLang="en-US" sz="3200" b="1" spc="-18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cs typeface="STHeiti Light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020800" y="2307590"/>
            <a:ext cx="2241550" cy="716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zh-CN" altLang="en-US" sz="3200" b="1" spc="-18">
                <a:solidFill>
                  <a:schemeClr val="tx1"/>
                </a:solidFill>
                <a:latin typeface="STHeiti Regular" panose="02010600040101010101" charset="-122"/>
                <a:ea typeface="STHeiti Regular" panose="02010600040101010101" charset="-122"/>
                <a:cs typeface="STHeiti Light" panose="02010600040101010101" charset="-122"/>
              </a:rPr>
              <a:t>出让股份</a:t>
            </a:r>
            <a:endParaRPr lang="zh-CN" altLang="en-US" sz="3200" b="1" spc="-18">
              <a:solidFill>
                <a:schemeClr val="tx1"/>
              </a:solidFill>
              <a:latin typeface="STHeiti Regular" panose="02010600040101010101" charset="-122"/>
              <a:ea typeface="STHeiti Regular" panose="02010600040101010101" charset="-122"/>
              <a:cs typeface="STHeiti Light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336800" y="3213100"/>
            <a:ext cx="1755140" cy="716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zh-CN" altLang="en-US" sz="2800" spc="-18">
                <a:solidFill>
                  <a:schemeClr val="tx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天使轮</a:t>
            </a:r>
            <a:endParaRPr lang="zh-CN" altLang="en-US" sz="2800" spc="-18">
              <a:solidFill>
                <a:schemeClr val="tx1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69935" y="3136900"/>
            <a:ext cx="1755140" cy="716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en-US" altLang="zh-CN" sz="2800" spc="-18">
                <a:solidFill>
                  <a:schemeClr val="tx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500</a:t>
            </a:r>
            <a:r>
              <a:rPr lang="zh-CN" altLang="en-US" sz="2800" spc="-18">
                <a:solidFill>
                  <a:schemeClr val="tx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万</a:t>
            </a:r>
            <a:endParaRPr lang="zh-CN" altLang="en-US" sz="2800" spc="-18">
              <a:solidFill>
                <a:schemeClr val="tx1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452600" y="3196590"/>
            <a:ext cx="1755140" cy="716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en-US" altLang="zh-CN" sz="2800" spc="-18">
                <a:solidFill>
                  <a:schemeClr val="tx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15%</a:t>
            </a:r>
            <a:r>
              <a:rPr lang="zh-CN" altLang="en-US" sz="2800" spc="-18">
                <a:solidFill>
                  <a:schemeClr val="tx1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</a:rPr>
              <a:t>股份</a:t>
            </a:r>
            <a:endParaRPr lang="zh-CN" altLang="en-US" sz="2800" spc="-18">
              <a:solidFill>
                <a:schemeClr val="tx1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</a:endParaRPr>
          </a:p>
        </p:txBody>
      </p:sp>
      <p:pic>
        <p:nvPicPr>
          <p:cNvPr id="10" name="图片 9" descr="chuchua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3168650"/>
            <a:ext cx="501650" cy="501650"/>
          </a:xfrm>
          <a:prstGeom prst="rect">
            <a:avLst/>
          </a:prstGeom>
        </p:spPr>
      </p:pic>
      <p:pic>
        <p:nvPicPr>
          <p:cNvPr id="11" name="图片 10" descr="churangguf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0" y="3196590"/>
            <a:ext cx="457200" cy="457200"/>
          </a:xfrm>
          <a:prstGeom prst="rect">
            <a:avLst/>
          </a:prstGeom>
        </p:spPr>
      </p:pic>
      <p:pic>
        <p:nvPicPr>
          <p:cNvPr id="12" name="图片 11" descr="zijinguanl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136900"/>
            <a:ext cx="457200" cy="4572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4076700"/>
            <a:ext cx="18288000" cy="789940"/>
          </a:xfrm>
          <a:prstGeom prst="rect">
            <a:avLst/>
          </a:prstGeom>
          <a:solidFill>
            <a:srgbClr val="EE9F4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001000" y="4191000"/>
            <a:ext cx="2241550" cy="716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zh-CN" altLang="en-US" sz="3200" b="1" spc="-18">
                <a:solidFill>
                  <a:schemeClr val="bg1"/>
                </a:solidFill>
                <a:latin typeface="STHeiti Regular" panose="02010600040101010101" charset="-122"/>
                <a:ea typeface="STHeiti Regular" panose="02010600040101010101" charset="-122"/>
                <a:cs typeface="STHeiti Light" panose="02010600040101010101" charset="-122"/>
              </a:rPr>
              <a:t>资金用途</a:t>
            </a:r>
            <a:endParaRPr lang="zh-CN" altLang="en-US" sz="3200" b="1" spc="-18">
              <a:solidFill>
                <a:schemeClr val="bg1"/>
              </a:solidFill>
              <a:latin typeface="STHeiti Regular" panose="02010600040101010101" charset="-122"/>
              <a:ea typeface="STHeiti Regular" panose="02010600040101010101" charset="-122"/>
              <a:cs typeface="STHeiti Light" panose="02010600040101010101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81800" y="5368290"/>
            <a:ext cx="5878195" cy="442277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p>
            <a:pPr lvl="0" indent="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None/>
            </a:pPr>
            <a:r>
              <a:rPr sz="26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Open Sauce Bold"/>
              </a:rPr>
              <a:t>推广投入：225万</a:t>
            </a:r>
            <a:endParaRPr sz="2600" b="1" spc="-28">
              <a:solidFill>
                <a:srgbClr val="1F191A"/>
              </a:solidFill>
              <a:latin typeface="STHeiti Regular" panose="02010600040101010101" charset="-122"/>
              <a:ea typeface="STHeiti Regular" panose="02010600040101010101" charset="-122"/>
              <a:cs typeface="STHeiti Regular" panose="02010600040101010101" charset="-122"/>
              <a:sym typeface="Open Sauce Bold"/>
            </a:endParaRPr>
          </a:p>
          <a:p>
            <a:pPr marL="800100" lvl="1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sz="26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Open Sauce Bold"/>
              </a:rPr>
              <a:t>社媒投入（抖音、小红书KOL推广）</a:t>
            </a:r>
            <a:endParaRPr sz="26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Open Sauce Bold"/>
            </a:endParaRPr>
          </a:p>
          <a:p>
            <a:pPr marL="800100" lvl="1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sz="26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Open Sauce Bold"/>
              </a:rPr>
              <a:t>线下商户拓展</a:t>
            </a:r>
            <a:endParaRPr sz="26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Open Sauce Bold"/>
            </a:endParaRPr>
          </a:p>
          <a:p>
            <a:pPr marL="800100" lvl="1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sz="26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Open Sauce Bold"/>
              </a:rPr>
              <a:t>高校市场投放</a:t>
            </a:r>
            <a:endParaRPr sz="26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Open Sauce Bold"/>
            </a:endParaRPr>
          </a:p>
          <a:p>
            <a:pPr marL="800100" lvl="1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sz="26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Open Sauce Bold"/>
              </a:rPr>
              <a:t>裂变奖励</a:t>
            </a:r>
            <a:endParaRPr sz="26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Open Sauce Bold"/>
            </a:endParaRPr>
          </a:p>
          <a:p>
            <a:pPr marL="800100" lvl="1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sz="26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Open Sauce Bold"/>
              </a:rPr>
              <a:t>官方活动经费</a:t>
            </a:r>
            <a:endParaRPr sz="26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Open Sauce Bold"/>
            </a:endParaRPr>
          </a:p>
          <a:p>
            <a:pPr lvl="0" indent="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None/>
            </a:pPr>
            <a:endParaRPr sz="26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Open Sauce Bold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13716000" y="5399405"/>
            <a:ext cx="3982085" cy="457581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p>
            <a:pPr lvl="0" indent="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None/>
            </a:pPr>
            <a:r>
              <a:rPr sz="2600" b="1" spc="-28">
                <a:solidFill>
                  <a:srgbClr val="1F191A"/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  <a:sym typeface="Open Sauce Bold"/>
              </a:rPr>
              <a:t>运营及储备：75万</a:t>
            </a:r>
            <a:endParaRPr sz="2600" b="1" spc="-28">
              <a:solidFill>
                <a:srgbClr val="1F191A"/>
              </a:solidFill>
              <a:latin typeface="STHeiti Regular" panose="02010600040101010101" charset="-122"/>
              <a:ea typeface="STHeiti Regular" panose="02010600040101010101" charset="-122"/>
              <a:cs typeface="STHeiti Regular" panose="02010600040101010101" charset="-122"/>
              <a:sym typeface="Open Sauce Bold"/>
            </a:endParaRPr>
          </a:p>
          <a:p>
            <a:pPr marL="800100" lvl="1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sz="26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Open Sauce Bold"/>
              </a:rPr>
              <a:t>服务器</a:t>
            </a:r>
            <a:endParaRPr sz="26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Open Sauce Bold"/>
            </a:endParaRPr>
          </a:p>
          <a:p>
            <a:pPr marL="800100" lvl="1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sz="26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Open Sauce Bold"/>
              </a:rPr>
              <a:t>三方服务</a:t>
            </a:r>
            <a:endParaRPr sz="26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Open Sauce Bold"/>
            </a:endParaRPr>
          </a:p>
          <a:p>
            <a:pPr marL="800100" lvl="1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sz="26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Open Sauce Bold"/>
              </a:rPr>
              <a:t>法务</a:t>
            </a:r>
            <a:r>
              <a:rPr lang="zh-CN" sz="26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Open Sauce Bold"/>
              </a:rPr>
              <a:t>、资质</a:t>
            </a:r>
            <a:endParaRPr sz="26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Open Sauce Bold"/>
            </a:endParaRPr>
          </a:p>
          <a:p>
            <a:pPr marL="800100" lvl="1" indent="-342900" algn="l">
              <a:lnSpc>
                <a:spcPts val="3925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sz="2600" spc="-2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Open Sauce Bold"/>
              </a:rPr>
              <a:t>运营</a:t>
            </a:r>
            <a:endParaRPr sz="2600" spc="-2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Open Sauce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784295" y="2105985"/>
            <a:ext cx="6074769" cy="607476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CA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38250" y="2733675"/>
            <a:ext cx="12639040" cy="1275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945"/>
              </a:lnSpc>
            </a:pPr>
            <a:r>
              <a:rPr lang="en-US" altLang="zh-CN" sz="9945" u="none" strike="noStrike" spc="-29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Aileron" panose="00000500000000000000"/>
                <a:sym typeface="Aileron" panose="00000500000000000000"/>
              </a:rPr>
              <a:t>Thanks for your tim</a:t>
            </a:r>
            <a:r>
              <a:rPr lang="en-US" altLang="zh-CN" sz="9945" u="none" strike="noStrike" spc="-298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Aileron" panose="00000500000000000000"/>
                <a:sym typeface="Aileron" panose="00000500000000000000"/>
              </a:rPr>
              <a:t>e</a:t>
            </a:r>
            <a:endParaRPr lang="en-US" altLang="zh-CN" sz="9945" u="none" strike="noStrike" spc="-298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Aileron" panose="00000500000000000000"/>
              <a:sym typeface="Aileron" panose="00000500000000000000"/>
            </a:endParaRPr>
          </a:p>
        </p:txBody>
      </p:sp>
      <p:sp>
        <p:nvSpPr>
          <p:cNvPr id="15" name="Freeform 8"/>
          <p:cNvSpPr/>
          <p:nvPr/>
        </p:nvSpPr>
        <p:spPr>
          <a:xfrm rot="-246088">
            <a:off x="9591040" y="3827780"/>
            <a:ext cx="6052185" cy="6320155"/>
          </a:xfrm>
          <a:custGeom>
            <a:avLst/>
            <a:gdLst/>
            <a:ahLst/>
            <a:cxnLst/>
            <a:rect l="l" t="t" r="r" b="b"/>
            <a:pathLst>
              <a:path w="3758354" h="3925174">
                <a:moveTo>
                  <a:pt x="0" y="0"/>
                </a:moveTo>
                <a:lnTo>
                  <a:pt x="3758354" y="0"/>
                </a:lnTo>
                <a:lnTo>
                  <a:pt x="3758354" y="3925174"/>
                </a:lnTo>
                <a:lnTo>
                  <a:pt x="0" y="392517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5" name="TextBox 9"/>
          <p:cNvSpPr txBox="1"/>
          <p:nvPr/>
        </p:nvSpPr>
        <p:spPr>
          <a:xfrm>
            <a:off x="2199489" y="7739344"/>
            <a:ext cx="5492404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l">
              <a:lnSpc>
                <a:spcPct val="150000"/>
              </a:lnSpc>
            </a:pPr>
            <a:r>
              <a:rPr lang="en-US" sz="2800" spc="-33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STHeiti Light" panose="02010600040101010101" charset="-122"/>
                <a:sym typeface="Open Sauce Light"/>
              </a:rPr>
              <a:t>www.nowmap.cn</a:t>
            </a:r>
            <a:endParaRPr lang="en-US" sz="2800" spc="-33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STHeiti Light" panose="02010600040101010101" charset="-122"/>
              <a:sym typeface="Open Sauce Light"/>
            </a:endParaRPr>
          </a:p>
        </p:txBody>
      </p:sp>
      <p:sp>
        <p:nvSpPr>
          <p:cNvPr id="6" name="TextBox 9"/>
          <p:cNvSpPr txBox="1"/>
          <p:nvPr/>
        </p:nvSpPr>
        <p:spPr>
          <a:xfrm>
            <a:off x="3352800" y="6896100"/>
            <a:ext cx="5939155" cy="331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2585"/>
              </a:lnSpc>
            </a:pPr>
            <a:r>
              <a:rPr lang="zh-CN" altLang="en-US" sz="2800" spc="-23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Medium"/>
                <a:sym typeface="Open Sauce Medium"/>
              </a:rPr>
              <a:t>各应用商店可下载</a:t>
            </a:r>
            <a:r>
              <a:rPr lang="zh-CN" altLang="en-US" sz="2800" spc="-23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Open Sauce Medium"/>
                <a:sym typeface="Open Sauce Medium"/>
              </a:rPr>
              <a:t>体验</a:t>
            </a:r>
            <a:endParaRPr lang="zh-CN" altLang="en-US" sz="2800" spc="-23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Open Sauce Medium"/>
              <a:sym typeface="Open Sauce Medium"/>
            </a:endParaRPr>
          </a:p>
        </p:txBody>
      </p:sp>
      <p:sp>
        <p:nvSpPr>
          <p:cNvPr id="7" name="TextBox 9"/>
          <p:cNvSpPr txBox="1"/>
          <p:nvPr/>
        </p:nvSpPr>
        <p:spPr>
          <a:xfrm>
            <a:off x="3352800" y="6316980"/>
            <a:ext cx="5260340" cy="523240"/>
          </a:xfrm>
          <a:prstGeom prst="rect">
            <a:avLst/>
          </a:prstGeom>
        </p:spPr>
        <p:txBody>
          <a:bodyPr wrap="square" lIns="0" tIns="0" rIns="0" bIns="0" rtlCol="0" anchor="ctr" anchorCtr="0">
            <a:noAutofit/>
          </a:bodyPr>
          <a:p>
            <a:pPr marL="0" lvl="0" indent="0" algn="l">
              <a:lnSpc>
                <a:spcPts val="2585"/>
              </a:lnSpc>
            </a:pPr>
            <a:r>
              <a:rPr lang="en-US" sz="5400" b="1" spc="-23">
                <a:solidFill>
                  <a:srgbClr val="1F191A"/>
                </a:solidFill>
                <a:ea typeface="STHeiti Regular" panose="02010600040101010101" charset="-122"/>
                <a:cs typeface="+mn-lt"/>
                <a:sym typeface="Open Sauce Medium"/>
              </a:rPr>
              <a:t>Zup!</a:t>
            </a:r>
            <a:r>
              <a:rPr lang="zh-CN" altLang="en-US" sz="2800" spc="-23">
                <a:solidFill>
                  <a:srgbClr val="1F191A"/>
                </a:solidFill>
                <a:latin typeface="STHeiti Light" panose="02010600040101010101" charset="-122"/>
                <a:ea typeface="STHeiti Light" panose="02010600040101010101" charset="-122"/>
                <a:cs typeface="+mn-lt"/>
                <a:sym typeface="Open Sauce Medium"/>
              </a:rPr>
              <a:t>（实时线下活动地图）</a:t>
            </a:r>
            <a:endParaRPr lang="zh-CN" altLang="en-US" sz="2800" spc="-23">
              <a:solidFill>
                <a:srgbClr val="1F191A"/>
              </a:solidFill>
              <a:latin typeface="STHeiti Light" panose="02010600040101010101" charset="-122"/>
              <a:ea typeface="STHeiti Light" panose="02010600040101010101" charset="-122"/>
              <a:cs typeface="+mn-lt"/>
              <a:sym typeface="Open Sauce Medium"/>
            </a:endParaRPr>
          </a:p>
        </p:txBody>
      </p:sp>
      <p:pic>
        <p:nvPicPr>
          <p:cNvPr id="10" name="图片 9" descr="tubiaozhizuomoba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7810500"/>
            <a:ext cx="624840" cy="624840"/>
          </a:xfrm>
          <a:prstGeom prst="rect">
            <a:avLst/>
          </a:prstGeom>
        </p:spPr>
      </p:pic>
      <p:pic>
        <p:nvPicPr>
          <p:cNvPr id="11" name="图片 10" descr="180x180bb_副本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5685790"/>
            <a:ext cx="1819910" cy="181991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4515_1*l_h_i*1_1_2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647.3698486328125,&quot;left&quot;:86.32503937007871,&quot;top&quot;:265.34027253398745,&quot;width&quot;:1248.8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10,10,10,10,10,10]}"/>
</p:tagLst>
</file>

<file path=ppt/tags/tag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20234515_1*l_h_i*1_5_2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647.3698486328125,&quot;left&quot;:86.32503937007871,&quot;top&quot;:265.34027253398745,&quot;width&quot;:1248.8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10,10,10,10,10,10]}"/>
</p:tagLst>
</file>

<file path=ppt/tags/tag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4515_1*l_h_i*1_3_2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647.3698486328125,&quot;left&quot;:86.32503937007871,&quot;top&quot;:265.34027253398745,&quot;width&quot;:1248.8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10,10,10,10,10,10]}"/>
</p:tagLst>
</file>

<file path=ppt/tags/tag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4515_1*l_h_i*1_2_2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647.3698486328125,&quot;left&quot;:86.32503937007871,&quot;top&quot;:265.34027253398745,&quot;width&quot;:1248.8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10,10,10,10,10,10]}"/>
</p:tagLst>
</file>

<file path=ppt/tags/tag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4515_1*l_h_i*1_2_3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647.3698486328125,&quot;left&quot;:86.32503937007871,&quot;top&quot;:265.34027253398745,&quot;width&quot;:1248.8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10,10,10,10,10,10]}"/>
</p:tagLst>
</file>

<file path=ppt/tags/tag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4515_1*l_h_i*1_4_3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647.3698486328125,&quot;left&quot;:86.32503937007871,&quot;top&quot;:265.34027253398745,&quot;width&quot;:1248.8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10,10,10,10,10,10]}"/>
</p:tagLst>
</file>

<file path=ppt/tags/tag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4515_1*l_h_i*1_4_2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647.3698486328125,&quot;left&quot;:86.32503937007871,&quot;top&quot;:265.34027253398745,&quot;width&quot;:1248.8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10,10,10,10,10,10]}"/>
</p:tagLst>
</file>

<file path=ppt/tags/tag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4515_1*l_h_i*1_1_1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647.3698486328125,&quot;left&quot;:86.32503937007871,&quot;top&quot;:265.34027253398745,&quot;width&quot;:1248.8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10,10,10,10,10,10]}"/>
</p:tagLst>
</file>

<file path=ppt/tags/tag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4515_1*l_h_i*1_2_1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647.3698486328125,&quot;left&quot;:86.32503937007871,&quot;top&quot;:265.34027253398745,&quot;width&quot;:1248.8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10,10,10,10,10,10]}"/>
</p:tagLst>
</file>

<file path=ppt/tags/tag1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4515_1*l_h_i*1_3_1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647.3698486328125,&quot;left&quot;:86.32503937007871,&quot;top&quot;:265.34027253398745,&quot;width&quot;:1248.8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10,10,10,10,10,10]}"/>
</p:tagLst>
</file>

<file path=ppt/tags/tag1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4515_1*l_h_i*1_4_1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647.3698486328125,&quot;left&quot;:86.32503937007871,&quot;top&quot;:265.34027253398745,&quot;width&quot;:1248.8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10,10,10,10,10,10]}"/>
</p:tagLst>
</file>

<file path=ppt/tags/tag1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diagram20234515_1*l_h_i*1_5_1"/>
  <p:tag name="KSO_WM_TEMPLATE_CATEGORY" val="diagram"/>
  <p:tag name="KSO_WM_TEMPLATE_INDEX" val="20234515"/>
  <p:tag name="KSO_WM_UNIT_LAYERLEVEL" val="1_1_1"/>
  <p:tag name="KSO_WM_TAG_VERSION" val="3.0"/>
  <p:tag name="KSO_WM_DIAGRAM_MAX_ITEMCNT" val="5"/>
  <p:tag name="KSO_WM_DIAGRAM_MIN_ITEMCNT" val="5"/>
  <p:tag name="KSO_WM_DIAGRAM_VIRTUALLY_FRAME" val="{&quot;height&quot;:647.3698486328125,&quot;left&quot;:86.32503937007871,&quot;top&quot;:265.34027253398745,&quot;width&quot;:1248.8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10,10,10,10,10,10]}"/>
</p:tagLst>
</file>

<file path=ppt/tags/tag1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4515_1*l_h_f*1_1_1"/>
  <p:tag name="KSO_WM_TEMPLATE_CATEGORY" val="diagram"/>
  <p:tag name="KSO_WM_TEMPLATE_INDEX" val="20234515"/>
  <p:tag name="KSO_WM_UNIT_LAYERLEVEL" val="1_1_1"/>
  <p:tag name="KSO_WM_TAG_VERSION" val="3.0"/>
  <p:tag name="KSO_WM_BEAUTIFY_FLAG" val="#wm#"/>
  <p:tag name="KSO_WM_DIAGRAM_VIRTUALLY_FRAME" val="{&quot;height&quot;:647.3698486328125,&quot;left&quot;:86.32503937007871,&quot;top&quot;:265.34027253398745,&quot;width&quot;:1248.85}"/>
  <p:tag name="KSO_WM_UNIT_SUBTYPE" val="a"/>
  <p:tag name="KSO_WM_UNIT_TEXT_LAYER_COUNT" val="1"/>
  <p:tag name="KSO_WM_UNIT_NOCLEAR" val="0"/>
  <p:tag name="KSO_WM_UNIT_PRESET_TEXT" val="单击此处添加文本简明扼要地阐述您的观点。可酌情增减文字以便观者理解思想明"/>
  <p:tag name="KSO_WM_UNIT_LINE_FORE_SCHEMECOLOR_INDEX" val="5"/>
  <p:tag name="KSO_WM_UNIT_TEXT_TYPE" val="1"/>
  <p:tag name="KSO_WM_DIAGRAM_MAX_ITEMCNT" val="5"/>
  <p:tag name="KSO_WM_DIAGRAM_MIN_ITEMCNT" val="5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brightness&quot;:0,&quot;colorType&quot;:1,&quot;foreColorIndex&quot;:5,&quot;transparency&quot;:0.9100000262260437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1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4515_1*l_h_f*1_2_1"/>
  <p:tag name="KSO_WM_TEMPLATE_CATEGORY" val="diagram"/>
  <p:tag name="KSO_WM_TEMPLATE_INDEX" val="20234515"/>
  <p:tag name="KSO_WM_UNIT_LAYERLEVEL" val="1_1_1"/>
  <p:tag name="KSO_WM_TAG_VERSION" val="3.0"/>
  <p:tag name="KSO_WM_BEAUTIFY_FLAG" val="#wm#"/>
  <p:tag name="KSO_WM_DIAGRAM_VIRTUALLY_FRAME" val="{&quot;height&quot;:647.3698486328125,&quot;left&quot;:86.32503937007871,&quot;top&quot;:265.34027253398745,&quot;width&quot;:1248.85}"/>
  <p:tag name="KSO_WM_UNIT_SUBTYPE" val="a"/>
  <p:tag name="KSO_WM_UNIT_TEXT_LAYER_COUNT" val="1"/>
  <p:tag name="KSO_WM_UNIT_NOCLEAR" val="0"/>
  <p:tag name="KSO_WM_UNIT_PRESET_TEXT" val="单击此处添加文本简明扼要地阐述您的观点。可酌情增减文字以便观者理解思想明"/>
  <p:tag name="KSO_WM_UNIT_LINE_FORE_SCHEMECOLOR_INDEX" val="5"/>
  <p:tag name="KSO_WM_UNIT_TEXT_TYPE" val="1"/>
  <p:tag name="KSO_WM_DIAGRAM_MAX_ITEMCNT" val="5"/>
  <p:tag name="KSO_WM_DIAGRAM_MIN_ITEMCNT" val="5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brightness&quot;:0,&quot;colorType&quot;:1,&quot;foreColorIndex&quot;:5,&quot;transparency&quot;:0.9100000262260437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1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4515_1*l_h_f*1_3_1"/>
  <p:tag name="KSO_WM_TEMPLATE_CATEGORY" val="diagram"/>
  <p:tag name="KSO_WM_TEMPLATE_INDEX" val="20234515"/>
  <p:tag name="KSO_WM_UNIT_LAYERLEVEL" val="1_1_1"/>
  <p:tag name="KSO_WM_TAG_VERSION" val="3.0"/>
  <p:tag name="KSO_WM_BEAUTIFY_FLAG" val="#wm#"/>
  <p:tag name="KSO_WM_DIAGRAM_VIRTUALLY_FRAME" val="{&quot;height&quot;:647.3698486328125,&quot;left&quot;:86.32503937007871,&quot;top&quot;:265.34027253398745,&quot;width&quot;:1248.85}"/>
  <p:tag name="KSO_WM_UNIT_SUBTYPE" val="a"/>
  <p:tag name="KSO_WM_UNIT_TEXT_LAYER_COUNT" val="1"/>
  <p:tag name="KSO_WM_UNIT_NOCLEAR" val="0"/>
  <p:tag name="KSO_WM_UNIT_PRESET_TEXT" val="单击此处添加文本简明扼要地阐述您的观点。可酌情增减文字以便观者理解思想明"/>
  <p:tag name="KSO_WM_UNIT_LINE_FORE_SCHEMECOLOR_INDEX" val="5"/>
  <p:tag name="KSO_WM_UNIT_TEXT_TYPE" val="1"/>
  <p:tag name="KSO_WM_DIAGRAM_MAX_ITEMCNT" val="5"/>
  <p:tag name="KSO_WM_DIAGRAM_MIN_ITEMCNT" val="5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brightness&quot;:0,&quot;colorType&quot;:1,&quot;foreColorIndex&quot;:5,&quot;transparency&quot;:0.9100000262260437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1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4515_1*l_h_f*1_4_1"/>
  <p:tag name="KSO_WM_TEMPLATE_CATEGORY" val="diagram"/>
  <p:tag name="KSO_WM_TEMPLATE_INDEX" val="20234515"/>
  <p:tag name="KSO_WM_UNIT_LAYERLEVEL" val="1_1_1"/>
  <p:tag name="KSO_WM_TAG_VERSION" val="3.0"/>
  <p:tag name="KSO_WM_BEAUTIFY_FLAG" val="#wm#"/>
  <p:tag name="KSO_WM_DIAGRAM_VIRTUALLY_FRAME" val="{&quot;height&quot;:647.3698486328125,&quot;left&quot;:86.32503937007871,&quot;top&quot;:265.34027253398745,&quot;width&quot;:1248.85}"/>
  <p:tag name="KSO_WM_UNIT_SUBTYPE" val="a"/>
  <p:tag name="KSO_WM_UNIT_TEXT_LAYER_COUNT" val="1"/>
  <p:tag name="KSO_WM_UNIT_NOCLEAR" val="0"/>
  <p:tag name="KSO_WM_UNIT_PRESET_TEXT" val="单击此处添加文本简明扼要地阐述您的观点。可酌情增减文字以便观者理解思想明"/>
  <p:tag name="KSO_WM_UNIT_LINE_FORE_SCHEMECOLOR_INDEX" val="5"/>
  <p:tag name="KSO_WM_UNIT_TEXT_TYPE" val="1"/>
  <p:tag name="KSO_WM_DIAGRAM_MAX_ITEMCNT" val="5"/>
  <p:tag name="KSO_WM_DIAGRAM_MIN_ITEMCNT" val="5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brightness&quot;:0,&quot;colorType&quot;:1,&quot;foreColorIndex&quot;:5,&quot;transparency&quot;:0.9100000262260437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1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234515_1*l_h_f*1_5_1"/>
  <p:tag name="KSO_WM_TEMPLATE_CATEGORY" val="diagram"/>
  <p:tag name="KSO_WM_TEMPLATE_INDEX" val="20234515"/>
  <p:tag name="KSO_WM_UNIT_LAYERLEVEL" val="1_1_1"/>
  <p:tag name="KSO_WM_TAG_VERSION" val="3.0"/>
  <p:tag name="KSO_WM_BEAUTIFY_FLAG" val="#wm#"/>
  <p:tag name="KSO_WM_DIAGRAM_VIRTUALLY_FRAME" val="{&quot;height&quot;:647.3698486328125,&quot;left&quot;:86.32503937007871,&quot;top&quot;:265.34027253398745,&quot;width&quot;:1248.85}"/>
  <p:tag name="KSO_WM_UNIT_SUBTYPE" val="a"/>
  <p:tag name="KSO_WM_UNIT_TEXT_LAYER_COUNT" val="1"/>
  <p:tag name="KSO_WM_UNIT_NOCLEAR" val="0"/>
  <p:tag name="KSO_WM_UNIT_PRESET_TEXT" val="单击此处添加文本简明扼要地阐述您的观点。可酌情增减文字以便观者理解思想明"/>
  <p:tag name="KSO_WM_UNIT_LINE_FORE_SCHEMECOLOR_INDEX" val="5"/>
  <p:tag name="KSO_WM_UNIT_TEXT_TYPE" val="1"/>
  <p:tag name="KSO_WM_DIAGRAM_MAX_ITEMCNT" val="5"/>
  <p:tag name="KSO_WM_DIAGRAM_MIN_ITEMCNT" val="5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brightness&quot;:0,&quot;colorType&quot;:1,&quot;foreColorIndex&quot;:5,&quot;transparency&quot;:0.9100000262260437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10,10,10,10,10,10]}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069_1*l_h_a*1_1_1"/>
  <p:tag name="KSO_WM_TEMPLATE_CATEGORY" val="diagram"/>
  <p:tag name="KSO_WM_TEMPLATE_INDEX" val="2023106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643.45,&quot;left&quot;:35.3,&quot;top&quot;:226.6,&quot;width&quot;:1460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069_1*l_h_a*1_2_1"/>
  <p:tag name="KSO_WM_TEMPLATE_CATEGORY" val="diagram"/>
  <p:tag name="KSO_WM_TEMPLATE_INDEX" val="2023106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643.45,&quot;left&quot;:35.3,&quot;top&quot;:226.6,&quot;width&quot;:1460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069_1*l_h_a*1_2_1"/>
  <p:tag name="KSO_WM_TEMPLATE_CATEGORY" val="diagram"/>
  <p:tag name="KSO_WM_TEMPLATE_INDEX" val="2023106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643.45,&quot;left&quot;:35.3,&quot;top&quot;:226.6,&quot;width&quot;:1460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069_1*l_h_a*1_2_1"/>
  <p:tag name="KSO_WM_TEMPLATE_CATEGORY" val="diagram"/>
  <p:tag name="KSO_WM_TEMPLATE_INDEX" val="2023106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643.45,&quot;left&quot;:35.3,&quot;top&quot;:226.6,&quot;width&quot;:1460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069_1*l_h_a*1_2_1"/>
  <p:tag name="KSO_WM_TEMPLATE_CATEGORY" val="diagram"/>
  <p:tag name="KSO_WM_TEMPLATE_INDEX" val="2023106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643.45,&quot;left&quot;:35.3,&quot;top&quot;:226.6,&quot;width&quot;:1460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3217_1*l_h_i*1_1_2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9,10,9,10,9,10]}"/>
</p:tagLst>
</file>

<file path=ppt/tags/tag2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217_1*l_h_f*1_1_1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12121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76"/>
  <p:tag name="KSO_WM_UNIT_TEXT_FILL_TYPE" val="1"/>
  <p:tag name="KSO_WM_UNIT_PRESET_TEXT" val="单击此处添加文本具体内容，简明扼要地阐述您的内容观点。根据需要可酌情增减正文内容文字，以便观者准确地理解您传达的思想。单击此处添加你的文本内容"/>
  <p:tag name="KSO_WM_UNIT_TEXT_TYPE" val="1"/>
  <p:tag name="KSO_WM_DIAGRAM_USE_COLOR_VALUE" val="{&quot;color_scheme&quot;:1,&quot;color_type&quot;:1,&quot;theme_color_indexes&quot;:[9,10,9,10,9,10]}"/>
</p:tagLst>
</file>

<file path=ppt/tags/tag2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217_1*l_h_a*1_1_1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6"/>
  <p:tag name="KSO_WM_UNIT_PRESET_TEXT" val="此处添加项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9,10,9,10,9,10]}"/>
</p:tagLst>
</file>

<file path=ppt/tags/tag2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3217_1*l_h_i*1_1_1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2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3217_1*l_h_i*1_2_2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9,10,9,10,9,10]}"/>
</p:tagLst>
</file>

<file path=ppt/tags/tag2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217_1*l_h_f*1_2_1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12121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76"/>
  <p:tag name="KSO_WM_UNIT_TEXT_FILL_TYPE" val="1"/>
  <p:tag name="KSO_WM_UNIT_PRESET_TEXT" val="单击此处添加文本具体内容，简明扼要地阐述您的内容观点。根据需要可酌情增减正文内容文字，以便观者准确地理解您传达的思想。单击此处添加你的文本内容"/>
  <p:tag name="KSO_WM_UNIT_TEXT_TYPE" val="1"/>
  <p:tag name="KSO_WM_DIAGRAM_USE_COLOR_VALUE" val="{&quot;color_scheme&quot;:1,&quot;color_type&quot;:1,&quot;theme_color_indexes&quot;:[9,10,9,10,9,10]}"/>
</p:tagLst>
</file>

<file path=ppt/tags/tag2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217_1*l_h_a*1_2_1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6"/>
  <p:tag name="KSO_WM_UNIT_PRESET_TEXT" val="此处添加项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9,10,9,10,9,10]}"/>
</p:tagLst>
</file>

<file path=ppt/tags/tag3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3217_1*l_h_i*1_2_1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3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3217_1*l_h_i*1_3_2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9,10,9,10,9,10]}"/>
</p:tagLst>
</file>

<file path=ppt/tags/tag3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3217_1*l_h_f*1_3_1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12121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76"/>
  <p:tag name="KSO_WM_UNIT_TEXT_FILL_TYPE" val="1"/>
  <p:tag name="KSO_WM_UNIT_PRESET_TEXT" val="单击此处添加文本具体内容，简明扼要地阐述您的内容观点。根据需要可酌情增减正文内容文字，以便观者准确地理解您传达的思想。单击此处添加你的文本内容"/>
  <p:tag name="KSO_WM_UNIT_TEXT_TYPE" val="1"/>
  <p:tag name="KSO_WM_DIAGRAM_USE_COLOR_VALUE" val="{&quot;color_scheme&quot;:1,&quot;color_type&quot;:1,&quot;theme_color_indexes&quot;:[9,10,9,10,9,10]}"/>
</p:tagLst>
</file>

<file path=ppt/tags/tag3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3217_1*l_h_a*1_3_1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6"/>
  <p:tag name="KSO_WM_UNIT_PRESET_TEXT" val="此处添加项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9,10,9,10,9,10]}"/>
</p:tagLst>
</file>

<file path=ppt/tags/tag3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3217_1*l_h_i*1_3_1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3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3217_1*l_h_i*1_4_2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9,10,9,10,9,10]}"/>
</p:tagLst>
</file>

<file path=ppt/tags/tag3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3217_1*l_h_f*1_4_1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12121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76"/>
  <p:tag name="KSO_WM_UNIT_TEXT_FILL_TYPE" val="1"/>
  <p:tag name="KSO_WM_UNIT_PRESET_TEXT" val="单击此处添加文本具体内容，简明扼要地阐述您的内容观点。根据需要可酌情增减正文内容文字，以便观者准确地理解您传达的思想。单击此处添加你的文本内容"/>
  <p:tag name="KSO_WM_UNIT_TEXT_TYPE" val="1"/>
  <p:tag name="KSO_WM_DIAGRAM_USE_COLOR_VALUE" val="{&quot;color_scheme&quot;:1,&quot;color_type&quot;:1,&quot;theme_color_indexes&quot;:[9,10,9,10,9,10]}"/>
</p:tagLst>
</file>

<file path=ppt/tags/tag3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3217_1*l_h_a*1_4_1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6"/>
  <p:tag name="KSO_WM_UNIT_PRESET_TEXT" val="此处添加项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9,10,9,10,9,10]}"/>
</p:tagLst>
</file>

<file path=ppt/tags/tag3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3217_1*l_h_i*1_4_1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3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20233217_1*l_h_i*1_5_2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9,10,9,10,9,10]}"/>
</p:tagLst>
</file>

<file path=ppt/tags/tag4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233217_1*l_h_f*1_5_1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12121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76"/>
  <p:tag name="KSO_WM_UNIT_TEXT_FILL_TYPE" val="1"/>
  <p:tag name="KSO_WM_UNIT_PRESET_TEXT" val="单击此处添加文本具体内容，简明扼要地阐述您的内容观点。根据需要可酌情增减正文内容文字，以便观者准确地理解您传达的思想。单击此处添加你的文本内容"/>
  <p:tag name="KSO_WM_UNIT_TEXT_TYPE" val="1"/>
  <p:tag name="KSO_WM_DIAGRAM_USE_COLOR_VALUE" val="{&quot;color_scheme&quot;:1,&quot;color_type&quot;:1,&quot;theme_color_indexes&quot;:[9,10,9,10,9,10]}"/>
</p:tagLst>
</file>

<file path=ppt/tags/tag4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5_1"/>
  <p:tag name="KSO_WM_UNIT_ID" val="diagram20233217_1*l_h_a*1_5_1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6"/>
  <p:tag name="KSO_WM_UNIT_PRESET_TEXT" val="此处添加项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9,10,9,10,9,10]}"/>
</p:tagLst>
</file>

<file path=ppt/tags/tag4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diagram20233217_1*l_h_i*1_5_1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4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2"/>
  <p:tag name="KSO_WM_UNIT_ID" val="diagram20233217_1*l_h_i*1_6_2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9,10,9,10,9,10]}"/>
</p:tagLst>
</file>

<file path=ppt/tags/tag4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6_1"/>
  <p:tag name="KSO_WM_UNIT_ID" val="diagram20233217_1*l_h_f*1_6_1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12121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76"/>
  <p:tag name="KSO_WM_UNIT_TEXT_FILL_TYPE" val="1"/>
  <p:tag name="KSO_WM_UNIT_PRESET_TEXT" val="单击此处添加文本具体内容，简明扼要地阐述您的内容观点。根据需要可酌情增减正文内容文字，以便观者准确地理解您传达的思想。单击此处添加你的文本内容"/>
  <p:tag name="KSO_WM_UNIT_TEXT_TYPE" val="1"/>
  <p:tag name="KSO_WM_DIAGRAM_USE_COLOR_VALUE" val="{&quot;color_scheme&quot;:1,&quot;color_type&quot;:1,&quot;theme_color_indexes&quot;:[9,10,9,10,9,10]}"/>
</p:tagLst>
</file>

<file path=ppt/tags/tag4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6_1"/>
  <p:tag name="KSO_WM_UNIT_ID" val="diagram20233217_1*l_h_a*1_6_1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6"/>
  <p:tag name="KSO_WM_UNIT_PRESET_TEXT" val="此处添加项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9,10,9,10,9,10]}"/>
</p:tagLst>
</file>

<file path=ppt/tags/tag4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1"/>
  <p:tag name="KSO_WM_UNIT_ID" val="diagram20233217_1*l_h_i*1_6_1"/>
  <p:tag name="KSO_WM_TEMPLATE_CATEGORY" val="diagram"/>
  <p:tag name="KSO_WM_TEMPLATE_INDEX" val="20233217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519.6928344726563,&quot;left&quot;:77.2,&quot;top&quot;:229.86972449595532,&quot;width&quot;:1224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1"/>
  <p:tag name="KSO_WM_UNIT_ID" val="diagram20236926_1*m_i*1_1"/>
  <p:tag name="KSO_WM_TEMPLATE_CATEGORY" val="diagram"/>
  <p:tag name="KSO_WM_TEMPLATE_INDEX" val="2023692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LINE_FORE_SCHEMECOLOR_INDEX" val="13"/>
  <p:tag name="KSO_WM_DIAGRAM_MAX_ITEMCNT" val="5"/>
  <p:tag name="KSO_WM_DIAGRAM_MIN_ITEMCNT" val="3"/>
  <p:tag name="KSO_WM_DIAGRAM_VIRTUALLY_FRAME" val="{&quot;height&quot;:588.3274842231582,&quot;left&quot;:46.15,&quot;top&quot;:134.48275199731432,&quot;width&quot;:1369.8675590551181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9,10,9,10,9,10]}"/>
</p:tagLst>
</file>

<file path=ppt/tags/tag48.xml><?xml version="1.0" encoding="utf-8"?>
<p:tagLst xmlns:p="http://schemas.openxmlformats.org/presentationml/2006/main">
  <p:tag name="KSO_WM_DIAGRAM_VIRTUALLY_FRAME" val="{&quot;height&quot;:588.3274842231582,&quot;left&quot;:46.15,&quot;top&quot;:134.48275199731432,&quot;width&quot;:1369.8675590551181}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36926_1*m_h_i*1_1_1"/>
  <p:tag name="KSO_WM_TEMPLATE_CATEGORY" val="diagram"/>
  <p:tag name="KSO_WM_TEMPLATE_INDEX" val="2023692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LINE_FORE_SCHEMECOLOR_INDEX" val="13"/>
  <p:tag name="KSO_WM_DIAGRAM_MAX_ITEMCNT" val="5"/>
  <p:tag name="KSO_WM_DIAGRAM_MIN_ITEMCNT" val="3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9,10,9,10,9,10]}"/>
</p:tagLst>
</file>

<file path=ppt/tags/tag49.xml><?xml version="1.0" encoding="utf-8"?>
<p:tagLst xmlns:p="http://schemas.openxmlformats.org/presentationml/2006/main">
  <p:tag name="KSO_WM_DIAGRAM_VIRTUALLY_FRAME" val="{&quot;height&quot;:588.3274842231582,&quot;left&quot;:46.15,&quot;top&quot;:134.48275199731432,&quot;width&quot;:1369.8675590551181}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20236926_1*m_h_i*1_1_3"/>
  <p:tag name="KSO_WM_TEMPLATE_CATEGORY" val="diagram"/>
  <p:tag name="KSO_WM_TEMPLATE_INDEX" val="2023692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-0.25"/>
  <p:tag name="KSO_WM_DIAGRAM_MAX_ITEMCNT" val="5"/>
  <p:tag name="KSO_WM_DIAGRAM_MIN_ITEMCNT" val="3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9,10,9,10,9,10]}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20236926_1*m_h_i*1_1_2"/>
  <p:tag name="KSO_WM_TEMPLATE_CATEGORY" val="diagram"/>
  <p:tag name="KSO_WM_TEMPLATE_INDEX" val="2023692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5"/>
  <p:tag name="KSO_WM_DIAGRAM_MIN_ITEMCNT" val="3"/>
  <p:tag name="KSO_WM_DIAGRAM_VIRTUALLY_FRAME" val="{&quot;height&quot;:588.3274842231582,&quot;left&quot;:46.15,&quot;top&quot;:134.48275199731432,&quot;width&quot;:1369.867559055118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9,10,9,10,9,10]}"/>
</p:tagLst>
</file>

<file path=ppt/tags/tag51.xml><?xml version="1.0" encoding="utf-8"?>
<p:tagLst xmlns:p="http://schemas.openxmlformats.org/presentationml/2006/main">
  <p:tag name="KSO_WM_DIAGRAM_VIRTUALLY_FRAME" val="{&quot;height&quot;:588.3274842231582,&quot;left&quot;:46.15,&quot;top&quot;:134.48275199731432,&quot;width&quot;:1369.8675590551181}"/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20236926_1*m_h_a*1_1_1"/>
  <p:tag name="KSO_WM_TEMPLATE_CATEGORY" val="diagram"/>
  <p:tag name="KSO_WM_TEMPLATE_INDEX" val="2023692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添加项标题"/>
  <p:tag name="KSO_WM_UNIT_FILL_TYPE" val="3"/>
  <p:tag name="KSO_WM_DIAGRAM_MAX_ITEMCNT" val="5"/>
  <p:tag name="KSO_WM_DIAGRAM_MIN_ITEMCNT" val="3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400000095367432,&quot;transparency&quot;:0},{&quot;brightness&quot;:0,&quot;colorType&quot;:1,&quot;foreColorIndex&quot;:5,&quot;pos&quot;:0.8299999833106995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9,10,9,10,9,10]}"/>
</p:tagLst>
</file>

<file path=ppt/tags/tag52.xml><?xml version="1.0" encoding="utf-8"?>
<p:tagLst xmlns:p="http://schemas.openxmlformats.org/presentationml/2006/main">
  <p:tag name="KSO_WM_DIAGRAM_VIRTUALLY_FRAME" val="{&quot;height&quot;:588.3274842231582,&quot;left&quot;:46.15,&quot;top&quot;:134.48275199731432,&quot;width&quot;:1369.8675590551181}"/>
  <p:tag name="KSO_WM_UNIT_SUBTYPE" val="a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36926_1*m_h_f*1_1_1"/>
  <p:tag name="KSO_WM_TEMPLATE_CATEGORY" val="diagram"/>
  <p:tag name="KSO_WM_TEMPLATE_INDEX" val="2023692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5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9,10,9,10,9,10]}"/>
</p:tagLst>
</file>

<file path=ppt/tags/tag53.xml><?xml version="1.0" encoding="utf-8"?>
<p:tagLst xmlns:p="http://schemas.openxmlformats.org/presentationml/2006/main">
  <p:tag name="KSO_WM_DIAGRAM_VIRTUALLY_FRAME" val="{&quot;height&quot;:588.3274842231582,&quot;left&quot;:46.15,&quot;top&quot;:134.48275199731432,&quot;width&quot;:1369.8675590551181}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36926_1*m_h_i*1_2_1"/>
  <p:tag name="KSO_WM_TEMPLATE_CATEGORY" val="diagram"/>
  <p:tag name="KSO_WM_TEMPLATE_INDEX" val="2023692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LINE_FORE_SCHEMECOLOR_INDEX" val="13"/>
  <p:tag name="KSO_WM_DIAGRAM_MAX_ITEMCNT" val="5"/>
  <p:tag name="KSO_WM_DIAGRAM_MIN_ITEMCNT" val="3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9,10,9,10,9,10]}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36926_1*m_h_i*1_2_2"/>
  <p:tag name="KSO_WM_TEMPLATE_CATEGORY" val="diagram"/>
  <p:tag name="KSO_WM_TEMPLATE_INDEX" val="2023692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5"/>
  <p:tag name="KSO_WM_DIAGRAM_MIN_ITEMCNT" val="3"/>
  <p:tag name="KSO_WM_DIAGRAM_VIRTUALLY_FRAME" val="{&quot;height&quot;:588.3274842231582,&quot;left&quot;:46.15,&quot;top&quot;:134.48275199731432,&quot;width&quot;:1369.867559055118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9,10,9,10,9,10]}"/>
</p:tagLst>
</file>

<file path=ppt/tags/tag55.xml><?xml version="1.0" encoding="utf-8"?>
<p:tagLst xmlns:p="http://schemas.openxmlformats.org/presentationml/2006/main">
  <p:tag name="KSO_WM_DIAGRAM_VIRTUALLY_FRAME" val="{&quot;height&quot;:588.3274842231582,&quot;left&quot;:46.15,&quot;top&quot;:134.48275199731432,&quot;width&quot;:1369.8675590551181}"/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236926_1*m_h_a*1_2_1"/>
  <p:tag name="KSO_WM_TEMPLATE_CATEGORY" val="diagram"/>
  <p:tag name="KSO_WM_TEMPLATE_INDEX" val="2023692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添加项标题"/>
  <p:tag name="KSO_WM_UNIT_FILL_TYPE" val="3"/>
  <p:tag name="KSO_WM_DIAGRAM_MAX_ITEMCNT" val="5"/>
  <p:tag name="KSO_WM_DIAGRAM_MIN_ITEMCNT" val="3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400000095367432,&quot;transparency&quot;:0},{&quot;brightness&quot;:0,&quot;colorType&quot;:1,&quot;foreColorIndex&quot;:5,&quot;pos&quot;:0.8299999833106995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9,10,9,10,9,10]}"/>
</p:tagLst>
</file>

<file path=ppt/tags/tag56.xml><?xml version="1.0" encoding="utf-8"?>
<p:tagLst xmlns:p="http://schemas.openxmlformats.org/presentationml/2006/main">
  <p:tag name="KSO_WM_DIAGRAM_VIRTUALLY_FRAME" val="{&quot;height&quot;:588.3274842231582,&quot;left&quot;:46.15,&quot;top&quot;:134.48275199731432,&quot;width&quot;:1369.8675590551181}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36926_1*m_h_i*1_2_3"/>
  <p:tag name="KSO_WM_TEMPLATE_CATEGORY" val="diagram"/>
  <p:tag name="KSO_WM_TEMPLATE_INDEX" val="2023692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-0.25"/>
  <p:tag name="KSO_WM_DIAGRAM_MAX_ITEMCNT" val="5"/>
  <p:tag name="KSO_WM_DIAGRAM_MIN_ITEMCNT" val="3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9,10,9,10,9,10]}"/>
</p:tagLst>
</file>

<file path=ppt/tags/tag57.xml><?xml version="1.0" encoding="utf-8"?>
<p:tagLst xmlns:p="http://schemas.openxmlformats.org/presentationml/2006/main">
  <p:tag name="KSO_WM_DIAGRAM_VIRTUALLY_FRAME" val="{&quot;height&quot;:588.3274842231582,&quot;left&quot;:46.15,&quot;top&quot;:134.48275199731432,&quot;width&quot;:1369.8675590551181}"/>
  <p:tag name="KSO_WM_UNIT_SUBTYPE" val="a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36926_1*m_h_f*1_2_1"/>
  <p:tag name="KSO_WM_TEMPLATE_CATEGORY" val="diagram"/>
  <p:tag name="KSO_WM_TEMPLATE_INDEX" val="2023692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5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9,10,9,10,9,10]}"/>
</p:tagLst>
</file>

<file path=ppt/tags/tag58.xml><?xml version="1.0" encoding="utf-8"?>
<p:tagLst xmlns:p="http://schemas.openxmlformats.org/presentationml/2006/main">
  <p:tag name="KSO_WM_DIAGRAM_VIRTUALLY_FRAME" val="{&quot;height&quot;:588.3274842231582,&quot;left&quot;:46.15,&quot;top&quot;:134.48275199731432,&quot;width&quot;:1369.8675590551181}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36926_1*m_h_i*1_3_1"/>
  <p:tag name="KSO_WM_TEMPLATE_CATEGORY" val="diagram"/>
  <p:tag name="KSO_WM_TEMPLATE_INDEX" val="2023692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LINE_FORE_SCHEMECOLOR_INDEX" val="13"/>
  <p:tag name="KSO_WM_DIAGRAM_MAX_ITEMCNT" val="5"/>
  <p:tag name="KSO_WM_DIAGRAM_MIN_ITEMCNT" val="3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9,10,9,10,9,10]}"/>
</p:tagLst>
</file>

<file path=ppt/tags/tag59.xml><?xml version="1.0" encoding="utf-8"?>
<p:tagLst xmlns:p="http://schemas.openxmlformats.org/presentationml/2006/main">
  <p:tag name="KSO_WM_DIAGRAM_VIRTUALLY_FRAME" val="{&quot;height&quot;:588.3274842231582,&quot;left&quot;:46.15,&quot;top&quot;:134.48275199731432,&quot;width&quot;:1369.8675590551181}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3"/>
  <p:tag name="KSO_WM_UNIT_ID" val="diagram20236926_1*m_h_i*1_3_3"/>
  <p:tag name="KSO_WM_TEMPLATE_CATEGORY" val="diagram"/>
  <p:tag name="KSO_WM_TEMPLATE_INDEX" val="2023692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-0.25"/>
  <p:tag name="KSO_WM_DIAGRAM_MAX_ITEMCNT" val="5"/>
  <p:tag name="KSO_WM_DIAGRAM_MIN_ITEMCNT" val="3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9,10,9,10,9,10]}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ID" val="diagram20236926_1*m_h_i*1_3_2"/>
  <p:tag name="KSO_WM_TEMPLATE_CATEGORY" val="diagram"/>
  <p:tag name="KSO_WM_TEMPLATE_INDEX" val="2023692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5"/>
  <p:tag name="KSO_WM_DIAGRAM_MIN_ITEMCNT" val="3"/>
  <p:tag name="KSO_WM_DIAGRAM_VIRTUALLY_FRAME" val="{&quot;height&quot;:588.3274842231582,&quot;left&quot;:46.15,&quot;top&quot;:134.48275199731432,&quot;width&quot;:1369.867559055118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9,10,9,10,9,10]}"/>
</p:tagLst>
</file>

<file path=ppt/tags/tag61.xml><?xml version="1.0" encoding="utf-8"?>
<p:tagLst xmlns:p="http://schemas.openxmlformats.org/presentationml/2006/main">
  <p:tag name="KSO_WM_DIAGRAM_VIRTUALLY_FRAME" val="{&quot;height&quot;:588.3274842231582,&quot;left&quot;:46.15,&quot;top&quot;:134.48275199731432,&quot;width&quot;:1369.8675590551181}"/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diagram20236926_1*m_h_a*1_3_1"/>
  <p:tag name="KSO_WM_TEMPLATE_CATEGORY" val="diagram"/>
  <p:tag name="KSO_WM_TEMPLATE_INDEX" val="2023692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添加项标题"/>
  <p:tag name="KSO_WM_UNIT_FILL_TYPE" val="3"/>
  <p:tag name="KSO_WM_DIAGRAM_MAX_ITEMCNT" val="5"/>
  <p:tag name="KSO_WM_DIAGRAM_MIN_ITEMCNT" val="3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400000095367432,&quot;transparency&quot;:0},{&quot;brightness&quot;:0,&quot;colorType&quot;:1,&quot;foreColorIndex&quot;:5,&quot;pos&quot;:0.8299999833106995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9,10,9,10,9,10]}"/>
</p:tagLst>
</file>

<file path=ppt/tags/tag62.xml><?xml version="1.0" encoding="utf-8"?>
<p:tagLst xmlns:p="http://schemas.openxmlformats.org/presentationml/2006/main">
  <p:tag name="KSO_WM_DIAGRAM_VIRTUALLY_FRAME" val="{&quot;height&quot;:588.3274842231582,&quot;left&quot;:46.15,&quot;top&quot;:134.48275199731432,&quot;width&quot;:1369.8675590551181}"/>
  <p:tag name="KSO_WM_UNIT_SUBTYPE" val="a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36926_1*m_h_f*1_3_1"/>
  <p:tag name="KSO_WM_TEMPLATE_CATEGORY" val="diagram"/>
  <p:tag name="KSO_WM_TEMPLATE_INDEX" val="2023692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5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9,10,9,10,9,10]}"/>
</p:tagLst>
</file>

<file path=ppt/tags/tag63.xml><?xml version="1.0" encoding="utf-8"?>
<p:tagLst xmlns:p="http://schemas.openxmlformats.org/presentationml/2006/main">
  <p:tag name="KSO_WM_DIAGRAM_VIRTUALLY_FRAME" val="{&quot;height&quot;:588.3274842231582,&quot;left&quot;:46.15,&quot;top&quot;:134.48275199731432,&quot;width&quot;:1369.8675590551181}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36926_1*m_h_i*1_2_1"/>
  <p:tag name="KSO_WM_TEMPLATE_CATEGORY" val="diagram"/>
  <p:tag name="KSO_WM_TEMPLATE_INDEX" val="2023692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LINE_FORE_SCHEMECOLOR_INDEX" val="13"/>
  <p:tag name="KSO_WM_DIAGRAM_MAX_ITEMCNT" val="5"/>
  <p:tag name="KSO_WM_DIAGRAM_MIN_ITEMCNT" val="3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9,10,9,10,9,10]}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36926_1*m_h_i*1_2_2"/>
  <p:tag name="KSO_WM_TEMPLATE_CATEGORY" val="diagram"/>
  <p:tag name="KSO_WM_TEMPLATE_INDEX" val="2023692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5"/>
  <p:tag name="KSO_WM_DIAGRAM_MIN_ITEMCNT" val="3"/>
  <p:tag name="KSO_WM_DIAGRAM_VIRTUALLY_FRAME" val="{&quot;height&quot;:588.3274842231582,&quot;left&quot;:46.15,&quot;top&quot;:134.48275199731432,&quot;width&quot;:1369.867559055118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9,10,9,10,9,10]}"/>
</p:tagLst>
</file>

<file path=ppt/tags/tag65.xml><?xml version="1.0" encoding="utf-8"?>
<p:tagLst xmlns:p="http://schemas.openxmlformats.org/presentationml/2006/main">
  <p:tag name="KSO_WM_DIAGRAM_VIRTUALLY_FRAME" val="{&quot;height&quot;:588.3274842231582,&quot;left&quot;:46.15,&quot;top&quot;:134.48275199731432,&quot;width&quot;:1369.8675590551181}"/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236926_1*m_h_a*1_2_1"/>
  <p:tag name="KSO_WM_TEMPLATE_CATEGORY" val="diagram"/>
  <p:tag name="KSO_WM_TEMPLATE_INDEX" val="2023692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添加项标题"/>
  <p:tag name="KSO_WM_UNIT_FILL_TYPE" val="3"/>
  <p:tag name="KSO_WM_DIAGRAM_MAX_ITEMCNT" val="5"/>
  <p:tag name="KSO_WM_DIAGRAM_MIN_ITEMCNT" val="3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400000095367432,&quot;transparency&quot;:0},{&quot;brightness&quot;:0,&quot;colorType&quot;:1,&quot;foreColorIndex&quot;:5,&quot;pos&quot;:0.8299999833106995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9,10,9,10,9,10]}"/>
</p:tagLst>
</file>

<file path=ppt/tags/tag66.xml><?xml version="1.0" encoding="utf-8"?>
<p:tagLst xmlns:p="http://schemas.openxmlformats.org/presentationml/2006/main">
  <p:tag name="KSO_WM_DIAGRAM_VIRTUALLY_FRAME" val="{&quot;height&quot;:588.3274842231582,&quot;left&quot;:46.15,&quot;top&quot;:134.48275199731432,&quot;width&quot;:1369.8675590551181}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36926_1*m_h_i*1_2_3"/>
  <p:tag name="KSO_WM_TEMPLATE_CATEGORY" val="diagram"/>
  <p:tag name="KSO_WM_TEMPLATE_INDEX" val="2023692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-0.25"/>
  <p:tag name="KSO_WM_DIAGRAM_MAX_ITEMCNT" val="5"/>
  <p:tag name="KSO_WM_DIAGRAM_MIN_ITEMCNT" val="3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9,10,9,10,9,10]}"/>
</p:tagLst>
</file>

<file path=ppt/tags/tag67.xml><?xml version="1.0" encoding="utf-8"?>
<p:tagLst xmlns:p="http://schemas.openxmlformats.org/presentationml/2006/main">
  <p:tag name="KSO_WM_DIAGRAM_VIRTUALLY_FRAME" val="{&quot;height&quot;:588.3274842231582,&quot;left&quot;:46.15,&quot;top&quot;:134.48275199731432,&quot;width&quot;:1369.8675590551181}"/>
  <p:tag name="KSO_WM_UNIT_SUBTYPE" val="a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36926_1*m_h_f*1_2_1"/>
  <p:tag name="KSO_WM_TEMPLATE_CATEGORY" val="diagram"/>
  <p:tag name="KSO_WM_TEMPLATE_INDEX" val="2023692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5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9,10,9,10,9,10]}"/>
</p:tagLst>
</file>

<file path=ppt/tags/tag68.xml><?xml version="1.0" encoding="utf-8"?>
<p:tagLst xmlns:p="http://schemas.openxmlformats.org/presentationml/2006/main">
  <p:tag name="commondata" val="eyJoZGlkIjoiZTA0MzJjOWYwMTY2OGVhNTk0N2ExYWIzNzJjYWEzOWYifQ=="/>
  <p:tag name="resource_record_key" val="{&quot;70&quot;:[3314175,3312359,3320073,3315799,3322261,3325120,3332601,3429252,3322458,3322269,3326188,3326182,3327924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4307</Words>
  <Application>WPS 表格</Application>
  <PresentationFormat>On-screen Show (4:3)</PresentationFormat>
  <Paragraphs>383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57" baseType="lpstr">
      <vt:lpstr>Arial</vt:lpstr>
      <vt:lpstr>宋体</vt:lpstr>
      <vt:lpstr>Wingdings</vt:lpstr>
      <vt:lpstr>STHeiti Light</vt:lpstr>
      <vt:lpstr>Open Sauce Medium</vt:lpstr>
      <vt:lpstr>Thonburi</vt:lpstr>
      <vt:lpstr>Aileron Light</vt:lpstr>
      <vt:lpstr>STHeiti Regular</vt:lpstr>
      <vt:lpstr>Aileron Bold</vt:lpstr>
      <vt:lpstr>Open Sauce Light</vt:lpstr>
      <vt:lpstr>Open Sauce Bold</vt:lpstr>
      <vt:lpstr>华文宋体</vt:lpstr>
      <vt:lpstr>Open Sauce</vt:lpstr>
      <vt:lpstr>Aileron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Apple Color Emoji</vt:lpstr>
      <vt:lpstr>Arial Regular</vt:lpstr>
      <vt:lpstr>Aileron</vt:lpstr>
      <vt:lpstr>Aileron Bold</vt:lpstr>
      <vt:lpstr>Aileron Light</vt:lpstr>
      <vt:lpstr>Open Sauce</vt:lpstr>
      <vt:lpstr>Open Sauce Bold</vt:lpstr>
      <vt:lpstr>Open Sauce Light</vt:lpstr>
      <vt:lpstr>Open Sauce Medium</vt:lpstr>
      <vt:lpstr>苹方-简</vt:lpstr>
      <vt:lpstr>楷体</vt:lpstr>
      <vt:lpstr>汉仪楷体KW</vt:lpstr>
      <vt:lpstr>楷体</vt:lpstr>
      <vt:lpstr>Phosphate Inline</vt:lpstr>
      <vt:lpstr>Arial Italic</vt:lpstr>
      <vt:lpstr>微软雅黑</vt:lpstr>
      <vt:lpstr>Wingdings</vt:lpstr>
      <vt:lpstr>Heiti TC Light</vt:lpstr>
      <vt:lpstr>MiSans Normal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and Orange Quirky Illustration Sustainable Business Presentation</dc:title>
  <dc:creator/>
  <cp:lastModifiedBy>Spike.W</cp:lastModifiedBy>
  <cp:revision>85</cp:revision>
  <dcterms:created xsi:type="dcterms:W3CDTF">2026-07-10T10:57:46Z</dcterms:created>
  <dcterms:modified xsi:type="dcterms:W3CDTF">2026-07-10T10:57:46Z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FAC5A182905D4F6277016568694C4B59_43</vt:lpwstr>
  </property>
  <property fmtid="{D5CDD505-2E9C-101B-9397-08002B2CF9AE}" pid="3" name="KSOProductBuildVer">
    <vt:lpwstr>2052-6.12.1.8902</vt:lpwstr>
  </property>
</Properties>
</file>